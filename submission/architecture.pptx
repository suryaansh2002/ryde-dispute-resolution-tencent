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b7df54c-2a20-afcc-f6ac-5b99c1a29e93}">
          <p14:sldIdLst>
            <p14:sldId id="256"/>
          </p14:sldIdLst>
        </p14:section>
        <p14:section name="The hearing" id="{76e6bf26-aa7f-1b35-f3bc-9483ad6cd6e9}">
          <p14:sldIdLst>
            <p14:sldId id="257"/>
            <p14:sldId id="258"/>
            <p14:sldId id="259"/>
          </p14:sldIdLst>
        </p14:section>
        <p14:section name="Safeguards" id="{7b910bfa-7a97-eb8a-e15b-d64559be9111}">
          <p14:sldIdLst>
            <p14:sldId id="260"/>
            <p14:sldId id="261"/>
          </p14:sldIdLst>
        </p14:section>
        <p14:section name="Platform" id="{96e40416-286e-6396-aa60-7a693d0b4186}">
          <p14:sldIdLst>
            <p14:sldId id="262"/>
          </p14:sldIdLst>
        </p14:section>
        <p14:section name="Results" id="{26de2db8-43ac-7bf2-7ae3-b741a7b511bb}">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RydeResolve resolves rider and driver disputes on a ride-hailing platform: route deviation, no-show charges and cleaning fees. Safety reports always go to a person. The deck shows the hearing, how a case flows, what each agent may see, how evidence is enforced, when a person decides, the platform, and the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in one picture. Each side gets its own AI advocate, and both argue from the identical case file, citing evidence by ID: here the rider's advocate cites the route comparison and the driver's advocate the driver's own chat message. The AI judge rules from the case file and both arguments, never from the original complaint. The example is a real case: the driven route was 41% longer than the fastest one, no road closure was on record, and the claim was upheld with a $3.68 refund. A human judge, the L2 support team, steps in for safety reports and for any ruling the plain-code checks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intake. An agent triages the report, then six plain-code rules run: a safety flag hands the case to a person, and missing evidence declines it (the claimant can refile). Evidence Collection, the only agent allowed to read raw records, builds one case file; cleaning-fee photos get a vision check whose finding code maps to the fee tier. Bottom row is the hearing: two advocates argue in parallel from the identical case file, the Judge rules, and plain-code checks plus a compliance veto decide whether the ruling stands or goes to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Evidence Collection touches the database. Both advocates see the shared case file plus both parties' words, and can only look up items in that case file. The Judge sees the case file and both arguments but never the complaint text, so the tone of a complaint cannot sway it. The vision model only describes a photo; code applies the fee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Collection turns raw records into one case file in which every item has an ID. Advocates and the Judge must cite those IDs for every factual claim; a validator in code strikes any claim whose citation does not exist and flags the case. On screen, every citation opens the exact evidence. The facts a ruling turns on, and every amount, are computed in code so a model can never invent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is plain code and runs on every case regardless of the Judge. A safety report never reaches an agent. Low confidence, a risk bucket (repeat filers, fees of $120 or more) or a compliance veto each independently sends the case to a person; the Judge can also ask, but its request never replaces the checks. The reviewer sees the evidence before the AI recommendation and records a reason for any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frontend is a static React app on Vercel: the rider and driver apps, the support console and the AI trace; it sends actions over REST and receives every live update over server-sent events. The backend is one FastAPI service on Render: the orchestrator wires every step, five pydantic-ai agents with typed outputs and citation validators, rules with no AI, and narrow tools. Neon holds Postgres with pgvector and the evidence photos. DeepInfra serves the models, Logfire traces every agent run, and OneMap provides real Singapore road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latest golden run with Qwen3-235B on DeepInfra: all 22 labelled cases matched their labels down to the exact amount; the fallback model, Qwen3.6-27B, also scored 22 of 22. Thirteen cases were decided with no person, and the other nine went to a person because the checks required it: safety reports, fees of $120 or more, and repeat filers. Model cost was about 1.2 US cents per fully argued case, and the median time from report to outcome was 202 seconds. The project also has 216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960120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3474720"/>
            <a:ext cx="91440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bg2"/>
                </a:solidFill>
              </a:rPr>
              <a:t>RydeResolve · architecture</a:t>
            </a:r>
            <a:endParaRPr lang="en-US" sz="10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1"/>
          <p:cNvSpPr/>
          <p:nvPr>
            <p:ph idx="102" type="body" hasCustomPrompt="1"/>
          </p:nvPr>
        </p:nvSpPr>
        <p:spPr>
          <a:xfrm>
            <a:off x="548640" y="1024128"/>
            <a:ext cx="11094415" cy="411480"/>
          </a:xfrm>
          <a:prstGeom prst="rect">
            <a:avLst/>
          </a:prstGeom>
          <a:noFill/>
          <a:ln/>
        </p:spPr>
        <p:txBody>
          <a:bodyPr wrap="square" rtlCol="0"/>
          <a:lstStyle>
            <a:lvl1pPr indent="0" marL="0">
              <a:buNone/>
              <a:defRPr lang="en-US" sz="1500" dirty="0">
                <a:solidFill>
                  <a:schemeClr val="bg2"/>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tx2"/>
                </a:solidFill>
              </a:rPr>
              <a:t>RydeResolve · architecture</a:t>
            </a:r>
            <a:endParaRPr lang="en-US" sz="10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1"/>
          <p:cNvSpPr/>
          <p:nvPr>
            <p:ph idx="102" type="body" hasCustomPrompt="1"/>
          </p:nvPr>
        </p:nvSpPr>
        <p:spPr>
          <a:xfrm>
            <a:off x="548640" y="1024128"/>
            <a:ext cx="11094415" cy="411480"/>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4.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4.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icon" descr="preencoded.png">    </p:cNvPr>
          <p:cNvPicPr>
            <a:picLocks noChangeAspect="1"/>
          </p:cNvPicPr>
          <p:nvPr/>
        </p:nvPicPr>
        <p:blipFill>
          <a:blip r:embed="rId1"/>
          <a:stretch>
            <a:fillRect/>
          </a:stretch>
        </p:blipFill>
        <p:spPr>
          <a:xfrm>
            <a:off x="548640" y="1417320"/>
            <a:ext cx="566928" cy="566928"/>
          </a:xfrm>
          <a:prstGeom prst="rect">
            <a:avLst/>
          </a:prstGeom>
        </p:spPr>
      </p:pic>
      <p:sp>
        <p:nvSpPr>
          <p:cNvPr id="3" name="Text 0"/>
          <p:cNvSpPr/>
          <p:nvPr>
            <p:ph idx="100" type="title" hasCustomPrompt="1"/>
          </p:nvPr>
        </p:nvSpPr>
        <p:spPr>
          <a:xfrm>
            <a:off x="548640" y="2148840"/>
            <a:ext cx="9601200" cy="1188720"/>
          </a:xfrm>
          <a:prstGeom prst="rect">
            <a:avLst/>
          </a:prstGeom>
          <a:noFill/>
          <a:ln/>
        </p:spPr>
        <p:txBody>
          <a:bodyPr wrap="square" lIns="0" tIns="0" rIns="0" bIns="0" rtlCol="0" anchor="b"/>
          <a:lstStyle/>
          <a:p>
            <a:pPr algn="l" indent="0" marL="0">
              <a:buNone/>
            </a:pPr>
            <a:r>
              <a:rPr lang="en-US" sz="5400" b="1" dirty="0">
                <a:solidFill>
                  <a:schemeClr val="bg1"/>
                </a:solidFill>
              </a:rPr>
              <a:t>RydeResolve</a:t>
            </a:r>
            <a:endParaRPr lang="en-US" sz="5400" dirty="0"/>
          </a:p>
        </p:txBody>
      </p:sp>
      <p:sp>
        <p:nvSpPr>
          <p:cNvPr id="4" name="Text 0"/>
          <p:cNvSpPr/>
          <p:nvPr>
            <p:ph idx="101" type="body" hasCustomPrompt="1"/>
          </p:nvPr>
        </p:nvSpPr>
        <p:spPr>
          <a:xfrm>
            <a:off x="548640" y="3474720"/>
            <a:ext cx="9144000" cy="914400"/>
          </a:xfrm>
          <a:prstGeom prst="rect">
            <a:avLst/>
          </a:prstGeom>
          <a:noFill/>
          <a:ln/>
        </p:spPr>
        <p:txBody>
          <a:bodyPr wrap="square" lIns="0" tIns="0" rIns="0" bIns="0" rtlCol="0" anchor="t"/>
          <a:lstStyle/>
          <a:p>
            <a:pPr indent="0" marL="0">
              <a:buNone/>
            </a:pPr>
            <a:r>
              <a:rPr lang="en-US" sz="2200" dirty="0">
                <a:solidFill>
                  <a:schemeClr val="bg2"/>
                </a:solidFill>
              </a:rPr>
              <a:t>Every ride dispute, heard fairly: AI advocates for both sides, an AI judge that cites the evidence, and people for anything unsafe or uncertain.</a:t>
            </a:r>
            <a:endParaRPr lang="en-US" sz="2200" dirty="0"/>
          </a:p>
        </p:txBody>
      </p:sp>
      <p:sp>
        <p:nvSpPr>
          <p:cNvPr id="5" name="title-footer"/>
          <p:cNvSpPr txBox="1"/>
          <p:nvPr/>
        </p:nvSpPr>
        <p:spPr>
          <a:xfrm>
            <a:off x="548640" y="5989320"/>
            <a:ext cx="8229600" cy="320040"/>
          </a:xfrm>
          <a:prstGeom prst="rect">
            <a:avLst/>
          </a:prstGeom>
          <a:noFill/>
          <a:ln/>
        </p:spPr>
        <p:txBody>
          <a:bodyPr wrap="square" lIns="0" tIns="0" rIns="0" bIns="0" rtlCol="0" anchor="ctr"/>
          <a:lstStyle/>
          <a:p>
            <a:pPr indent="0" marL="0">
              <a:buNone/>
            </a:pPr>
            <a:r>
              <a:rPr lang="en-US" sz="1300" dirty="0">
                <a:solidFill>
                  <a:schemeClr val="bg2"/>
                </a:solidFill>
              </a:rPr>
              <a:t>Architecture · Tencent Cloud Hackathon · Digital Native Track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A dispute, heard like a court</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Two AI advocates argue from the same case file, and an AI judge rules. People handle anything unsafe or uncertain.</a:t>
            </a:r>
            <a:endParaRPr lang="en-US" sz="1500" dirty="0"/>
          </a:p>
        </p:txBody>
      </p:sp>
      <p:pic>
        <p:nvPicPr>
          <p:cNvPr id="4" name="courtroom" descr="A courtroom: an AI judge on the bench, the rider's and driver's AI advocates at their tables, the shared case file in the middle, a support person standing by, and the rider and driver in the gallery">    </p:cNvPr>
          <p:cNvPicPr>
            <a:picLocks noChangeAspect="1"/>
          </p:cNvPicPr>
          <p:nvPr/>
        </p:nvPicPr>
        <p:blipFill>
          <a:blip r:embed="rId1"/>
          <a:stretch>
            <a:fillRect/>
          </a:stretch>
        </p:blipFill>
        <p:spPr>
          <a:xfrm>
            <a:off x="548640" y="1463040"/>
            <a:ext cx="11091672" cy="4846320"/>
          </a:xfrm>
          <a:prstGeom prst="rect">
            <a:avLst/>
          </a:prstGeom>
        </p:spPr>
      </p:pic>
      <p:sp>
        <p:nvSpPr>
          <p:cNvPr id="5" name="rider-speech"/>
          <p:cNvSpPr txBox="1"/>
          <p:nvPr/>
        </p:nvSpPr>
        <p:spPr>
          <a:xfrm>
            <a:off x="1042416" y="2706624"/>
            <a:ext cx="2743200" cy="694944"/>
          </a:xfrm>
          <a:prstGeom prst="rect">
            <a:avLst/>
          </a:prstGeom>
          <a:noFill/>
          <a:ln/>
        </p:spPr>
        <p:txBody>
          <a:bodyPr wrap="square" lIns="0" tIns="0" rIns="0" bIns="0" rtlCol="0" anchor="ctr"/>
          <a:lstStyle/>
          <a:p>
            <a:pPr indent="0" marL="0">
              <a:buNone/>
            </a:pPr>
            <a:r>
              <a:rPr lang="en-US" sz="1500" b="1" dirty="0">
                <a:solidFill>
                  <a:schemeClr val="tx1"/>
                </a:solidFill>
              </a:rPr>
              <a:t>“Driven 41% longer than the fastest route.”</a:t>
            </a:r>
            <a:endParaRPr lang="en-US" sz="1500" dirty="0"/>
          </a:p>
          <a:p>
            <a:pPr indent="0" marL="0">
              <a:buNone/>
            </a:pPr>
            <a:r>
              <a:rPr lang="en-US" sz="1100" dirty="0">
                <a:solidFill>
                  <a:schemeClr val="tx2"/>
                </a:solidFill>
              </a:rPr>
              <a:t>cites </a:t>
            </a:r>
            <a:pPr indent="0" marL="0">
              <a:buNone/>
            </a:pPr>
            <a:r>
              <a:rPr lang="en-US" sz="1100" b="1" dirty="0">
                <a:solidFill>
                  <a:schemeClr val="accent1"/>
                </a:solidFill>
                <a:latin typeface="Courier New" pitchFamily="34" charset="0"/>
                <a:ea typeface="Courier New" pitchFamily="34" charset="-122"/>
                <a:cs typeface="Courier New" pitchFamily="34" charset="-120"/>
              </a:rPr>
              <a:t>ROUTE-COMPARISON</a:t>
            </a:r>
            <a:endParaRPr lang="en-US" sz="1500" dirty="0"/>
          </a:p>
        </p:txBody>
      </p:sp>
      <p:sp>
        <p:nvSpPr>
          <p:cNvPr id="6" name="driver-speech"/>
          <p:cNvSpPr txBox="1"/>
          <p:nvPr/>
        </p:nvSpPr>
        <p:spPr>
          <a:xfrm>
            <a:off x="8458200" y="2706624"/>
            <a:ext cx="2743200" cy="694944"/>
          </a:xfrm>
          <a:prstGeom prst="rect">
            <a:avLst/>
          </a:prstGeom>
          <a:noFill/>
          <a:ln/>
        </p:spPr>
        <p:txBody>
          <a:bodyPr wrap="square" lIns="0" tIns="0" rIns="0" bIns="0" rtlCol="0" anchor="ctr"/>
          <a:lstStyle/>
          <a:p>
            <a:pPr indent="0" marL="0">
              <a:buNone/>
            </a:pPr>
            <a:r>
              <a:rPr lang="en-US" sz="1500" b="1" dirty="0">
                <a:solidFill>
                  <a:schemeClr val="tx1"/>
                </a:solidFill>
              </a:rPr>
              <a:t>“There was a road closure.”</a:t>
            </a:r>
            <a:endParaRPr lang="en-US" sz="1500" dirty="0"/>
          </a:p>
          <a:p>
            <a:pPr indent="0" marL="0">
              <a:buNone/>
            </a:pPr>
            <a:r>
              <a:rPr lang="en-US" sz="1100" dirty="0">
                <a:solidFill>
                  <a:schemeClr val="tx2"/>
                </a:solidFill>
              </a:rPr>
              <a:t>cites </a:t>
            </a:r>
            <a:pPr indent="0" marL="0">
              <a:buNone/>
            </a:pPr>
            <a:r>
              <a:rPr lang="en-US" sz="1100" b="1" dirty="0">
                <a:solidFill>
                  <a:schemeClr val="accent2"/>
                </a:solidFill>
                <a:latin typeface="Courier New" pitchFamily="34" charset="0"/>
                <a:ea typeface="Courier New" pitchFamily="34" charset="-122"/>
                <a:cs typeface="Courier New" pitchFamily="34" charset="-120"/>
              </a:rPr>
              <a:t>MSG-0132</a:t>
            </a:r>
            <a:endParaRPr lang="en-US" sz="1500" dirty="0"/>
          </a:p>
        </p:txBody>
      </p:sp>
      <p:sp>
        <p:nvSpPr>
          <p:cNvPr id="7" name="rider-plate"/>
          <p:cNvSpPr txBox="1"/>
          <p:nvPr/>
        </p:nvSpPr>
        <p:spPr>
          <a:xfrm>
            <a:off x="1005840" y="4809744"/>
            <a:ext cx="2926080" cy="603504"/>
          </a:xfrm>
          <a:prstGeom prst="rect">
            <a:avLst/>
          </a:prstGeom>
          <a:noFill/>
          <a:ln/>
        </p:spPr>
        <p:txBody>
          <a:bodyPr wrap="square" lIns="0" tIns="0" rIns="0" bIns="0" rtlCol="0" anchor="ctr"/>
          <a:lstStyle/>
          <a:p>
            <a:pPr algn="ctr" indent="0" marL="0">
              <a:buNone/>
            </a:pPr>
            <a:r>
              <a:rPr lang="en-US" sz="1600" b="1" dirty="0">
                <a:solidFill>
                  <a:schemeClr val="bg1"/>
                </a:solidFill>
              </a:rPr>
              <a:t>Rider's advocate</a:t>
            </a:r>
            <a:endParaRPr lang="en-US" sz="1600" dirty="0"/>
          </a:p>
          <a:p>
            <a:pPr algn="ctr" indent="0" marL="0">
              <a:buNone/>
            </a:pPr>
            <a:r>
              <a:rPr lang="en-US" sz="1100" dirty="0">
                <a:solidFill>
                  <a:schemeClr val="bg1"/>
                </a:solidFill>
              </a:rPr>
              <a:t>AI agent</a:t>
            </a:r>
            <a:endParaRPr lang="en-US" sz="1600" dirty="0"/>
          </a:p>
        </p:txBody>
      </p:sp>
      <p:sp>
        <p:nvSpPr>
          <p:cNvPr id="8" name="driver-plate"/>
          <p:cNvSpPr txBox="1"/>
          <p:nvPr/>
        </p:nvSpPr>
        <p:spPr>
          <a:xfrm>
            <a:off x="8257032" y="4809744"/>
            <a:ext cx="2926080" cy="603504"/>
          </a:xfrm>
          <a:prstGeom prst="rect">
            <a:avLst/>
          </a:prstGeom>
          <a:noFill/>
          <a:ln/>
        </p:spPr>
        <p:txBody>
          <a:bodyPr wrap="square" lIns="0" tIns="0" rIns="0" bIns="0" rtlCol="0" anchor="ctr"/>
          <a:lstStyle/>
          <a:p>
            <a:pPr algn="ctr" indent="0" marL="0">
              <a:buNone/>
            </a:pPr>
            <a:r>
              <a:rPr lang="en-US" sz="1600" b="1" dirty="0">
                <a:solidFill>
                  <a:schemeClr val="bg1"/>
                </a:solidFill>
              </a:rPr>
              <a:t>Driver's advocate</a:t>
            </a:r>
            <a:endParaRPr lang="en-US" sz="1600" dirty="0"/>
          </a:p>
          <a:p>
            <a:pPr algn="ctr" indent="0" marL="0">
              <a:buNone/>
            </a:pPr>
            <a:r>
              <a:rPr lang="en-US" sz="1100" dirty="0">
                <a:solidFill>
                  <a:schemeClr val="bg1"/>
                </a:solidFill>
              </a:rPr>
              <a:t>AI agent</a:t>
            </a:r>
            <a:endParaRPr lang="en-US" sz="1600" dirty="0"/>
          </a:p>
        </p:txBody>
      </p:sp>
      <p:sp>
        <p:nvSpPr>
          <p:cNvPr id="9" name="judge-plate"/>
          <p:cNvSpPr txBox="1"/>
          <p:nvPr/>
        </p:nvSpPr>
        <p:spPr>
          <a:xfrm>
            <a:off x="4626864" y="3401568"/>
            <a:ext cx="2926080" cy="566928"/>
          </a:xfrm>
          <a:prstGeom prst="rect">
            <a:avLst/>
          </a:prstGeom>
          <a:noFill/>
          <a:ln/>
        </p:spPr>
        <p:txBody>
          <a:bodyPr wrap="square" lIns="0" tIns="0" rIns="0" bIns="0" rtlCol="0" anchor="ctr"/>
          <a:lstStyle/>
          <a:p>
            <a:pPr algn="ctr" indent="0" marL="0">
              <a:buNone/>
            </a:pPr>
            <a:r>
              <a:rPr lang="en-US" sz="1800" b="1" dirty="0">
                <a:solidFill>
                  <a:schemeClr val="bg1"/>
                </a:solidFill>
              </a:rPr>
              <a:t>Judge</a:t>
            </a:r>
            <a:endParaRPr lang="en-US" sz="1800" dirty="0"/>
          </a:p>
          <a:p>
            <a:pPr algn="ctr" indent="0" marL="0">
              <a:buNone/>
            </a:pPr>
            <a:r>
              <a:rPr lang="en-US" sz="1100" dirty="0">
                <a:solidFill>
                  <a:schemeClr val="bg1"/>
                </a:solidFill>
              </a:rPr>
              <a:t>AI agent · never reads the complaint</a:t>
            </a:r>
            <a:endParaRPr lang="en-US" sz="1800" dirty="0"/>
          </a:p>
        </p:txBody>
      </p:sp>
      <p:sp>
        <p:nvSpPr>
          <p:cNvPr id="10" name="ruling-pill"/>
          <p:cNvSpPr/>
          <p:nvPr/>
        </p:nvSpPr>
        <p:spPr>
          <a:xfrm>
            <a:off x="4992624" y="4059936"/>
            <a:ext cx="2194560" cy="329184"/>
          </a:xfrm>
          <a:prstGeom prst="roundRect">
            <a:avLst>
              <a:gd name="adj" fmla="val 50000"/>
            </a:avLst>
          </a:prstGeom>
          <a:solidFill>
            <a:schemeClr val="accent3"/>
          </a:solidFill>
          <a:ln/>
        </p:spPr>
      </p:sp>
      <p:sp>
        <p:nvSpPr>
          <p:cNvPr id="11" name="ruling-text"/>
          <p:cNvSpPr txBox="1"/>
          <p:nvPr/>
        </p:nvSpPr>
        <p:spPr>
          <a:xfrm>
            <a:off x="4992624" y="4059936"/>
            <a:ext cx="2194560" cy="329184"/>
          </a:xfrm>
          <a:prstGeom prst="rect">
            <a:avLst/>
          </a:prstGeom>
          <a:noFill/>
          <a:ln/>
        </p:spPr>
        <p:txBody>
          <a:bodyPr wrap="square" lIns="0" tIns="0" rIns="0" bIns="0" rtlCol="0" anchor="ctr"/>
          <a:lstStyle/>
          <a:p>
            <a:pPr algn="ctr" indent="0" marL="0">
              <a:buNone/>
            </a:pPr>
            <a:r>
              <a:rPr lang="en-US" sz="1150" b="1" dirty="0">
                <a:solidFill>
                  <a:schemeClr val="bg1"/>
                </a:solidFill>
              </a:rPr>
              <a:t>Claim upheld · $3.68 refund</a:t>
            </a:r>
            <a:endParaRPr lang="en-US" sz="1150" dirty="0"/>
          </a:p>
        </p:txBody>
      </p:sp>
      <p:sp>
        <p:nvSpPr>
          <p:cNvPr id="12" name="casefile-plate"/>
          <p:cNvSpPr txBox="1"/>
          <p:nvPr/>
        </p:nvSpPr>
        <p:spPr>
          <a:xfrm>
            <a:off x="5120640" y="5266944"/>
            <a:ext cx="1938528" cy="457200"/>
          </a:xfrm>
          <a:prstGeom prst="rect">
            <a:avLst/>
          </a:prstGeom>
          <a:noFill/>
          <a:ln/>
        </p:spPr>
        <p:txBody>
          <a:bodyPr wrap="square" lIns="0" tIns="0" rIns="0" bIns="0" rtlCol="0" anchor="ctr"/>
          <a:lstStyle/>
          <a:p>
            <a:pPr algn="ctr" indent="0" marL="0">
              <a:buNone/>
            </a:pPr>
            <a:r>
              <a:rPr lang="en-US" sz="1300" b="1" dirty="0">
                <a:solidFill>
                  <a:schemeClr val="tx1"/>
                </a:solidFill>
              </a:rPr>
              <a:t>Case file</a:t>
            </a:r>
            <a:endParaRPr lang="en-US" sz="1300" dirty="0"/>
          </a:p>
          <a:p>
            <a:pPr algn="ctr" indent="0" marL="0">
              <a:buNone/>
            </a:pPr>
            <a:r>
              <a:rPr lang="en-US" sz="1100" dirty="0">
                <a:solidFill>
                  <a:schemeClr val="tx1"/>
                </a:solidFill>
              </a:rPr>
              <a:t>shared by both sides</a:t>
            </a:r>
            <a:endParaRPr lang="en-US" sz="1300" dirty="0"/>
          </a:p>
        </p:txBody>
      </p:sp>
      <p:sp>
        <p:nvSpPr>
          <p:cNvPr id="13" name="person-label"/>
          <p:cNvSpPr txBox="1"/>
          <p:nvPr/>
        </p:nvSpPr>
        <p:spPr>
          <a:xfrm>
            <a:off x="3895344" y="5212080"/>
            <a:ext cx="1261872" cy="566928"/>
          </a:xfrm>
          <a:prstGeom prst="rect">
            <a:avLst/>
          </a:prstGeom>
          <a:noFill/>
          <a:ln/>
        </p:spPr>
        <p:txBody>
          <a:bodyPr wrap="square" lIns="0" tIns="0" rIns="0" bIns="0" rtlCol="0" anchor="t"/>
          <a:lstStyle/>
          <a:p>
            <a:pPr algn="ctr" indent="0" marL="0">
              <a:buNone/>
            </a:pPr>
            <a:r>
              <a:rPr lang="en-US" sz="1200" b="1" dirty="0">
                <a:solidFill>
                  <a:schemeClr val="accent4"/>
                </a:solidFill>
              </a:rPr>
              <a:t>Human judge</a:t>
            </a:r>
            <a:endParaRPr lang="en-US" sz="1200" dirty="0"/>
          </a:p>
          <a:p>
            <a:pPr algn="ctr" indent="0" marL="0">
              <a:buNone/>
            </a:pPr>
            <a:r>
              <a:rPr lang="en-US" sz="1100" dirty="0">
                <a:solidFill>
                  <a:schemeClr val="tx2"/>
                </a:solidFill>
              </a:rPr>
              <a:t>L2 support</a:t>
            </a:r>
            <a:endParaRPr lang="en-US" sz="1200" dirty="0"/>
          </a:p>
        </p:txBody>
      </p:sp>
      <p:sp>
        <p:nvSpPr>
          <p:cNvPr id="14" name="rider-label"/>
          <p:cNvSpPr txBox="1"/>
          <p:nvPr/>
        </p:nvSpPr>
        <p:spPr>
          <a:xfrm>
            <a:off x="2231136" y="5614416"/>
            <a:ext cx="1097280" cy="274320"/>
          </a:xfrm>
          <a:prstGeom prst="rect">
            <a:avLst/>
          </a:prstGeom>
          <a:noFill/>
          <a:ln/>
        </p:spPr>
        <p:txBody>
          <a:bodyPr wrap="square" lIns="0" tIns="0" rIns="0" bIns="0" rtlCol="0" anchor="ctr"/>
          <a:lstStyle/>
          <a:p>
            <a:pPr indent="0" marL="0">
              <a:buNone/>
            </a:pPr>
            <a:r>
              <a:rPr lang="en-US" sz="1200" b="1" dirty="0">
                <a:solidFill>
                  <a:schemeClr val="tx1"/>
                </a:solidFill>
              </a:rPr>
              <a:t>Rider</a:t>
            </a:r>
            <a:endParaRPr lang="en-US" sz="1200" dirty="0"/>
          </a:p>
        </p:txBody>
      </p:sp>
      <p:sp>
        <p:nvSpPr>
          <p:cNvPr id="15" name="driver-label"/>
          <p:cNvSpPr txBox="1"/>
          <p:nvPr/>
        </p:nvSpPr>
        <p:spPr>
          <a:xfrm>
            <a:off x="8860536" y="5614416"/>
            <a:ext cx="1097280" cy="274320"/>
          </a:xfrm>
          <a:prstGeom prst="rect">
            <a:avLst/>
          </a:prstGeom>
          <a:noFill/>
          <a:ln/>
        </p:spPr>
        <p:txBody>
          <a:bodyPr wrap="square" lIns="0" tIns="0" rIns="0" bIns="0" rtlCol="0" anchor="ctr"/>
          <a:lstStyle/>
          <a:p>
            <a:pPr algn="r" indent="0" marL="0">
              <a:buNone/>
            </a:pPr>
            <a:r>
              <a:rPr lang="en-US" sz="1200" b="1" dirty="0">
                <a:solidFill>
                  <a:schemeClr val="tx1"/>
                </a:solidFill>
              </a:rPr>
              <a:t>Driver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One dispute, end to end</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Plain code connects the steps. Agents never call each other.</a:t>
            </a:r>
            <a:endParaRPr lang="en-US" sz="1500" dirty="0"/>
          </a:p>
        </p:txBody>
      </p:sp>
      <p:sp>
        <p:nvSpPr>
          <p:cNvPr id="4" name="node-1"/>
          <p:cNvSpPr/>
          <p:nvPr/>
        </p:nvSpPr>
        <p:spPr>
          <a:xfrm>
            <a:off x="548640" y="1783080"/>
            <a:ext cx="1874520" cy="914400"/>
          </a:xfrm>
          <a:prstGeom prst="roundRect">
            <a:avLst>
              <a:gd name="adj" fmla="val 10000"/>
            </a:avLst>
          </a:prstGeom>
          <a:solidFill>
            <a:schemeClr val="accent4">
              <a:alpha val="14000"/>
            </a:schemeClr>
          </a:solidFill>
          <a:ln w="15875">
            <a:solidFill>
              <a:schemeClr val="accent4"/>
            </a:solidFill>
            <a:prstDash val="solid"/>
          </a:ln>
        </p:spPr>
      </p:sp>
      <p:pic>
        <p:nvPicPr>
          <p:cNvPr id="5" name="icon-2" descr="preencoded.png">    </p:cNvPr>
          <p:cNvPicPr>
            <a:picLocks noChangeAspect="1"/>
          </p:cNvPicPr>
          <p:nvPr/>
        </p:nvPicPr>
        <p:blipFill>
          <a:blip r:embed="rId1"/>
          <a:stretch>
            <a:fillRect/>
          </a:stretch>
        </p:blipFill>
        <p:spPr>
          <a:xfrm>
            <a:off x="676656" y="1911096"/>
            <a:ext cx="292608" cy="292608"/>
          </a:xfrm>
          <a:prstGeom prst="rect">
            <a:avLst/>
          </a:prstGeom>
        </p:spPr>
      </p:pic>
      <p:sp>
        <p:nvSpPr>
          <p:cNvPr id="6" name="node-title-3"/>
          <p:cNvSpPr txBox="1"/>
          <p:nvPr/>
        </p:nvSpPr>
        <p:spPr>
          <a:xfrm>
            <a:off x="1060704" y="1883664"/>
            <a:ext cx="1234440" cy="347472"/>
          </a:xfrm>
          <a:prstGeom prst="rect">
            <a:avLst/>
          </a:prstGeom>
          <a:noFill/>
          <a:ln/>
        </p:spPr>
        <p:txBody>
          <a:bodyPr wrap="square" lIns="0" tIns="0" rIns="0" bIns="0" rtlCol="0" anchor="ctr"/>
          <a:lstStyle/>
          <a:p>
            <a:pPr indent="0" marL="0">
              <a:buNone/>
            </a:pPr>
            <a:r>
              <a:rPr lang="en-US" sz="1400" b="1" dirty="0">
                <a:solidFill>
                  <a:schemeClr val="tx1"/>
                </a:solidFill>
              </a:rPr>
              <a:t>Report filed</a:t>
            </a:r>
            <a:endParaRPr lang="en-US" sz="1400" dirty="0"/>
          </a:p>
        </p:txBody>
      </p:sp>
      <p:sp>
        <p:nvSpPr>
          <p:cNvPr id="7" name="node-sub-4"/>
          <p:cNvSpPr txBox="1"/>
          <p:nvPr/>
        </p:nvSpPr>
        <p:spPr>
          <a:xfrm>
            <a:off x="676656" y="2276856"/>
            <a:ext cx="1618488" cy="384048"/>
          </a:xfrm>
          <a:prstGeom prst="rect">
            <a:avLst/>
          </a:prstGeom>
          <a:noFill/>
          <a:ln/>
        </p:spPr>
        <p:txBody>
          <a:bodyPr wrap="square" lIns="0" tIns="0" rIns="0" bIns="0" rtlCol="0" anchor="t"/>
          <a:lstStyle/>
          <a:p>
            <a:pPr indent="0" marL="0">
              <a:buNone/>
            </a:pPr>
            <a:r>
              <a:rPr lang="en-US" sz="1100" dirty="0">
                <a:solidFill>
                  <a:schemeClr val="tx2"/>
                </a:solidFill>
              </a:rPr>
              <a:t>From the trip, in a chat</a:t>
            </a:r>
            <a:endParaRPr lang="en-US" sz="1100" dirty="0"/>
          </a:p>
        </p:txBody>
      </p:sp>
      <p:sp>
        <p:nvSpPr>
          <p:cNvPr id="8" name="node-5"/>
          <p:cNvSpPr/>
          <p:nvPr/>
        </p:nvSpPr>
        <p:spPr>
          <a:xfrm>
            <a:off x="2853614" y="1783080"/>
            <a:ext cx="1874520" cy="914400"/>
          </a:xfrm>
          <a:prstGeom prst="roundRect">
            <a:avLst>
              <a:gd name="adj" fmla="val 10000"/>
            </a:avLst>
          </a:prstGeom>
          <a:solidFill>
            <a:schemeClr val="tx1"/>
          </a:solidFill>
          <a:ln/>
        </p:spPr>
      </p:sp>
      <p:pic>
        <p:nvPicPr>
          <p:cNvPr id="9" name="icon-6" descr="preencoded.png">    </p:cNvPr>
          <p:cNvPicPr>
            <a:picLocks noChangeAspect="1"/>
          </p:cNvPicPr>
          <p:nvPr/>
        </p:nvPicPr>
        <p:blipFill>
          <a:blip r:embed="rId2"/>
          <a:stretch>
            <a:fillRect/>
          </a:stretch>
        </p:blipFill>
        <p:spPr>
          <a:xfrm>
            <a:off x="2981630" y="1911096"/>
            <a:ext cx="292608" cy="292608"/>
          </a:xfrm>
          <a:prstGeom prst="rect">
            <a:avLst/>
          </a:prstGeom>
        </p:spPr>
      </p:pic>
      <p:sp>
        <p:nvSpPr>
          <p:cNvPr id="10" name="node-title-7"/>
          <p:cNvSpPr txBox="1"/>
          <p:nvPr/>
        </p:nvSpPr>
        <p:spPr>
          <a:xfrm>
            <a:off x="3365678" y="1883664"/>
            <a:ext cx="1234440" cy="347472"/>
          </a:xfrm>
          <a:prstGeom prst="rect">
            <a:avLst/>
          </a:prstGeom>
          <a:noFill/>
          <a:ln/>
        </p:spPr>
        <p:txBody>
          <a:bodyPr wrap="square" lIns="0" tIns="0" rIns="0" bIns="0" rtlCol="0" anchor="ctr"/>
          <a:lstStyle/>
          <a:p>
            <a:pPr indent="0" marL="0">
              <a:buNone/>
            </a:pPr>
            <a:r>
              <a:rPr lang="en-US" sz="1400" b="1" dirty="0">
                <a:solidFill>
                  <a:schemeClr val="bg1"/>
                </a:solidFill>
              </a:rPr>
              <a:t>Triage</a:t>
            </a:r>
            <a:endParaRPr lang="en-US" sz="1400" dirty="0"/>
          </a:p>
        </p:txBody>
      </p:sp>
      <p:sp>
        <p:nvSpPr>
          <p:cNvPr id="11" name="node-sub-8"/>
          <p:cNvSpPr txBox="1"/>
          <p:nvPr/>
        </p:nvSpPr>
        <p:spPr>
          <a:xfrm>
            <a:off x="2981630" y="2276856"/>
            <a:ext cx="1618488" cy="384048"/>
          </a:xfrm>
          <a:prstGeom prst="rect">
            <a:avLst/>
          </a:prstGeom>
          <a:noFill/>
          <a:ln/>
        </p:spPr>
        <p:txBody>
          <a:bodyPr wrap="square" lIns="0" tIns="0" rIns="0" bIns="0" rtlCol="0" anchor="t"/>
          <a:lstStyle/>
          <a:p>
            <a:pPr indent="0" marL="0">
              <a:buNone/>
            </a:pPr>
            <a:r>
              <a:rPr lang="en-US" sz="1100" dirty="0">
                <a:solidFill>
                  <a:schemeClr val="bg2"/>
                </a:solidFill>
              </a:rPr>
              <a:t>Kind of dispute, safety flag</a:t>
            </a:r>
            <a:endParaRPr lang="en-US" sz="1100" dirty="0"/>
          </a:p>
        </p:txBody>
      </p:sp>
      <p:sp>
        <p:nvSpPr>
          <p:cNvPr id="12" name="node-9"/>
          <p:cNvSpPr/>
          <p:nvPr/>
        </p:nvSpPr>
        <p:spPr>
          <a:xfrm>
            <a:off x="5158588" y="1783080"/>
            <a:ext cx="1874520" cy="914400"/>
          </a:xfrm>
          <a:prstGeom prst="roundRect">
            <a:avLst>
              <a:gd name="adj" fmla="val 10000"/>
            </a:avLst>
          </a:prstGeom>
          <a:solidFill>
            <a:schemeClr val="bg1"/>
          </a:solidFill>
          <a:ln w="15875">
            <a:solidFill>
              <a:schemeClr val="tx2"/>
            </a:solidFill>
            <a:prstDash val="dash"/>
          </a:ln>
        </p:spPr>
      </p:sp>
      <p:pic>
        <p:nvPicPr>
          <p:cNvPr id="13" name="icon-10" descr="preencoded.png">    </p:cNvPr>
          <p:cNvPicPr>
            <a:picLocks noChangeAspect="1"/>
          </p:cNvPicPr>
          <p:nvPr/>
        </p:nvPicPr>
        <p:blipFill>
          <a:blip r:embed="rId3"/>
          <a:stretch>
            <a:fillRect/>
          </a:stretch>
        </p:blipFill>
        <p:spPr>
          <a:xfrm>
            <a:off x="5286604" y="1911096"/>
            <a:ext cx="292608" cy="292608"/>
          </a:xfrm>
          <a:prstGeom prst="rect">
            <a:avLst/>
          </a:prstGeom>
        </p:spPr>
      </p:pic>
      <p:sp>
        <p:nvSpPr>
          <p:cNvPr id="14" name="node-title-11"/>
          <p:cNvSpPr txBox="1"/>
          <p:nvPr/>
        </p:nvSpPr>
        <p:spPr>
          <a:xfrm>
            <a:off x="5670652" y="1883664"/>
            <a:ext cx="1234440" cy="347472"/>
          </a:xfrm>
          <a:prstGeom prst="rect">
            <a:avLst/>
          </a:prstGeom>
          <a:noFill/>
          <a:ln/>
        </p:spPr>
        <p:txBody>
          <a:bodyPr wrap="square" lIns="0" tIns="0" rIns="0" bIns="0" rtlCol="0" anchor="ctr"/>
          <a:lstStyle/>
          <a:p>
            <a:pPr indent="0" marL="0">
              <a:buNone/>
            </a:pPr>
            <a:r>
              <a:rPr lang="en-US" sz="1400" b="1" dirty="0">
                <a:solidFill>
                  <a:schemeClr val="tx1"/>
                </a:solidFill>
              </a:rPr>
              <a:t>Eligibility</a:t>
            </a:r>
            <a:endParaRPr lang="en-US" sz="1400" dirty="0"/>
          </a:p>
        </p:txBody>
      </p:sp>
      <p:sp>
        <p:nvSpPr>
          <p:cNvPr id="15" name="node-sub-12"/>
          <p:cNvSpPr txBox="1"/>
          <p:nvPr/>
        </p:nvSpPr>
        <p:spPr>
          <a:xfrm>
            <a:off x="5286604" y="2276856"/>
            <a:ext cx="1618488" cy="384048"/>
          </a:xfrm>
          <a:prstGeom prst="rect">
            <a:avLst/>
          </a:prstGeom>
          <a:noFill/>
          <a:ln/>
        </p:spPr>
        <p:txBody>
          <a:bodyPr wrap="square" lIns="0" tIns="0" rIns="0" bIns="0" rtlCol="0" anchor="t"/>
          <a:lstStyle/>
          <a:p>
            <a:pPr indent="0" marL="0">
              <a:buNone/>
            </a:pPr>
            <a:r>
              <a:rPr lang="en-US" sz="1100" dirty="0">
                <a:solidFill>
                  <a:schemeClr val="tx2"/>
                </a:solidFill>
              </a:rPr>
              <a:t>Six rules, no AI</a:t>
            </a:r>
            <a:endParaRPr lang="en-US" sz="1100" dirty="0"/>
          </a:p>
        </p:txBody>
      </p:sp>
      <p:sp>
        <p:nvSpPr>
          <p:cNvPr id="16" name="node-13"/>
          <p:cNvSpPr/>
          <p:nvPr/>
        </p:nvSpPr>
        <p:spPr>
          <a:xfrm>
            <a:off x="7463561" y="1783080"/>
            <a:ext cx="1874520" cy="914400"/>
          </a:xfrm>
          <a:prstGeom prst="roundRect">
            <a:avLst>
              <a:gd name="adj" fmla="val 10000"/>
            </a:avLst>
          </a:prstGeom>
          <a:solidFill>
            <a:schemeClr val="tx1"/>
          </a:solidFill>
          <a:ln/>
        </p:spPr>
      </p:sp>
      <p:pic>
        <p:nvPicPr>
          <p:cNvPr id="17" name="icon-14" descr="preencoded.png">    </p:cNvPr>
          <p:cNvPicPr>
            <a:picLocks noChangeAspect="1"/>
          </p:cNvPicPr>
          <p:nvPr/>
        </p:nvPicPr>
        <p:blipFill>
          <a:blip r:embed="rId4"/>
          <a:stretch>
            <a:fillRect/>
          </a:stretch>
        </p:blipFill>
        <p:spPr>
          <a:xfrm>
            <a:off x="7591577" y="1911096"/>
            <a:ext cx="292608" cy="292608"/>
          </a:xfrm>
          <a:prstGeom prst="rect">
            <a:avLst/>
          </a:prstGeom>
        </p:spPr>
      </p:pic>
      <p:sp>
        <p:nvSpPr>
          <p:cNvPr id="18" name="node-title-15"/>
          <p:cNvSpPr txBox="1"/>
          <p:nvPr/>
        </p:nvSpPr>
        <p:spPr>
          <a:xfrm>
            <a:off x="7975625" y="1883664"/>
            <a:ext cx="1234440" cy="347472"/>
          </a:xfrm>
          <a:prstGeom prst="rect">
            <a:avLst/>
          </a:prstGeom>
          <a:noFill/>
          <a:ln/>
        </p:spPr>
        <p:txBody>
          <a:bodyPr wrap="square" lIns="0" tIns="0" rIns="0" bIns="0" rtlCol="0" anchor="ctr"/>
          <a:lstStyle/>
          <a:p>
            <a:pPr indent="0" marL="0">
              <a:buNone/>
            </a:pPr>
            <a:r>
              <a:rPr lang="en-US" sz="1400" b="1" dirty="0">
                <a:solidFill>
                  <a:schemeClr val="bg1"/>
                </a:solidFill>
              </a:rPr>
              <a:t>Evidence</a:t>
            </a:r>
            <a:endParaRPr lang="en-US" sz="1400" dirty="0"/>
          </a:p>
        </p:txBody>
      </p:sp>
      <p:sp>
        <p:nvSpPr>
          <p:cNvPr id="19" name="node-sub-16"/>
          <p:cNvSpPr txBox="1"/>
          <p:nvPr/>
        </p:nvSpPr>
        <p:spPr>
          <a:xfrm>
            <a:off x="7591577" y="2276856"/>
            <a:ext cx="1618488" cy="384048"/>
          </a:xfrm>
          <a:prstGeom prst="rect">
            <a:avLst/>
          </a:prstGeom>
          <a:noFill/>
          <a:ln/>
        </p:spPr>
        <p:txBody>
          <a:bodyPr wrap="square" lIns="0" tIns="0" rIns="0" bIns="0" rtlCol="0" anchor="t"/>
          <a:lstStyle/>
          <a:p>
            <a:pPr indent="0" marL="0">
              <a:buNone/>
            </a:pPr>
            <a:r>
              <a:rPr lang="en-US" sz="1100" dirty="0">
                <a:solidFill>
                  <a:schemeClr val="bg2"/>
                </a:solidFill>
              </a:rPr>
              <a:t>Builds one case file</a:t>
            </a:r>
            <a:endParaRPr lang="en-US" sz="1100" dirty="0"/>
          </a:p>
        </p:txBody>
      </p:sp>
      <p:sp>
        <p:nvSpPr>
          <p:cNvPr id="20" name="node-17"/>
          <p:cNvSpPr/>
          <p:nvPr/>
        </p:nvSpPr>
        <p:spPr>
          <a:xfrm>
            <a:off x="9768535" y="1783080"/>
            <a:ext cx="1874520" cy="914400"/>
          </a:xfrm>
          <a:prstGeom prst="roundRect">
            <a:avLst>
              <a:gd name="adj" fmla="val 10000"/>
            </a:avLst>
          </a:prstGeom>
          <a:solidFill>
            <a:schemeClr val="tx1"/>
          </a:solidFill>
          <a:ln/>
        </p:spPr>
      </p:sp>
      <p:pic>
        <p:nvPicPr>
          <p:cNvPr id="21" name="icon-18" descr="preencoded.png">    </p:cNvPr>
          <p:cNvPicPr>
            <a:picLocks noChangeAspect="1"/>
          </p:cNvPicPr>
          <p:nvPr/>
        </p:nvPicPr>
        <p:blipFill>
          <a:blip r:embed="rId5"/>
          <a:stretch>
            <a:fillRect/>
          </a:stretch>
        </p:blipFill>
        <p:spPr>
          <a:xfrm>
            <a:off x="9896551" y="1911096"/>
            <a:ext cx="292608" cy="292608"/>
          </a:xfrm>
          <a:prstGeom prst="rect">
            <a:avLst/>
          </a:prstGeom>
        </p:spPr>
      </p:pic>
      <p:sp>
        <p:nvSpPr>
          <p:cNvPr id="22" name="node-title-19"/>
          <p:cNvSpPr txBox="1"/>
          <p:nvPr/>
        </p:nvSpPr>
        <p:spPr>
          <a:xfrm>
            <a:off x="10280599" y="1883664"/>
            <a:ext cx="1234440" cy="347472"/>
          </a:xfrm>
          <a:prstGeom prst="rect">
            <a:avLst/>
          </a:prstGeom>
          <a:noFill/>
          <a:ln/>
        </p:spPr>
        <p:txBody>
          <a:bodyPr wrap="square" lIns="0" tIns="0" rIns="0" bIns="0" rtlCol="0" anchor="ctr"/>
          <a:lstStyle/>
          <a:p>
            <a:pPr indent="0" marL="0">
              <a:buNone/>
            </a:pPr>
            <a:r>
              <a:rPr lang="en-US" sz="1400" b="1" dirty="0">
                <a:solidFill>
                  <a:schemeClr val="bg1"/>
                </a:solidFill>
              </a:rPr>
              <a:t>Photo check</a:t>
            </a:r>
            <a:endParaRPr lang="en-US" sz="1400" dirty="0"/>
          </a:p>
        </p:txBody>
      </p:sp>
      <p:sp>
        <p:nvSpPr>
          <p:cNvPr id="23" name="node-sub-20"/>
          <p:cNvSpPr txBox="1"/>
          <p:nvPr/>
        </p:nvSpPr>
        <p:spPr>
          <a:xfrm>
            <a:off x="9896551" y="2276856"/>
            <a:ext cx="1618488" cy="384048"/>
          </a:xfrm>
          <a:prstGeom prst="rect">
            <a:avLst/>
          </a:prstGeom>
          <a:noFill/>
          <a:ln/>
        </p:spPr>
        <p:txBody>
          <a:bodyPr wrap="square" lIns="0" tIns="0" rIns="0" bIns="0" rtlCol="0" anchor="t"/>
          <a:lstStyle/>
          <a:p>
            <a:pPr indent="0" marL="0">
              <a:buNone/>
            </a:pPr>
            <a:r>
              <a:rPr lang="en-US" sz="1100" dirty="0">
                <a:solidFill>
                  <a:schemeClr val="bg2"/>
                </a:solidFill>
              </a:rPr>
              <a:t>Code sets the fee tier</a:t>
            </a:r>
            <a:endParaRPr lang="en-US" sz="1100" dirty="0"/>
          </a:p>
        </p:txBody>
      </p:sp>
      <p:sp>
        <p:nvSpPr>
          <p:cNvPr id="24" name="arrow-21"/>
          <p:cNvSpPr/>
          <p:nvPr/>
        </p:nvSpPr>
        <p:spPr>
          <a:xfrm>
            <a:off x="2423160" y="2240280"/>
            <a:ext cx="430454" cy="0"/>
          </a:xfrm>
          <a:prstGeom prst="line">
            <a:avLst/>
          </a:prstGeom>
          <a:noFill/>
          <a:ln w="19050">
            <a:solidFill>
              <a:schemeClr val="tx2"/>
            </a:solidFill>
            <a:prstDash val="solid"/>
            <a:tailEnd type="triangle"/>
          </a:ln>
        </p:spPr>
      </p:sp>
      <p:sp>
        <p:nvSpPr>
          <p:cNvPr id="25" name="arrow-22"/>
          <p:cNvSpPr/>
          <p:nvPr/>
        </p:nvSpPr>
        <p:spPr>
          <a:xfrm>
            <a:off x="4728134" y="2240280"/>
            <a:ext cx="430454" cy="0"/>
          </a:xfrm>
          <a:prstGeom prst="line">
            <a:avLst/>
          </a:prstGeom>
          <a:noFill/>
          <a:ln w="19050">
            <a:solidFill>
              <a:schemeClr val="tx2"/>
            </a:solidFill>
            <a:prstDash val="solid"/>
            <a:tailEnd type="triangle"/>
          </a:ln>
        </p:spPr>
      </p:sp>
      <p:sp>
        <p:nvSpPr>
          <p:cNvPr id="26" name="arrow-23"/>
          <p:cNvSpPr/>
          <p:nvPr/>
        </p:nvSpPr>
        <p:spPr>
          <a:xfrm>
            <a:off x="7033108" y="2240280"/>
            <a:ext cx="430454" cy="0"/>
          </a:xfrm>
          <a:prstGeom prst="line">
            <a:avLst/>
          </a:prstGeom>
          <a:noFill/>
          <a:ln w="19050">
            <a:solidFill>
              <a:schemeClr val="tx2"/>
            </a:solidFill>
            <a:prstDash val="solid"/>
            <a:tailEnd type="triangle"/>
          </a:ln>
        </p:spPr>
      </p:sp>
      <p:sp>
        <p:nvSpPr>
          <p:cNvPr id="27" name="arrow-24"/>
          <p:cNvSpPr/>
          <p:nvPr/>
        </p:nvSpPr>
        <p:spPr>
          <a:xfrm>
            <a:off x="9338081" y="2240280"/>
            <a:ext cx="430454" cy="0"/>
          </a:xfrm>
          <a:prstGeom prst="line">
            <a:avLst/>
          </a:prstGeom>
          <a:noFill/>
          <a:ln w="19050">
            <a:solidFill>
              <a:schemeClr val="tx2"/>
            </a:solidFill>
            <a:prstDash val="solid"/>
            <a:tailEnd type="triangle"/>
          </a:ln>
        </p:spPr>
      </p:sp>
      <p:sp>
        <p:nvSpPr>
          <p:cNvPr id="28" name="node-25"/>
          <p:cNvSpPr/>
          <p:nvPr/>
        </p:nvSpPr>
        <p:spPr>
          <a:xfrm>
            <a:off x="4655668" y="2971800"/>
            <a:ext cx="1325880" cy="457200"/>
          </a:xfrm>
          <a:prstGeom prst="roundRect">
            <a:avLst>
              <a:gd name="adj" fmla="val 20000"/>
            </a:avLst>
          </a:prstGeom>
          <a:solidFill>
            <a:schemeClr val="accent5">
              <a:alpha val="12000"/>
            </a:schemeClr>
          </a:solidFill>
          <a:ln w="15875">
            <a:solidFill>
              <a:schemeClr val="accent5"/>
            </a:solidFill>
            <a:prstDash val="solid"/>
          </a:ln>
        </p:spPr>
      </p:sp>
      <p:pic>
        <p:nvPicPr>
          <p:cNvPr id="29" name="icon-26" descr="preencoded.png">    </p:cNvPr>
          <p:cNvPicPr>
            <a:picLocks noChangeAspect="1"/>
          </p:cNvPicPr>
          <p:nvPr/>
        </p:nvPicPr>
        <p:blipFill>
          <a:blip r:embed="rId6"/>
          <a:stretch>
            <a:fillRect/>
          </a:stretch>
        </p:blipFill>
        <p:spPr>
          <a:xfrm>
            <a:off x="4783684" y="3099816"/>
            <a:ext cx="292608" cy="292608"/>
          </a:xfrm>
          <a:prstGeom prst="rect">
            <a:avLst/>
          </a:prstGeom>
        </p:spPr>
      </p:pic>
      <p:sp>
        <p:nvSpPr>
          <p:cNvPr id="30" name="node-title-27"/>
          <p:cNvSpPr txBox="1"/>
          <p:nvPr/>
        </p:nvSpPr>
        <p:spPr>
          <a:xfrm>
            <a:off x="5167732" y="3026664"/>
            <a:ext cx="685800" cy="347472"/>
          </a:xfrm>
          <a:prstGeom prst="rect">
            <a:avLst/>
          </a:prstGeom>
          <a:noFill/>
          <a:ln/>
        </p:spPr>
        <p:txBody>
          <a:bodyPr wrap="square" lIns="0" tIns="0" rIns="0" bIns="0" rtlCol="0" anchor="ctr"/>
          <a:lstStyle/>
          <a:p>
            <a:pPr indent="0" marL="0">
              <a:buNone/>
            </a:pPr>
            <a:r>
              <a:rPr lang="en-US" sz="1350" b="1" dirty="0">
                <a:solidFill>
                  <a:schemeClr val="tx1"/>
                </a:solidFill>
              </a:rPr>
              <a:t>Safety</a:t>
            </a:r>
            <a:endParaRPr lang="en-US" sz="1350" dirty="0"/>
          </a:p>
        </p:txBody>
      </p:sp>
      <p:sp>
        <p:nvSpPr>
          <p:cNvPr id="31" name="node-28"/>
          <p:cNvSpPr/>
          <p:nvPr/>
        </p:nvSpPr>
        <p:spPr>
          <a:xfrm>
            <a:off x="6347308" y="2971800"/>
            <a:ext cx="1600200" cy="457200"/>
          </a:xfrm>
          <a:prstGeom prst="roundRect">
            <a:avLst>
              <a:gd name="adj" fmla="val 20000"/>
            </a:avLst>
          </a:prstGeom>
          <a:solidFill>
            <a:schemeClr val="bg1"/>
          </a:solidFill>
          <a:ln w="15875">
            <a:solidFill>
              <a:schemeClr val="tx2"/>
            </a:solidFill>
            <a:prstDash val="dash"/>
          </a:ln>
        </p:spPr>
      </p:sp>
      <p:pic>
        <p:nvPicPr>
          <p:cNvPr id="32" name="icon-29" descr="preencoded.png">    </p:cNvPr>
          <p:cNvPicPr>
            <a:picLocks noChangeAspect="1"/>
          </p:cNvPicPr>
          <p:nvPr/>
        </p:nvPicPr>
        <p:blipFill>
          <a:blip r:embed="rId7"/>
          <a:stretch>
            <a:fillRect/>
          </a:stretch>
        </p:blipFill>
        <p:spPr>
          <a:xfrm>
            <a:off x="6475324" y="3099816"/>
            <a:ext cx="292608" cy="292608"/>
          </a:xfrm>
          <a:prstGeom prst="rect">
            <a:avLst/>
          </a:prstGeom>
        </p:spPr>
      </p:pic>
      <p:sp>
        <p:nvSpPr>
          <p:cNvPr id="33" name="node-title-30"/>
          <p:cNvSpPr txBox="1"/>
          <p:nvPr/>
        </p:nvSpPr>
        <p:spPr>
          <a:xfrm>
            <a:off x="6859372" y="3026664"/>
            <a:ext cx="960120" cy="347472"/>
          </a:xfrm>
          <a:prstGeom prst="rect">
            <a:avLst/>
          </a:prstGeom>
          <a:noFill/>
          <a:ln/>
        </p:spPr>
        <p:txBody>
          <a:bodyPr wrap="square" lIns="0" tIns="0" rIns="0" bIns="0" rtlCol="0" anchor="ctr"/>
          <a:lstStyle/>
          <a:p>
            <a:pPr indent="0" marL="0">
              <a:buNone/>
            </a:pPr>
            <a:r>
              <a:rPr lang="en-US" sz="1350" b="1" dirty="0">
                <a:solidFill>
                  <a:schemeClr val="tx1"/>
                </a:solidFill>
              </a:rPr>
              <a:t>Declined</a:t>
            </a:r>
            <a:endParaRPr lang="en-US" sz="1350" dirty="0"/>
          </a:p>
        </p:txBody>
      </p:sp>
      <p:sp>
        <p:nvSpPr>
          <p:cNvPr id="34" name="exit-safety-note"/>
          <p:cNvSpPr txBox="1"/>
          <p:nvPr/>
        </p:nvSpPr>
        <p:spPr>
          <a:xfrm>
            <a:off x="4655668" y="3465576"/>
            <a:ext cx="1600200" cy="237744"/>
          </a:xfrm>
          <a:prstGeom prst="rect">
            <a:avLst/>
          </a:prstGeom>
          <a:noFill/>
          <a:ln/>
        </p:spPr>
        <p:txBody>
          <a:bodyPr wrap="square" lIns="0" tIns="0" rIns="0" bIns="0" rtlCol="0" anchor="ctr"/>
          <a:lstStyle/>
          <a:p>
            <a:pPr indent="0" marL="0">
              <a:buNone/>
            </a:pPr>
            <a:r>
              <a:rPr lang="en-US" sz="1050" i="1" dirty="0">
                <a:solidFill>
                  <a:schemeClr val="tx2"/>
                </a:solidFill>
              </a:rPr>
              <a:t>to a person</a:t>
            </a:r>
            <a:endParaRPr lang="en-US" sz="1050" dirty="0"/>
          </a:p>
        </p:txBody>
      </p:sp>
      <p:sp>
        <p:nvSpPr>
          <p:cNvPr id="35" name="exit-declined-note"/>
          <p:cNvSpPr txBox="1"/>
          <p:nvPr/>
        </p:nvSpPr>
        <p:spPr>
          <a:xfrm>
            <a:off x="6347308" y="3465576"/>
            <a:ext cx="1737360" cy="237744"/>
          </a:xfrm>
          <a:prstGeom prst="rect">
            <a:avLst/>
          </a:prstGeom>
          <a:noFill/>
          <a:ln/>
        </p:spPr>
        <p:txBody>
          <a:bodyPr wrap="square" lIns="0" tIns="0" rIns="0" bIns="0" rtlCol="0" anchor="ctr"/>
          <a:lstStyle/>
          <a:p>
            <a:pPr indent="0" marL="0">
              <a:buNone/>
            </a:pPr>
            <a:r>
              <a:rPr lang="en-US" sz="1050" i="1" dirty="0">
                <a:solidFill>
                  <a:schemeClr val="tx2"/>
                </a:solidFill>
              </a:rPr>
              <a:t>can refile</a:t>
            </a:r>
            <a:endParaRPr lang="en-US" sz="1050" dirty="0"/>
          </a:p>
        </p:txBody>
      </p:sp>
      <p:sp>
        <p:nvSpPr>
          <p:cNvPr id="36" name="arrow-31"/>
          <p:cNvSpPr/>
          <p:nvPr/>
        </p:nvSpPr>
        <p:spPr>
          <a:xfrm>
            <a:off x="5341468" y="2697480"/>
            <a:ext cx="0" cy="274320"/>
          </a:xfrm>
          <a:prstGeom prst="line">
            <a:avLst/>
          </a:prstGeom>
          <a:noFill/>
          <a:ln w="19050">
            <a:solidFill>
              <a:schemeClr val="accent5"/>
            </a:solidFill>
            <a:prstDash val="solid"/>
            <a:tailEnd type="triangle"/>
          </a:ln>
        </p:spPr>
      </p:sp>
      <p:sp>
        <p:nvSpPr>
          <p:cNvPr id="37" name="arrow-32"/>
          <p:cNvSpPr/>
          <p:nvPr/>
        </p:nvSpPr>
        <p:spPr>
          <a:xfrm>
            <a:off x="6941668" y="2697480"/>
            <a:ext cx="0" cy="274320"/>
          </a:xfrm>
          <a:prstGeom prst="line">
            <a:avLst/>
          </a:prstGeom>
          <a:noFill/>
          <a:ln w="19050">
            <a:solidFill>
              <a:schemeClr val="tx2"/>
            </a:solidFill>
            <a:prstDash val="solid"/>
            <a:tailEnd type="triangle"/>
          </a:ln>
        </p:spPr>
      </p:sp>
      <p:sp>
        <p:nvSpPr>
          <p:cNvPr id="38" name="arrow-33"/>
          <p:cNvSpPr/>
          <p:nvPr/>
        </p:nvSpPr>
        <p:spPr>
          <a:xfrm>
            <a:off x="10705795" y="2697480"/>
            <a:ext cx="0" cy="1097280"/>
          </a:xfrm>
          <a:prstGeom prst="line">
            <a:avLst/>
          </a:prstGeom>
          <a:noFill/>
          <a:ln w="19050">
            <a:solidFill>
              <a:schemeClr val="tx2"/>
            </a:solidFill>
            <a:prstDash val="solid"/>
            <a:tailEnd type="none"/>
          </a:ln>
        </p:spPr>
      </p:sp>
      <p:sp>
        <p:nvSpPr>
          <p:cNvPr id="39" name="arrow-34"/>
          <p:cNvSpPr/>
          <p:nvPr/>
        </p:nvSpPr>
        <p:spPr>
          <a:xfrm flipH="1">
            <a:off x="1485900" y="3794760"/>
            <a:ext cx="9219895" cy="0"/>
          </a:xfrm>
          <a:prstGeom prst="line">
            <a:avLst/>
          </a:prstGeom>
          <a:noFill/>
          <a:ln w="19050">
            <a:solidFill>
              <a:schemeClr val="tx2"/>
            </a:solidFill>
            <a:prstDash val="solid"/>
            <a:tailEnd type="none"/>
          </a:ln>
        </p:spPr>
      </p:sp>
      <p:sp>
        <p:nvSpPr>
          <p:cNvPr id="40" name="return-label"/>
          <p:cNvSpPr txBox="1"/>
          <p:nvPr/>
        </p:nvSpPr>
        <p:spPr>
          <a:xfrm>
            <a:off x="8191195" y="3520440"/>
            <a:ext cx="2377440" cy="237744"/>
          </a:xfrm>
          <a:prstGeom prst="rect">
            <a:avLst/>
          </a:prstGeom>
          <a:noFill/>
          <a:ln/>
        </p:spPr>
        <p:txBody>
          <a:bodyPr wrap="square" lIns="0" tIns="0" rIns="0" bIns="0" rtlCol="0" anchor="ctr"/>
          <a:lstStyle/>
          <a:p>
            <a:pPr algn="r" indent="0" marL="0">
              <a:buNone/>
            </a:pPr>
            <a:r>
              <a:rPr lang="en-US" sz="1050" i="1" dirty="0">
                <a:solidFill>
                  <a:schemeClr val="tx2"/>
                </a:solidFill>
              </a:rPr>
              <a:t>the same case file to both sides</a:t>
            </a:r>
            <a:endParaRPr lang="en-US" sz="1050" dirty="0"/>
          </a:p>
        </p:txBody>
      </p:sp>
      <p:sp>
        <p:nvSpPr>
          <p:cNvPr id="41" name="arrow-35"/>
          <p:cNvSpPr/>
          <p:nvPr/>
        </p:nvSpPr>
        <p:spPr>
          <a:xfrm>
            <a:off x="1485900" y="3794760"/>
            <a:ext cx="0" cy="274320"/>
          </a:xfrm>
          <a:prstGeom prst="line">
            <a:avLst/>
          </a:prstGeom>
          <a:noFill/>
          <a:ln w="19050">
            <a:solidFill>
              <a:schemeClr val="tx2"/>
            </a:solidFill>
            <a:prstDash val="solid"/>
            <a:tailEnd type="triangle"/>
          </a:ln>
        </p:spPr>
      </p:sp>
      <p:sp>
        <p:nvSpPr>
          <p:cNvPr id="42" name="node-36"/>
          <p:cNvSpPr/>
          <p:nvPr/>
        </p:nvSpPr>
        <p:spPr>
          <a:xfrm>
            <a:off x="548640" y="4069080"/>
            <a:ext cx="1874520" cy="713232"/>
          </a:xfrm>
          <a:prstGeom prst="roundRect">
            <a:avLst>
              <a:gd name="adj" fmla="val 12821"/>
            </a:avLst>
          </a:prstGeom>
          <a:solidFill>
            <a:schemeClr val="accent1"/>
          </a:solidFill>
          <a:ln/>
        </p:spPr>
      </p:sp>
      <p:pic>
        <p:nvPicPr>
          <p:cNvPr id="43" name="icon-37" descr="preencoded.png">    </p:cNvPr>
          <p:cNvPicPr>
            <a:picLocks noChangeAspect="1"/>
          </p:cNvPicPr>
          <p:nvPr/>
        </p:nvPicPr>
        <p:blipFill>
          <a:blip r:embed="rId8"/>
          <a:stretch>
            <a:fillRect/>
          </a:stretch>
        </p:blipFill>
        <p:spPr>
          <a:xfrm>
            <a:off x="676656" y="4197096"/>
            <a:ext cx="292608" cy="292608"/>
          </a:xfrm>
          <a:prstGeom prst="rect">
            <a:avLst/>
          </a:prstGeom>
        </p:spPr>
      </p:pic>
      <p:sp>
        <p:nvSpPr>
          <p:cNvPr id="44" name="node-title-38"/>
          <p:cNvSpPr txBox="1"/>
          <p:nvPr/>
        </p:nvSpPr>
        <p:spPr>
          <a:xfrm>
            <a:off x="1060704" y="4123944"/>
            <a:ext cx="1234440" cy="603504"/>
          </a:xfrm>
          <a:prstGeom prst="rect">
            <a:avLst/>
          </a:prstGeom>
          <a:noFill/>
          <a:ln/>
        </p:spPr>
        <p:txBody>
          <a:bodyPr wrap="square" lIns="0" tIns="0" rIns="0" bIns="0" rtlCol="0" anchor="ctr"/>
          <a:lstStyle/>
          <a:p>
            <a:pPr indent="0" marL="0">
              <a:buNone/>
            </a:pPr>
            <a:r>
              <a:rPr lang="en-US" sz="1350" b="1" dirty="0">
                <a:solidFill>
                  <a:schemeClr val="bg1"/>
                </a:solidFill>
              </a:rPr>
              <a:t>Rider's advocate</a:t>
            </a:r>
            <a:endParaRPr lang="en-US" sz="1350" dirty="0"/>
          </a:p>
        </p:txBody>
      </p:sp>
      <p:sp>
        <p:nvSpPr>
          <p:cNvPr id="45" name="node-39"/>
          <p:cNvSpPr/>
          <p:nvPr/>
        </p:nvSpPr>
        <p:spPr>
          <a:xfrm>
            <a:off x="548640" y="4910328"/>
            <a:ext cx="1874520" cy="713232"/>
          </a:xfrm>
          <a:prstGeom prst="roundRect">
            <a:avLst>
              <a:gd name="adj" fmla="val 12821"/>
            </a:avLst>
          </a:prstGeom>
          <a:solidFill>
            <a:schemeClr val="accent2"/>
          </a:solidFill>
          <a:ln/>
        </p:spPr>
      </p:sp>
      <p:pic>
        <p:nvPicPr>
          <p:cNvPr id="46" name="icon-40" descr="preencoded.png">    </p:cNvPr>
          <p:cNvPicPr>
            <a:picLocks noChangeAspect="1"/>
          </p:cNvPicPr>
          <p:nvPr/>
        </p:nvPicPr>
        <p:blipFill>
          <a:blip r:embed="rId9"/>
          <a:stretch>
            <a:fillRect/>
          </a:stretch>
        </p:blipFill>
        <p:spPr>
          <a:xfrm>
            <a:off x="676656" y="5038344"/>
            <a:ext cx="292608" cy="292608"/>
          </a:xfrm>
          <a:prstGeom prst="rect">
            <a:avLst/>
          </a:prstGeom>
        </p:spPr>
      </p:pic>
      <p:sp>
        <p:nvSpPr>
          <p:cNvPr id="47" name="node-title-41"/>
          <p:cNvSpPr txBox="1"/>
          <p:nvPr/>
        </p:nvSpPr>
        <p:spPr>
          <a:xfrm>
            <a:off x="1060704" y="4965192"/>
            <a:ext cx="1234440" cy="603504"/>
          </a:xfrm>
          <a:prstGeom prst="rect">
            <a:avLst/>
          </a:prstGeom>
          <a:noFill/>
          <a:ln/>
        </p:spPr>
        <p:txBody>
          <a:bodyPr wrap="square" lIns="0" tIns="0" rIns="0" bIns="0" rtlCol="0" anchor="ctr"/>
          <a:lstStyle/>
          <a:p>
            <a:pPr indent="0" marL="0">
              <a:buNone/>
            </a:pPr>
            <a:r>
              <a:rPr lang="en-US" sz="1350" b="1" dirty="0">
                <a:solidFill>
                  <a:schemeClr val="bg1"/>
                </a:solidFill>
              </a:rPr>
              <a:t>Driver's advocate</a:t>
            </a:r>
            <a:endParaRPr lang="en-US" sz="1350" dirty="0"/>
          </a:p>
        </p:txBody>
      </p:sp>
      <p:sp>
        <p:nvSpPr>
          <p:cNvPr id="48" name="node-42"/>
          <p:cNvSpPr/>
          <p:nvPr/>
        </p:nvSpPr>
        <p:spPr>
          <a:xfrm>
            <a:off x="2853614" y="4069080"/>
            <a:ext cx="1874520" cy="1554480"/>
          </a:xfrm>
          <a:prstGeom prst="roundRect">
            <a:avLst>
              <a:gd name="adj" fmla="val 5882"/>
            </a:avLst>
          </a:prstGeom>
          <a:solidFill>
            <a:schemeClr val="tx1"/>
          </a:solidFill>
          <a:ln/>
        </p:spPr>
      </p:sp>
      <p:pic>
        <p:nvPicPr>
          <p:cNvPr id="49" name="icon-43" descr="preencoded.png">    </p:cNvPr>
          <p:cNvPicPr>
            <a:picLocks noChangeAspect="1"/>
          </p:cNvPicPr>
          <p:nvPr/>
        </p:nvPicPr>
        <p:blipFill>
          <a:blip r:embed="rId10"/>
          <a:stretch>
            <a:fillRect/>
          </a:stretch>
        </p:blipFill>
        <p:spPr>
          <a:xfrm>
            <a:off x="2981630" y="4197096"/>
            <a:ext cx="292608" cy="292608"/>
          </a:xfrm>
          <a:prstGeom prst="rect">
            <a:avLst/>
          </a:prstGeom>
        </p:spPr>
      </p:pic>
      <p:sp>
        <p:nvSpPr>
          <p:cNvPr id="50" name="node-title-44"/>
          <p:cNvSpPr txBox="1"/>
          <p:nvPr/>
        </p:nvSpPr>
        <p:spPr>
          <a:xfrm>
            <a:off x="3365678" y="4169664"/>
            <a:ext cx="1234440" cy="347472"/>
          </a:xfrm>
          <a:prstGeom prst="rect">
            <a:avLst/>
          </a:prstGeom>
          <a:noFill/>
          <a:ln/>
        </p:spPr>
        <p:txBody>
          <a:bodyPr wrap="square" lIns="0" tIns="0" rIns="0" bIns="0" rtlCol="0" anchor="ctr"/>
          <a:lstStyle/>
          <a:p>
            <a:pPr indent="0" marL="0">
              <a:buNone/>
            </a:pPr>
            <a:r>
              <a:rPr lang="en-US" sz="1400" b="1" dirty="0">
                <a:solidFill>
                  <a:schemeClr val="bg1"/>
                </a:solidFill>
              </a:rPr>
              <a:t>Judge</a:t>
            </a:r>
            <a:endParaRPr lang="en-US" sz="1400" dirty="0"/>
          </a:p>
        </p:txBody>
      </p:sp>
      <p:sp>
        <p:nvSpPr>
          <p:cNvPr id="51" name="node-sub-45"/>
          <p:cNvSpPr txBox="1"/>
          <p:nvPr/>
        </p:nvSpPr>
        <p:spPr>
          <a:xfrm>
            <a:off x="2981630" y="4562856"/>
            <a:ext cx="1618488" cy="1024128"/>
          </a:xfrm>
          <a:prstGeom prst="rect">
            <a:avLst/>
          </a:prstGeom>
          <a:noFill/>
          <a:ln/>
        </p:spPr>
        <p:txBody>
          <a:bodyPr wrap="square" lIns="0" tIns="0" rIns="0" bIns="0" rtlCol="0" anchor="t"/>
          <a:lstStyle/>
          <a:p>
            <a:pPr indent="0" marL="0">
              <a:buNone/>
            </a:pPr>
            <a:r>
              <a:rPr lang="en-US" sz="1100" dirty="0">
                <a:solidFill>
                  <a:schemeClr val="bg2"/>
                </a:solidFill>
              </a:rPr>
              <a:t>Rules from both arguments and the case file</a:t>
            </a:r>
            <a:endParaRPr lang="en-US" sz="1100" dirty="0"/>
          </a:p>
        </p:txBody>
      </p:sp>
      <p:sp>
        <p:nvSpPr>
          <p:cNvPr id="52" name="node-46"/>
          <p:cNvSpPr/>
          <p:nvPr/>
        </p:nvSpPr>
        <p:spPr>
          <a:xfrm>
            <a:off x="5158588" y="4069080"/>
            <a:ext cx="1874520" cy="1554480"/>
          </a:xfrm>
          <a:prstGeom prst="roundRect">
            <a:avLst>
              <a:gd name="adj" fmla="val 5882"/>
            </a:avLst>
          </a:prstGeom>
          <a:solidFill>
            <a:schemeClr val="bg1"/>
          </a:solidFill>
          <a:ln w="15875">
            <a:solidFill>
              <a:schemeClr val="tx2"/>
            </a:solidFill>
            <a:prstDash val="dash"/>
          </a:ln>
        </p:spPr>
      </p:sp>
      <p:pic>
        <p:nvPicPr>
          <p:cNvPr id="53" name="icon-47" descr="preencoded.png">    </p:cNvPr>
          <p:cNvPicPr>
            <a:picLocks noChangeAspect="1"/>
          </p:cNvPicPr>
          <p:nvPr/>
        </p:nvPicPr>
        <p:blipFill>
          <a:blip r:embed="rId11"/>
          <a:stretch>
            <a:fillRect/>
          </a:stretch>
        </p:blipFill>
        <p:spPr>
          <a:xfrm>
            <a:off x="5286604" y="4197096"/>
            <a:ext cx="292608" cy="292608"/>
          </a:xfrm>
          <a:prstGeom prst="rect">
            <a:avLst/>
          </a:prstGeom>
        </p:spPr>
      </p:pic>
      <p:sp>
        <p:nvSpPr>
          <p:cNvPr id="54" name="node-title-48"/>
          <p:cNvSpPr txBox="1"/>
          <p:nvPr/>
        </p:nvSpPr>
        <p:spPr>
          <a:xfrm>
            <a:off x="5670652" y="4169664"/>
            <a:ext cx="1234440" cy="347472"/>
          </a:xfrm>
          <a:prstGeom prst="rect">
            <a:avLst/>
          </a:prstGeom>
          <a:noFill/>
          <a:ln/>
        </p:spPr>
        <p:txBody>
          <a:bodyPr wrap="square" lIns="0" tIns="0" rIns="0" bIns="0" rtlCol="0" anchor="ctr"/>
          <a:lstStyle/>
          <a:p>
            <a:pPr indent="0" marL="0">
              <a:buNone/>
            </a:pPr>
            <a:r>
              <a:rPr lang="en-US" sz="1400" b="1" dirty="0">
                <a:solidFill>
                  <a:schemeClr val="tx1"/>
                </a:solidFill>
              </a:rPr>
              <a:t>Final checks</a:t>
            </a:r>
            <a:endParaRPr lang="en-US" sz="1400" dirty="0"/>
          </a:p>
        </p:txBody>
      </p:sp>
      <p:sp>
        <p:nvSpPr>
          <p:cNvPr id="55" name="node-sub-49"/>
          <p:cNvSpPr txBox="1"/>
          <p:nvPr/>
        </p:nvSpPr>
        <p:spPr>
          <a:xfrm>
            <a:off x="5286604" y="4562856"/>
            <a:ext cx="1618488" cy="1024128"/>
          </a:xfrm>
          <a:prstGeom prst="rect">
            <a:avLst/>
          </a:prstGeom>
          <a:noFill/>
          <a:ln/>
        </p:spPr>
        <p:txBody>
          <a:bodyPr wrap="square" lIns="0" tIns="0" rIns="0" bIns="0" rtlCol="0" anchor="t"/>
          <a:lstStyle/>
          <a:p>
            <a:pPr indent="0" marL="0">
              <a:buNone/>
            </a:pPr>
            <a:r>
              <a:rPr lang="en-US" sz="1100" dirty="0">
                <a:solidFill>
                  <a:schemeClr val="tx2"/>
                </a:solidFill>
              </a:rPr>
              <a:t>Confidence and risk, no AI</a:t>
            </a:r>
            <a:endParaRPr lang="en-US" sz="1100" dirty="0"/>
          </a:p>
        </p:txBody>
      </p:sp>
      <p:sp>
        <p:nvSpPr>
          <p:cNvPr id="56" name="node-50"/>
          <p:cNvSpPr/>
          <p:nvPr/>
        </p:nvSpPr>
        <p:spPr>
          <a:xfrm>
            <a:off x="7463561" y="4069080"/>
            <a:ext cx="1874520" cy="1554480"/>
          </a:xfrm>
          <a:prstGeom prst="roundRect">
            <a:avLst>
              <a:gd name="adj" fmla="val 5882"/>
            </a:avLst>
          </a:prstGeom>
          <a:solidFill>
            <a:schemeClr val="bg1"/>
          </a:solidFill>
          <a:ln w="15875">
            <a:solidFill>
              <a:schemeClr val="tx2"/>
            </a:solidFill>
            <a:prstDash val="dash"/>
          </a:ln>
        </p:spPr>
      </p:sp>
      <p:pic>
        <p:nvPicPr>
          <p:cNvPr id="57" name="icon-51" descr="preencoded.png">    </p:cNvPr>
          <p:cNvPicPr>
            <a:picLocks noChangeAspect="1"/>
          </p:cNvPicPr>
          <p:nvPr/>
        </p:nvPicPr>
        <p:blipFill>
          <a:blip r:embed="rId12"/>
          <a:stretch>
            <a:fillRect/>
          </a:stretch>
        </p:blipFill>
        <p:spPr>
          <a:xfrm>
            <a:off x="7591577" y="4197096"/>
            <a:ext cx="292608" cy="292608"/>
          </a:xfrm>
          <a:prstGeom prst="rect">
            <a:avLst/>
          </a:prstGeom>
        </p:spPr>
      </p:pic>
      <p:sp>
        <p:nvSpPr>
          <p:cNvPr id="58" name="node-title-52"/>
          <p:cNvSpPr txBox="1"/>
          <p:nvPr/>
        </p:nvSpPr>
        <p:spPr>
          <a:xfrm>
            <a:off x="7975625" y="4169664"/>
            <a:ext cx="1234440" cy="347472"/>
          </a:xfrm>
          <a:prstGeom prst="rect">
            <a:avLst/>
          </a:prstGeom>
          <a:noFill/>
          <a:ln/>
        </p:spPr>
        <p:txBody>
          <a:bodyPr wrap="square" lIns="0" tIns="0" rIns="0" bIns="0" rtlCol="0" anchor="ctr"/>
          <a:lstStyle/>
          <a:p>
            <a:pPr indent="0" marL="0">
              <a:buNone/>
            </a:pPr>
            <a:r>
              <a:rPr lang="en-US" sz="1400" b="1" dirty="0">
                <a:solidFill>
                  <a:schemeClr val="tx1"/>
                </a:solidFill>
              </a:rPr>
              <a:t>Compliance</a:t>
            </a:r>
            <a:endParaRPr lang="en-US" sz="1400" dirty="0"/>
          </a:p>
        </p:txBody>
      </p:sp>
      <p:sp>
        <p:nvSpPr>
          <p:cNvPr id="59" name="node-sub-53"/>
          <p:cNvSpPr txBox="1"/>
          <p:nvPr/>
        </p:nvSpPr>
        <p:spPr>
          <a:xfrm>
            <a:off x="7591577" y="4562856"/>
            <a:ext cx="1618488" cy="1024128"/>
          </a:xfrm>
          <a:prstGeom prst="rect">
            <a:avLst/>
          </a:prstGeom>
          <a:noFill/>
          <a:ln/>
        </p:spPr>
        <p:txBody>
          <a:bodyPr wrap="square" lIns="0" tIns="0" rIns="0" bIns="0" rtlCol="0" anchor="t"/>
          <a:lstStyle/>
          <a:p>
            <a:pPr indent="0" marL="0">
              <a:buNone/>
            </a:pPr>
            <a:r>
              <a:rPr lang="en-US" sz="1100" dirty="0">
                <a:solidFill>
                  <a:schemeClr val="tx2"/>
                </a:solidFill>
              </a:rPr>
              <a:t>Can veto a ruling, never writes one</a:t>
            </a:r>
            <a:endParaRPr lang="en-US" sz="1100" dirty="0"/>
          </a:p>
        </p:txBody>
      </p:sp>
      <p:sp>
        <p:nvSpPr>
          <p:cNvPr id="60" name="node-54"/>
          <p:cNvSpPr/>
          <p:nvPr/>
        </p:nvSpPr>
        <p:spPr>
          <a:xfrm>
            <a:off x="9768535" y="4069080"/>
            <a:ext cx="1874520" cy="713232"/>
          </a:xfrm>
          <a:prstGeom prst="roundRect">
            <a:avLst>
              <a:gd name="adj" fmla="val 12821"/>
            </a:avLst>
          </a:prstGeom>
          <a:solidFill>
            <a:schemeClr val="accent3">
              <a:alpha val="14000"/>
            </a:schemeClr>
          </a:solidFill>
          <a:ln w="15875">
            <a:solidFill>
              <a:schemeClr val="accent3"/>
            </a:solidFill>
            <a:prstDash val="solid"/>
          </a:ln>
        </p:spPr>
      </p:sp>
      <p:pic>
        <p:nvPicPr>
          <p:cNvPr id="61" name="icon-55" descr="preencoded.png">    </p:cNvPr>
          <p:cNvPicPr>
            <a:picLocks noChangeAspect="1"/>
          </p:cNvPicPr>
          <p:nvPr/>
        </p:nvPicPr>
        <p:blipFill>
          <a:blip r:embed="rId13"/>
          <a:stretch>
            <a:fillRect/>
          </a:stretch>
        </p:blipFill>
        <p:spPr>
          <a:xfrm>
            <a:off x="9896551" y="4197096"/>
            <a:ext cx="292608" cy="292608"/>
          </a:xfrm>
          <a:prstGeom prst="rect">
            <a:avLst/>
          </a:prstGeom>
        </p:spPr>
      </p:pic>
      <p:sp>
        <p:nvSpPr>
          <p:cNvPr id="62" name="node-title-56"/>
          <p:cNvSpPr txBox="1"/>
          <p:nvPr/>
        </p:nvSpPr>
        <p:spPr>
          <a:xfrm>
            <a:off x="10280599" y="4123944"/>
            <a:ext cx="1234440" cy="603504"/>
          </a:xfrm>
          <a:prstGeom prst="rect">
            <a:avLst/>
          </a:prstGeom>
          <a:noFill/>
          <a:ln/>
        </p:spPr>
        <p:txBody>
          <a:bodyPr wrap="square" lIns="0" tIns="0" rIns="0" bIns="0" rtlCol="0" anchor="ctr"/>
          <a:lstStyle/>
          <a:p>
            <a:pPr indent="0" marL="0">
              <a:buNone/>
            </a:pPr>
            <a:r>
              <a:rPr lang="en-US" sz="1350" b="1" dirty="0">
                <a:solidFill>
                  <a:schemeClr val="tx1"/>
                </a:solidFill>
              </a:rPr>
              <a:t>Decided</a:t>
            </a:r>
            <a:endParaRPr lang="en-US" sz="1350" dirty="0"/>
          </a:p>
        </p:txBody>
      </p:sp>
      <p:sp>
        <p:nvSpPr>
          <p:cNvPr id="63" name="node-57"/>
          <p:cNvSpPr/>
          <p:nvPr/>
        </p:nvSpPr>
        <p:spPr>
          <a:xfrm>
            <a:off x="9768535" y="4910328"/>
            <a:ext cx="1874520" cy="713232"/>
          </a:xfrm>
          <a:prstGeom prst="roundRect">
            <a:avLst>
              <a:gd name="adj" fmla="val 12821"/>
            </a:avLst>
          </a:prstGeom>
          <a:solidFill>
            <a:schemeClr val="accent4">
              <a:alpha val="14000"/>
            </a:schemeClr>
          </a:solidFill>
          <a:ln w="15875">
            <a:solidFill>
              <a:schemeClr val="accent4"/>
            </a:solidFill>
            <a:prstDash val="solid"/>
          </a:ln>
        </p:spPr>
      </p:sp>
      <p:pic>
        <p:nvPicPr>
          <p:cNvPr id="64" name="icon-58" descr="preencoded.png">    </p:cNvPr>
          <p:cNvPicPr>
            <a:picLocks noChangeAspect="1"/>
          </p:cNvPicPr>
          <p:nvPr/>
        </p:nvPicPr>
        <p:blipFill>
          <a:blip r:embed="rId14"/>
          <a:stretch>
            <a:fillRect/>
          </a:stretch>
        </p:blipFill>
        <p:spPr>
          <a:xfrm>
            <a:off x="9896551" y="5038344"/>
            <a:ext cx="292608" cy="292608"/>
          </a:xfrm>
          <a:prstGeom prst="rect">
            <a:avLst/>
          </a:prstGeom>
        </p:spPr>
      </p:pic>
      <p:sp>
        <p:nvSpPr>
          <p:cNvPr id="65" name="node-title-59"/>
          <p:cNvSpPr txBox="1"/>
          <p:nvPr/>
        </p:nvSpPr>
        <p:spPr>
          <a:xfrm>
            <a:off x="10280599" y="4965192"/>
            <a:ext cx="1234440" cy="603504"/>
          </a:xfrm>
          <a:prstGeom prst="rect">
            <a:avLst/>
          </a:prstGeom>
          <a:noFill/>
          <a:ln/>
        </p:spPr>
        <p:txBody>
          <a:bodyPr wrap="square" lIns="0" tIns="0" rIns="0" bIns="0" rtlCol="0" anchor="ctr"/>
          <a:lstStyle/>
          <a:p>
            <a:pPr indent="0" marL="0">
              <a:buNone/>
            </a:pPr>
            <a:r>
              <a:rPr lang="en-US" sz="1350" b="1" dirty="0">
                <a:solidFill>
                  <a:schemeClr val="tx1"/>
                </a:solidFill>
              </a:rPr>
              <a:t>A person</a:t>
            </a:r>
            <a:endParaRPr lang="en-US" sz="1350" dirty="0"/>
          </a:p>
        </p:txBody>
      </p:sp>
      <p:sp>
        <p:nvSpPr>
          <p:cNvPr id="66" name="arrow-60"/>
          <p:cNvSpPr/>
          <p:nvPr/>
        </p:nvSpPr>
        <p:spPr>
          <a:xfrm>
            <a:off x="2423160" y="4425696"/>
            <a:ext cx="430454" cy="0"/>
          </a:xfrm>
          <a:prstGeom prst="line">
            <a:avLst/>
          </a:prstGeom>
          <a:noFill/>
          <a:ln w="19050">
            <a:solidFill>
              <a:schemeClr val="tx2"/>
            </a:solidFill>
            <a:prstDash val="solid"/>
            <a:tailEnd type="triangle"/>
          </a:ln>
        </p:spPr>
      </p:sp>
      <p:sp>
        <p:nvSpPr>
          <p:cNvPr id="67" name="arrow-61"/>
          <p:cNvSpPr/>
          <p:nvPr/>
        </p:nvSpPr>
        <p:spPr>
          <a:xfrm>
            <a:off x="2423160" y="5266944"/>
            <a:ext cx="430454" cy="0"/>
          </a:xfrm>
          <a:prstGeom prst="line">
            <a:avLst/>
          </a:prstGeom>
          <a:noFill/>
          <a:ln w="19050">
            <a:solidFill>
              <a:schemeClr val="tx2"/>
            </a:solidFill>
            <a:prstDash val="solid"/>
            <a:tailEnd type="triangle"/>
          </a:ln>
        </p:spPr>
      </p:sp>
      <p:sp>
        <p:nvSpPr>
          <p:cNvPr id="68" name="arrow-62"/>
          <p:cNvSpPr/>
          <p:nvPr/>
        </p:nvSpPr>
        <p:spPr>
          <a:xfrm>
            <a:off x="4728134" y="4846320"/>
            <a:ext cx="430454" cy="0"/>
          </a:xfrm>
          <a:prstGeom prst="line">
            <a:avLst/>
          </a:prstGeom>
          <a:noFill/>
          <a:ln w="19050">
            <a:solidFill>
              <a:schemeClr val="tx2"/>
            </a:solidFill>
            <a:prstDash val="solid"/>
            <a:tailEnd type="triangle"/>
          </a:ln>
        </p:spPr>
      </p:sp>
      <p:sp>
        <p:nvSpPr>
          <p:cNvPr id="69" name="arrow-63"/>
          <p:cNvSpPr/>
          <p:nvPr/>
        </p:nvSpPr>
        <p:spPr>
          <a:xfrm>
            <a:off x="7033108" y="4846320"/>
            <a:ext cx="430454" cy="0"/>
          </a:xfrm>
          <a:prstGeom prst="line">
            <a:avLst/>
          </a:prstGeom>
          <a:noFill/>
          <a:ln w="19050">
            <a:solidFill>
              <a:schemeClr val="tx2"/>
            </a:solidFill>
            <a:prstDash val="solid"/>
            <a:tailEnd type="triangle"/>
          </a:ln>
        </p:spPr>
      </p:sp>
      <p:sp>
        <p:nvSpPr>
          <p:cNvPr id="70" name="arrow-64"/>
          <p:cNvSpPr/>
          <p:nvPr/>
        </p:nvSpPr>
        <p:spPr>
          <a:xfrm>
            <a:off x="9338081" y="4425696"/>
            <a:ext cx="430454" cy="0"/>
          </a:xfrm>
          <a:prstGeom prst="line">
            <a:avLst/>
          </a:prstGeom>
          <a:noFill/>
          <a:ln w="19050">
            <a:solidFill>
              <a:schemeClr val="accent3"/>
            </a:solidFill>
            <a:prstDash val="solid"/>
            <a:tailEnd type="triangle"/>
          </a:ln>
        </p:spPr>
      </p:sp>
      <p:sp>
        <p:nvSpPr>
          <p:cNvPr id="71" name="arrow-65"/>
          <p:cNvSpPr/>
          <p:nvPr/>
        </p:nvSpPr>
        <p:spPr>
          <a:xfrm>
            <a:off x="9338081" y="5266944"/>
            <a:ext cx="430454" cy="0"/>
          </a:xfrm>
          <a:prstGeom prst="line">
            <a:avLst/>
          </a:prstGeom>
          <a:noFill/>
          <a:ln w="19050">
            <a:solidFill>
              <a:schemeClr val="accent4"/>
            </a:solidFill>
            <a:prstDash val="solid"/>
            <a:tailEnd type="triangle"/>
          </a:ln>
        </p:spPr>
      </p:sp>
      <p:sp>
        <p:nvSpPr>
          <p:cNvPr id="72" name="legend-key-66"/>
          <p:cNvSpPr/>
          <p:nvPr/>
        </p:nvSpPr>
        <p:spPr>
          <a:xfrm>
            <a:off x="548640" y="5998464"/>
            <a:ext cx="292608" cy="201168"/>
          </a:xfrm>
          <a:prstGeom prst="roundRect">
            <a:avLst>
              <a:gd name="adj" fmla="val 22727"/>
            </a:avLst>
          </a:prstGeom>
          <a:solidFill>
            <a:schemeClr val="tx1"/>
          </a:solidFill>
          <a:ln/>
        </p:spPr>
      </p:sp>
      <p:sp>
        <p:nvSpPr>
          <p:cNvPr id="73" name="legend-text-67"/>
          <p:cNvSpPr txBox="1"/>
          <p:nvPr/>
        </p:nvSpPr>
        <p:spPr>
          <a:xfrm>
            <a:off x="932688" y="5961888"/>
            <a:ext cx="1828800" cy="274320"/>
          </a:xfrm>
          <a:prstGeom prst="rect">
            <a:avLst/>
          </a:prstGeom>
          <a:noFill/>
          <a:ln/>
        </p:spPr>
        <p:txBody>
          <a:bodyPr wrap="square" lIns="0" tIns="0" rIns="0" bIns="0" rtlCol="0" anchor="ctr"/>
          <a:lstStyle/>
          <a:p>
            <a:pPr indent="0" marL="0">
              <a:buNone/>
            </a:pPr>
            <a:r>
              <a:rPr lang="en-US" sz="1100" dirty="0">
                <a:solidFill>
                  <a:schemeClr val="tx2"/>
                </a:solidFill>
              </a:rPr>
              <a:t>AI step (model call)</a:t>
            </a:r>
            <a:endParaRPr lang="en-US" sz="1100" dirty="0"/>
          </a:p>
        </p:txBody>
      </p:sp>
      <p:sp>
        <p:nvSpPr>
          <p:cNvPr id="74" name="legend-key-68"/>
          <p:cNvSpPr/>
          <p:nvPr/>
        </p:nvSpPr>
        <p:spPr>
          <a:xfrm>
            <a:off x="2788920" y="5998464"/>
            <a:ext cx="292608" cy="201168"/>
          </a:xfrm>
          <a:prstGeom prst="roundRect">
            <a:avLst>
              <a:gd name="adj" fmla="val 22727"/>
            </a:avLst>
          </a:prstGeom>
          <a:solidFill>
            <a:schemeClr val="bg1"/>
          </a:solidFill>
          <a:ln w="15875">
            <a:solidFill>
              <a:schemeClr val="tx2"/>
            </a:solidFill>
            <a:prstDash val="dash"/>
          </a:ln>
        </p:spPr>
      </p:sp>
      <p:sp>
        <p:nvSpPr>
          <p:cNvPr id="75" name="legend-text-69"/>
          <p:cNvSpPr txBox="1"/>
          <p:nvPr/>
        </p:nvSpPr>
        <p:spPr>
          <a:xfrm>
            <a:off x="3172968" y="5961888"/>
            <a:ext cx="1828800" cy="274320"/>
          </a:xfrm>
          <a:prstGeom prst="rect">
            <a:avLst/>
          </a:prstGeom>
          <a:noFill/>
          <a:ln/>
        </p:spPr>
        <p:txBody>
          <a:bodyPr wrap="square" lIns="0" tIns="0" rIns="0" bIns="0" rtlCol="0" anchor="ctr"/>
          <a:lstStyle/>
          <a:p>
            <a:pPr indent="0" marL="0">
              <a:buNone/>
            </a:pPr>
            <a:r>
              <a:rPr lang="en-US" sz="1100" dirty="0">
                <a:solidFill>
                  <a:schemeClr val="tx2"/>
                </a:solidFill>
              </a:rPr>
              <a:t>Plain code, no AI</a:t>
            </a:r>
            <a:endParaRPr lang="en-US" sz="1100" dirty="0"/>
          </a:p>
        </p:txBody>
      </p:sp>
      <p:sp>
        <p:nvSpPr>
          <p:cNvPr id="76" name="legend-key-70"/>
          <p:cNvSpPr/>
          <p:nvPr/>
        </p:nvSpPr>
        <p:spPr>
          <a:xfrm>
            <a:off x="5029200" y="5998464"/>
            <a:ext cx="292608" cy="201168"/>
          </a:xfrm>
          <a:prstGeom prst="roundRect">
            <a:avLst>
              <a:gd name="adj" fmla="val 22727"/>
            </a:avLst>
          </a:prstGeom>
          <a:solidFill>
            <a:schemeClr val="accent4">
              <a:alpha val="14000"/>
            </a:schemeClr>
          </a:solidFill>
          <a:ln w="15875">
            <a:solidFill>
              <a:schemeClr val="accent4"/>
            </a:solidFill>
            <a:prstDash val="solid"/>
          </a:ln>
        </p:spPr>
      </p:sp>
      <p:sp>
        <p:nvSpPr>
          <p:cNvPr id="77" name="legend-text-71"/>
          <p:cNvSpPr txBox="1"/>
          <p:nvPr/>
        </p:nvSpPr>
        <p:spPr>
          <a:xfrm>
            <a:off x="5413248" y="5961888"/>
            <a:ext cx="1828800" cy="274320"/>
          </a:xfrm>
          <a:prstGeom prst="rect">
            <a:avLst/>
          </a:prstGeom>
          <a:noFill/>
          <a:ln/>
        </p:spPr>
        <p:txBody>
          <a:bodyPr wrap="square" lIns="0" tIns="0" rIns="0" bIns="0" rtlCol="0" anchor="ctr"/>
          <a:lstStyle/>
          <a:p>
            <a:pPr indent="0" marL="0">
              <a:buNone/>
            </a:pPr>
            <a:r>
              <a:rPr lang="en-US" sz="1100" dirty="0">
                <a:solidFill>
                  <a:schemeClr val="tx2"/>
                </a:solidFill>
              </a:rPr>
              <a:t>A person decides</a:t>
            </a:r>
            <a:endParaRPr lang="en-US" sz="1100" dirty="0"/>
          </a:p>
        </p:txBody>
      </p:sp>
      <p:sp>
        <p:nvSpPr>
          <p:cNvPr id="78" name="legend-key-72"/>
          <p:cNvSpPr/>
          <p:nvPr/>
        </p:nvSpPr>
        <p:spPr>
          <a:xfrm>
            <a:off x="7269480" y="5998464"/>
            <a:ext cx="292608" cy="201168"/>
          </a:xfrm>
          <a:prstGeom prst="roundRect">
            <a:avLst>
              <a:gd name="adj" fmla="val 22727"/>
            </a:avLst>
          </a:prstGeom>
          <a:solidFill>
            <a:schemeClr val="accent1"/>
          </a:solidFill>
          <a:ln/>
        </p:spPr>
      </p:sp>
      <p:sp>
        <p:nvSpPr>
          <p:cNvPr id="79" name="legend-text-73"/>
          <p:cNvSpPr txBox="1"/>
          <p:nvPr/>
        </p:nvSpPr>
        <p:spPr>
          <a:xfrm>
            <a:off x="7653528" y="5961888"/>
            <a:ext cx="1828800" cy="274320"/>
          </a:xfrm>
          <a:prstGeom prst="rect">
            <a:avLst/>
          </a:prstGeom>
          <a:noFill/>
          <a:ln/>
        </p:spPr>
        <p:txBody>
          <a:bodyPr wrap="square" lIns="0" tIns="0" rIns="0" bIns="0" rtlCol="0" anchor="ctr"/>
          <a:lstStyle/>
          <a:p>
            <a:pPr indent="0" marL="0">
              <a:buNone/>
            </a:pPr>
            <a:r>
              <a:rPr lang="en-US" sz="1100" dirty="0">
                <a:solidFill>
                  <a:schemeClr val="tx2"/>
                </a:solidFill>
              </a:rPr>
              <a:t>Rider's side</a:t>
            </a:r>
            <a:endParaRPr lang="en-US" sz="1100" dirty="0"/>
          </a:p>
        </p:txBody>
      </p:sp>
      <p:sp>
        <p:nvSpPr>
          <p:cNvPr id="80" name="legend-key-74"/>
          <p:cNvSpPr/>
          <p:nvPr/>
        </p:nvSpPr>
        <p:spPr>
          <a:xfrm>
            <a:off x="9509760" y="5998464"/>
            <a:ext cx="292608" cy="201168"/>
          </a:xfrm>
          <a:prstGeom prst="roundRect">
            <a:avLst>
              <a:gd name="adj" fmla="val 22727"/>
            </a:avLst>
          </a:prstGeom>
          <a:solidFill>
            <a:schemeClr val="accent2"/>
          </a:solidFill>
          <a:ln/>
        </p:spPr>
      </p:sp>
      <p:sp>
        <p:nvSpPr>
          <p:cNvPr id="81" name="legend-text-75"/>
          <p:cNvSpPr txBox="1"/>
          <p:nvPr/>
        </p:nvSpPr>
        <p:spPr>
          <a:xfrm>
            <a:off x="9893808" y="5961888"/>
            <a:ext cx="1828800" cy="274320"/>
          </a:xfrm>
          <a:prstGeom prst="rect">
            <a:avLst/>
          </a:prstGeom>
          <a:noFill/>
          <a:ln/>
        </p:spPr>
        <p:txBody>
          <a:bodyPr wrap="square" lIns="0" tIns="0" rIns="0" bIns="0" rtlCol="0" anchor="ctr"/>
          <a:lstStyle/>
          <a:p>
            <a:pPr indent="0" marL="0">
              <a:buNone/>
            </a:pPr>
            <a:r>
              <a:rPr lang="en-US" sz="1100" dirty="0">
                <a:solidFill>
                  <a:schemeClr val="tx2"/>
                </a:solidFill>
              </a:rPr>
              <a:t>Driver's side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Each agent sees only what it needs</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The limits are enforced in code, not requested in a prompt.</a:t>
            </a:r>
            <a:endParaRPr lang="en-US" sz="1500" dirty="0"/>
          </a:p>
        </p:txBody>
      </p:sp>
      <p:sp>
        <p:nvSpPr>
          <p:cNvPr id="4" name="agent-0"/>
          <p:cNvSpPr/>
          <p:nvPr/>
        </p:nvSpPr>
        <p:spPr>
          <a:xfrm>
            <a:off x="548640" y="1828800"/>
            <a:ext cx="2036003" cy="3017520"/>
          </a:xfrm>
          <a:prstGeom prst="roundRect">
            <a:avLst>
              <a:gd name="adj" fmla="val 5389"/>
            </a:avLst>
          </a:prstGeom>
          <a:solidFill>
            <a:schemeClr val="bg1"/>
          </a:solidFill>
          <a:ln/>
          <a:effectLst>
            <a:outerShdw sx="100000" sy="100000" kx="0" ky="0" algn="bl" rotWithShape="0" blurRad="101600" dist="25400" dir="5400000">
              <a:srgbClr val="000000">
                <a:alpha val="8000"/>
              </a:srgbClr>
            </a:outerShdw>
          </a:effectLst>
        </p:spPr>
      </p:sp>
      <p:sp>
        <p:nvSpPr>
          <p:cNvPr id="5" name="agent-0-disc"/>
          <p:cNvSpPr/>
          <p:nvPr/>
        </p:nvSpPr>
        <p:spPr>
          <a:xfrm>
            <a:off x="777240" y="2103120"/>
            <a:ext cx="640080" cy="640080"/>
          </a:xfrm>
          <a:prstGeom prst="ellipse">
            <a:avLst/>
          </a:prstGeom>
          <a:solidFill>
            <a:schemeClr val="tx1"/>
          </a:solidFill>
          <a:ln/>
        </p:spPr>
      </p:sp>
      <p:pic>
        <p:nvPicPr>
          <p:cNvPr id="6" name="agent-0-icon" descr="preencoded.png">    </p:cNvPr>
          <p:cNvPicPr>
            <a:picLocks noChangeAspect="1"/>
          </p:cNvPicPr>
          <p:nvPr/>
        </p:nvPicPr>
        <p:blipFill>
          <a:blip r:embed="rId1"/>
          <a:stretch>
            <a:fillRect/>
          </a:stretch>
        </p:blipFill>
        <p:spPr>
          <a:xfrm>
            <a:off x="914400" y="2240280"/>
            <a:ext cx="365760" cy="365760"/>
          </a:xfrm>
          <a:prstGeom prst="rect">
            <a:avLst/>
          </a:prstGeom>
        </p:spPr>
      </p:pic>
      <p:sp>
        <p:nvSpPr>
          <p:cNvPr id="7" name="agent-0-name"/>
          <p:cNvSpPr txBox="1"/>
          <p:nvPr/>
        </p:nvSpPr>
        <p:spPr>
          <a:xfrm>
            <a:off x="777240" y="2880360"/>
            <a:ext cx="1578803" cy="566928"/>
          </a:xfrm>
          <a:prstGeom prst="rect">
            <a:avLst/>
          </a:prstGeom>
          <a:noFill/>
          <a:ln/>
        </p:spPr>
        <p:txBody>
          <a:bodyPr wrap="square" lIns="0" tIns="0" rIns="0" bIns="0" rtlCol="0" anchor="t"/>
          <a:lstStyle/>
          <a:p>
            <a:pPr indent="0" marL="0">
              <a:buNone/>
            </a:pPr>
            <a:r>
              <a:rPr lang="en-US" sz="1600" b="1" dirty="0">
                <a:solidFill>
                  <a:schemeClr val="tx1"/>
                </a:solidFill>
              </a:rPr>
              <a:t>Triage</a:t>
            </a:r>
            <a:endParaRPr lang="en-US" sz="1600" dirty="0"/>
          </a:p>
        </p:txBody>
      </p:sp>
      <p:sp>
        <p:nvSpPr>
          <p:cNvPr id="8" name="agent-0-sees"/>
          <p:cNvSpPr txBox="1"/>
          <p:nvPr/>
        </p:nvSpPr>
        <p:spPr>
          <a:xfrm>
            <a:off x="777240" y="3474720"/>
            <a:ext cx="1578803" cy="777240"/>
          </a:xfrm>
          <a:prstGeom prst="rect">
            <a:avLst/>
          </a:prstGeom>
          <a:noFill/>
          <a:ln/>
        </p:spPr>
        <p:txBody>
          <a:bodyPr wrap="square" lIns="0" tIns="0" rIns="0" bIns="0" rtlCol="0" anchor="t"/>
          <a:lstStyle/>
          <a:p>
            <a:pPr indent="0" marL="0">
              <a:buNone/>
            </a:pPr>
            <a:r>
              <a:rPr lang="en-US" sz="1100" b="1" dirty="0">
                <a:solidFill>
                  <a:schemeClr val="accent3"/>
                </a:solidFill>
              </a:rPr>
              <a:t>Sees</a:t>
            </a:r>
            <a:endParaRPr lang="en-US" sz="1100" dirty="0"/>
          </a:p>
          <a:p>
            <a:pPr indent="0" marL="0">
              <a:buNone/>
            </a:pPr>
            <a:r>
              <a:rPr lang="en-US" sz="1250" dirty="0">
                <a:solidFill>
                  <a:schemeClr val="tx1"/>
                </a:solidFill>
              </a:rPr>
              <a:t>The report, in the person's words</a:t>
            </a:r>
            <a:endParaRPr lang="en-US" sz="1100" dirty="0"/>
          </a:p>
        </p:txBody>
      </p:sp>
      <p:sp>
        <p:nvSpPr>
          <p:cNvPr id="9" name="agent-0-never"/>
          <p:cNvSpPr txBox="1"/>
          <p:nvPr/>
        </p:nvSpPr>
        <p:spPr>
          <a:xfrm>
            <a:off x="777240" y="4251960"/>
            <a:ext cx="1578803" cy="731520"/>
          </a:xfrm>
          <a:prstGeom prst="rect">
            <a:avLst/>
          </a:prstGeom>
          <a:noFill/>
          <a:ln/>
        </p:spPr>
        <p:txBody>
          <a:bodyPr wrap="square" lIns="0" tIns="0" rIns="0" bIns="0" rtlCol="0" anchor="t"/>
          <a:lstStyle/>
          <a:p>
            <a:pPr indent="0" marL="0">
              <a:buNone/>
            </a:pPr>
            <a:r>
              <a:rPr lang="en-US" sz="1100" b="1" dirty="0">
                <a:solidFill>
                  <a:schemeClr val="accent5"/>
                </a:solidFill>
              </a:rPr>
              <a:t>Never sees</a:t>
            </a:r>
            <a:endParaRPr lang="en-US" sz="1100" dirty="0"/>
          </a:p>
          <a:p>
            <a:pPr indent="0" marL="0">
              <a:buNone/>
            </a:pPr>
            <a:r>
              <a:rPr lang="en-US" sz="1250" dirty="0">
                <a:solidFill>
                  <a:schemeClr val="tx1"/>
                </a:solidFill>
              </a:rPr>
              <a:t>Any trip records</a:t>
            </a:r>
            <a:endParaRPr lang="en-US" sz="1100" dirty="0"/>
          </a:p>
        </p:txBody>
      </p:sp>
      <p:sp>
        <p:nvSpPr>
          <p:cNvPr id="10" name="agent-1"/>
          <p:cNvSpPr/>
          <p:nvPr/>
        </p:nvSpPr>
        <p:spPr>
          <a:xfrm>
            <a:off x="2813243" y="1828800"/>
            <a:ext cx="2036003" cy="3017520"/>
          </a:xfrm>
          <a:prstGeom prst="roundRect">
            <a:avLst>
              <a:gd name="adj" fmla="val 5389"/>
            </a:avLst>
          </a:prstGeom>
          <a:solidFill>
            <a:schemeClr val="bg1"/>
          </a:solidFill>
          <a:ln/>
          <a:effectLst>
            <a:outerShdw sx="100000" sy="100000" kx="0" ky="0" algn="bl" rotWithShape="0" blurRad="101600" dist="25400" dir="5400000">
              <a:srgbClr val="000000">
                <a:alpha val="8000"/>
              </a:srgbClr>
            </a:outerShdw>
          </a:effectLst>
        </p:spPr>
      </p:sp>
      <p:sp>
        <p:nvSpPr>
          <p:cNvPr id="11" name="agent-1-disc"/>
          <p:cNvSpPr/>
          <p:nvPr/>
        </p:nvSpPr>
        <p:spPr>
          <a:xfrm>
            <a:off x="3041843" y="2103120"/>
            <a:ext cx="640080" cy="640080"/>
          </a:xfrm>
          <a:prstGeom prst="ellipse">
            <a:avLst/>
          </a:prstGeom>
          <a:solidFill>
            <a:schemeClr val="tx1"/>
          </a:solidFill>
          <a:ln/>
        </p:spPr>
      </p:sp>
      <p:pic>
        <p:nvPicPr>
          <p:cNvPr id="12" name="agent-1-icon" descr="preencoded.png">    </p:cNvPr>
          <p:cNvPicPr>
            <a:picLocks noChangeAspect="1"/>
          </p:cNvPicPr>
          <p:nvPr/>
        </p:nvPicPr>
        <p:blipFill>
          <a:blip r:embed="rId2"/>
          <a:stretch>
            <a:fillRect/>
          </a:stretch>
        </p:blipFill>
        <p:spPr>
          <a:xfrm>
            <a:off x="3179003" y="2240280"/>
            <a:ext cx="365760" cy="365760"/>
          </a:xfrm>
          <a:prstGeom prst="rect">
            <a:avLst/>
          </a:prstGeom>
        </p:spPr>
      </p:pic>
      <p:sp>
        <p:nvSpPr>
          <p:cNvPr id="13" name="agent-1-name"/>
          <p:cNvSpPr txBox="1"/>
          <p:nvPr/>
        </p:nvSpPr>
        <p:spPr>
          <a:xfrm>
            <a:off x="3041843" y="2880360"/>
            <a:ext cx="1578803" cy="566928"/>
          </a:xfrm>
          <a:prstGeom prst="rect">
            <a:avLst/>
          </a:prstGeom>
          <a:noFill/>
          <a:ln/>
        </p:spPr>
        <p:txBody>
          <a:bodyPr wrap="square" lIns="0" tIns="0" rIns="0" bIns="0" rtlCol="0" anchor="t"/>
          <a:lstStyle/>
          <a:p>
            <a:pPr indent="0" marL="0">
              <a:buNone/>
            </a:pPr>
            <a:r>
              <a:rPr lang="en-US" sz="1600" b="1" dirty="0">
                <a:solidFill>
                  <a:schemeClr val="tx1"/>
                </a:solidFill>
              </a:rPr>
              <a:t>Evidence Collection</a:t>
            </a:r>
            <a:endParaRPr lang="en-US" sz="1600" dirty="0"/>
          </a:p>
        </p:txBody>
      </p:sp>
      <p:sp>
        <p:nvSpPr>
          <p:cNvPr id="14" name="agent-1-sees"/>
          <p:cNvSpPr txBox="1"/>
          <p:nvPr/>
        </p:nvSpPr>
        <p:spPr>
          <a:xfrm>
            <a:off x="3041843" y="3474720"/>
            <a:ext cx="1578803" cy="777240"/>
          </a:xfrm>
          <a:prstGeom prst="rect">
            <a:avLst/>
          </a:prstGeom>
          <a:noFill/>
          <a:ln/>
        </p:spPr>
        <p:txBody>
          <a:bodyPr wrap="square" lIns="0" tIns="0" rIns="0" bIns="0" rtlCol="0" anchor="t"/>
          <a:lstStyle/>
          <a:p>
            <a:pPr indent="0" marL="0">
              <a:buNone/>
            </a:pPr>
            <a:r>
              <a:rPr lang="en-US" sz="1100" b="1" dirty="0">
                <a:solidFill>
                  <a:schemeClr val="accent3"/>
                </a:solidFill>
              </a:rPr>
              <a:t>Sees</a:t>
            </a:r>
            <a:endParaRPr lang="en-US" sz="1100" dirty="0"/>
          </a:p>
          <a:p>
            <a:pPr indent="0" marL="0">
              <a:buNone/>
            </a:pPr>
            <a:r>
              <a:rPr lang="en-US" sz="1250" dirty="0">
                <a:solidFill>
                  <a:schemeClr val="tx1"/>
                </a:solidFill>
              </a:rPr>
              <a:t>The trip records. The only agent that can</a:t>
            </a:r>
            <a:endParaRPr lang="en-US" sz="1100" dirty="0"/>
          </a:p>
        </p:txBody>
      </p:sp>
      <p:sp>
        <p:nvSpPr>
          <p:cNvPr id="15" name="agent-1-never"/>
          <p:cNvSpPr txBox="1"/>
          <p:nvPr/>
        </p:nvSpPr>
        <p:spPr>
          <a:xfrm>
            <a:off x="3041843" y="4251960"/>
            <a:ext cx="1578803" cy="731520"/>
          </a:xfrm>
          <a:prstGeom prst="rect">
            <a:avLst/>
          </a:prstGeom>
          <a:noFill/>
          <a:ln/>
        </p:spPr>
        <p:txBody>
          <a:bodyPr wrap="square" lIns="0" tIns="0" rIns="0" bIns="0" rtlCol="0" anchor="t"/>
          <a:lstStyle/>
          <a:p>
            <a:pPr indent="0" marL="0">
              <a:buNone/>
            </a:pPr>
            <a:r>
              <a:rPr lang="en-US" sz="1100" b="1" dirty="0">
                <a:solidFill>
                  <a:schemeClr val="accent5"/>
                </a:solidFill>
              </a:rPr>
              <a:t>Never sees</a:t>
            </a:r>
            <a:endParaRPr lang="en-US" sz="1100" dirty="0"/>
          </a:p>
          <a:p>
            <a:pPr indent="0" marL="0">
              <a:buNone/>
            </a:pPr>
            <a:r>
              <a:rPr lang="en-US" sz="1250" dirty="0">
                <a:solidFill>
                  <a:schemeClr val="tx1"/>
                </a:solidFill>
              </a:rPr>
              <a:t>The complaint text</a:t>
            </a:r>
            <a:endParaRPr lang="en-US" sz="1100" dirty="0"/>
          </a:p>
        </p:txBody>
      </p:sp>
      <p:sp>
        <p:nvSpPr>
          <p:cNvPr id="16" name="agent-2"/>
          <p:cNvSpPr/>
          <p:nvPr/>
        </p:nvSpPr>
        <p:spPr>
          <a:xfrm>
            <a:off x="5077846" y="1828800"/>
            <a:ext cx="2036003" cy="3017520"/>
          </a:xfrm>
          <a:prstGeom prst="roundRect">
            <a:avLst>
              <a:gd name="adj" fmla="val 5389"/>
            </a:avLst>
          </a:prstGeom>
          <a:solidFill>
            <a:schemeClr val="bg1"/>
          </a:solidFill>
          <a:ln/>
          <a:effectLst>
            <a:outerShdw sx="100000" sy="100000" kx="0" ky="0" algn="bl" rotWithShape="0" blurRad="101600" dist="25400" dir="5400000">
              <a:srgbClr val="000000">
                <a:alpha val="8000"/>
              </a:srgbClr>
            </a:outerShdw>
          </a:effectLst>
        </p:spPr>
      </p:sp>
      <p:sp>
        <p:nvSpPr>
          <p:cNvPr id="17" name="agent-2-disc"/>
          <p:cNvSpPr/>
          <p:nvPr/>
        </p:nvSpPr>
        <p:spPr>
          <a:xfrm>
            <a:off x="5306446" y="2103120"/>
            <a:ext cx="640080" cy="640080"/>
          </a:xfrm>
          <a:prstGeom prst="ellipse">
            <a:avLst/>
          </a:prstGeom>
          <a:solidFill>
            <a:schemeClr val="accent1"/>
          </a:solidFill>
          <a:ln/>
        </p:spPr>
      </p:sp>
      <p:pic>
        <p:nvPicPr>
          <p:cNvPr id="18" name="agent-2-icon" descr="preencoded.png">    </p:cNvPr>
          <p:cNvPicPr>
            <a:picLocks noChangeAspect="1"/>
          </p:cNvPicPr>
          <p:nvPr/>
        </p:nvPicPr>
        <p:blipFill>
          <a:blip r:embed="rId3"/>
          <a:stretch>
            <a:fillRect/>
          </a:stretch>
        </p:blipFill>
        <p:spPr>
          <a:xfrm>
            <a:off x="5443606" y="2240280"/>
            <a:ext cx="365760" cy="365760"/>
          </a:xfrm>
          <a:prstGeom prst="rect">
            <a:avLst/>
          </a:prstGeom>
        </p:spPr>
      </p:pic>
      <p:sp>
        <p:nvSpPr>
          <p:cNvPr id="19" name="agent-2-name"/>
          <p:cNvSpPr txBox="1"/>
          <p:nvPr/>
        </p:nvSpPr>
        <p:spPr>
          <a:xfrm>
            <a:off x="5306446" y="2880360"/>
            <a:ext cx="1578803" cy="566928"/>
          </a:xfrm>
          <a:prstGeom prst="rect">
            <a:avLst/>
          </a:prstGeom>
          <a:noFill/>
          <a:ln/>
        </p:spPr>
        <p:txBody>
          <a:bodyPr wrap="square" lIns="0" tIns="0" rIns="0" bIns="0" rtlCol="0" anchor="t"/>
          <a:lstStyle/>
          <a:p>
            <a:pPr indent="0" marL="0">
              <a:buNone/>
            </a:pPr>
            <a:r>
              <a:rPr lang="en-US" sz="1600" b="1" dirty="0">
                <a:solidFill>
                  <a:schemeClr val="tx1"/>
                </a:solidFill>
              </a:rPr>
              <a:t>Rider's advocate</a:t>
            </a:r>
            <a:endParaRPr lang="en-US" sz="1600" dirty="0"/>
          </a:p>
        </p:txBody>
      </p:sp>
      <p:sp>
        <p:nvSpPr>
          <p:cNvPr id="20" name="agent-2-sees"/>
          <p:cNvSpPr txBox="1"/>
          <p:nvPr/>
        </p:nvSpPr>
        <p:spPr>
          <a:xfrm>
            <a:off x="5306446" y="3474720"/>
            <a:ext cx="1578803" cy="777240"/>
          </a:xfrm>
          <a:prstGeom prst="rect">
            <a:avLst/>
          </a:prstGeom>
          <a:noFill/>
          <a:ln/>
        </p:spPr>
        <p:txBody>
          <a:bodyPr wrap="square" lIns="0" tIns="0" rIns="0" bIns="0" rtlCol="0" anchor="t"/>
          <a:lstStyle/>
          <a:p>
            <a:pPr indent="0" marL="0">
              <a:buNone/>
            </a:pPr>
            <a:r>
              <a:rPr lang="en-US" sz="1100" b="1" dirty="0">
                <a:solidFill>
                  <a:schemeClr val="accent3"/>
                </a:solidFill>
              </a:rPr>
              <a:t>Sees</a:t>
            </a:r>
            <a:endParaRPr lang="en-US" sz="1100" dirty="0"/>
          </a:p>
          <a:p>
            <a:pPr indent="0" marL="0">
              <a:buNone/>
            </a:pPr>
            <a:r>
              <a:rPr lang="en-US" sz="1250" dirty="0">
                <a:solidFill>
                  <a:schemeClr val="tx1"/>
                </a:solidFill>
              </a:rPr>
              <a:t>The case file and both sides' words</a:t>
            </a:r>
            <a:endParaRPr lang="en-US" sz="1100" dirty="0"/>
          </a:p>
        </p:txBody>
      </p:sp>
      <p:sp>
        <p:nvSpPr>
          <p:cNvPr id="21" name="agent-2-never"/>
          <p:cNvSpPr txBox="1"/>
          <p:nvPr/>
        </p:nvSpPr>
        <p:spPr>
          <a:xfrm>
            <a:off x="5306446" y="4251960"/>
            <a:ext cx="1578803" cy="731520"/>
          </a:xfrm>
          <a:prstGeom prst="rect">
            <a:avLst/>
          </a:prstGeom>
          <a:noFill/>
          <a:ln/>
        </p:spPr>
        <p:txBody>
          <a:bodyPr wrap="square" lIns="0" tIns="0" rIns="0" bIns="0" rtlCol="0" anchor="t"/>
          <a:lstStyle/>
          <a:p>
            <a:pPr indent="0" marL="0">
              <a:buNone/>
            </a:pPr>
            <a:r>
              <a:rPr lang="en-US" sz="1100" b="1" dirty="0">
                <a:solidFill>
                  <a:schemeClr val="accent5"/>
                </a:solidFill>
              </a:rPr>
              <a:t>Never sees</a:t>
            </a:r>
            <a:endParaRPr lang="en-US" sz="1100" dirty="0"/>
          </a:p>
          <a:p>
            <a:pPr indent="0" marL="0">
              <a:buNone/>
            </a:pPr>
            <a:r>
              <a:rPr lang="en-US" sz="1250" dirty="0">
                <a:solidFill>
                  <a:schemeClr val="tx1"/>
                </a:solidFill>
              </a:rPr>
              <a:t>The raw database</a:t>
            </a:r>
            <a:endParaRPr lang="en-US" sz="1100" dirty="0"/>
          </a:p>
        </p:txBody>
      </p:sp>
      <p:sp>
        <p:nvSpPr>
          <p:cNvPr id="22" name="agent-3"/>
          <p:cNvSpPr/>
          <p:nvPr/>
        </p:nvSpPr>
        <p:spPr>
          <a:xfrm>
            <a:off x="7342449" y="1828800"/>
            <a:ext cx="2036003" cy="3017520"/>
          </a:xfrm>
          <a:prstGeom prst="roundRect">
            <a:avLst>
              <a:gd name="adj" fmla="val 5389"/>
            </a:avLst>
          </a:prstGeom>
          <a:solidFill>
            <a:schemeClr val="bg1"/>
          </a:solidFill>
          <a:ln/>
          <a:effectLst>
            <a:outerShdw sx="100000" sy="100000" kx="0" ky="0" algn="bl" rotWithShape="0" blurRad="101600" dist="25400" dir="5400000">
              <a:srgbClr val="000000">
                <a:alpha val="8000"/>
              </a:srgbClr>
            </a:outerShdw>
          </a:effectLst>
        </p:spPr>
      </p:sp>
      <p:sp>
        <p:nvSpPr>
          <p:cNvPr id="23" name="agent-3-disc"/>
          <p:cNvSpPr/>
          <p:nvPr/>
        </p:nvSpPr>
        <p:spPr>
          <a:xfrm>
            <a:off x="7571049" y="2103120"/>
            <a:ext cx="640080" cy="640080"/>
          </a:xfrm>
          <a:prstGeom prst="ellipse">
            <a:avLst/>
          </a:prstGeom>
          <a:solidFill>
            <a:schemeClr val="accent2"/>
          </a:solidFill>
          <a:ln/>
        </p:spPr>
      </p:sp>
      <p:pic>
        <p:nvPicPr>
          <p:cNvPr id="24" name="agent-3-icon" descr="preencoded.png">    </p:cNvPr>
          <p:cNvPicPr>
            <a:picLocks noChangeAspect="1"/>
          </p:cNvPicPr>
          <p:nvPr/>
        </p:nvPicPr>
        <p:blipFill>
          <a:blip r:embed="rId4"/>
          <a:stretch>
            <a:fillRect/>
          </a:stretch>
        </p:blipFill>
        <p:spPr>
          <a:xfrm>
            <a:off x="7708209" y="2240280"/>
            <a:ext cx="365760" cy="365760"/>
          </a:xfrm>
          <a:prstGeom prst="rect">
            <a:avLst/>
          </a:prstGeom>
        </p:spPr>
      </p:pic>
      <p:sp>
        <p:nvSpPr>
          <p:cNvPr id="25" name="agent-3-name"/>
          <p:cNvSpPr txBox="1"/>
          <p:nvPr/>
        </p:nvSpPr>
        <p:spPr>
          <a:xfrm>
            <a:off x="7571049" y="2880360"/>
            <a:ext cx="1578803" cy="566928"/>
          </a:xfrm>
          <a:prstGeom prst="rect">
            <a:avLst/>
          </a:prstGeom>
          <a:noFill/>
          <a:ln/>
        </p:spPr>
        <p:txBody>
          <a:bodyPr wrap="square" lIns="0" tIns="0" rIns="0" bIns="0" rtlCol="0" anchor="t"/>
          <a:lstStyle/>
          <a:p>
            <a:pPr indent="0" marL="0">
              <a:buNone/>
            </a:pPr>
            <a:r>
              <a:rPr lang="en-US" sz="1600" b="1" dirty="0">
                <a:solidFill>
                  <a:schemeClr val="tx1"/>
                </a:solidFill>
              </a:rPr>
              <a:t>Driver's advocate</a:t>
            </a:r>
            <a:endParaRPr lang="en-US" sz="1600" dirty="0"/>
          </a:p>
        </p:txBody>
      </p:sp>
      <p:sp>
        <p:nvSpPr>
          <p:cNvPr id="26" name="agent-3-sees"/>
          <p:cNvSpPr txBox="1"/>
          <p:nvPr/>
        </p:nvSpPr>
        <p:spPr>
          <a:xfrm>
            <a:off x="7571049" y="3474720"/>
            <a:ext cx="1578803" cy="777240"/>
          </a:xfrm>
          <a:prstGeom prst="rect">
            <a:avLst/>
          </a:prstGeom>
          <a:noFill/>
          <a:ln/>
        </p:spPr>
        <p:txBody>
          <a:bodyPr wrap="square" lIns="0" tIns="0" rIns="0" bIns="0" rtlCol="0" anchor="t"/>
          <a:lstStyle/>
          <a:p>
            <a:pPr indent="0" marL="0">
              <a:buNone/>
            </a:pPr>
            <a:r>
              <a:rPr lang="en-US" sz="1100" b="1" dirty="0">
                <a:solidFill>
                  <a:schemeClr val="accent3"/>
                </a:solidFill>
              </a:rPr>
              <a:t>Sees</a:t>
            </a:r>
            <a:endParaRPr lang="en-US" sz="1100" dirty="0"/>
          </a:p>
          <a:p>
            <a:pPr indent="0" marL="0">
              <a:buNone/>
            </a:pPr>
            <a:r>
              <a:rPr lang="en-US" sz="1250" dirty="0">
                <a:solidFill>
                  <a:schemeClr val="tx1"/>
                </a:solidFill>
              </a:rPr>
              <a:t>The case file and both sides' words</a:t>
            </a:r>
            <a:endParaRPr lang="en-US" sz="1100" dirty="0"/>
          </a:p>
        </p:txBody>
      </p:sp>
      <p:sp>
        <p:nvSpPr>
          <p:cNvPr id="27" name="agent-3-never"/>
          <p:cNvSpPr txBox="1"/>
          <p:nvPr/>
        </p:nvSpPr>
        <p:spPr>
          <a:xfrm>
            <a:off x="7571049" y="4251960"/>
            <a:ext cx="1578803" cy="731520"/>
          </a:xfrm>
          <a:prstGeom prst="rect">
            <a:avLst/>
          </a:prstGeom>
          <a:noFill/>
          <a:ln/>
        </p:spPr>
        <p:txBody>
          <a:bodyPr wrap="square" lIns="0" tIns="0" rIns="0" bIns="0" rtlCol="0" anchor="t"/>
          <a:lstStyle/>
          <a:p>
            <a:pPr indent="0" marL="0">
              <a:buNone/>
            </a:pPr>
            <a:r>
              <a:rPr lang="en-US" sz="1100" b="1" dirty="0">
                <a:solidFill>
                  <a:schemeClr val="accent5"/>
                </a:solidFill>
              </a:rPr>
              <a:t>Never sees</a:t>
            </a:r>
            <a:endParaRPr lang="en-US" sz="1100" dirty="0"/>
          </a:p>
          <a:p>
            <a:pPr indent="0" marL="0">
              <a:buNone/>
            </a:pPr>
            <a:r>
              <a:rPr lang="en-US" sz="1250" dirty="0">
                <a:solidFill>
                  <a:schemeClr val="tx1"/>
                </a:solidFill>
              </a:rPr>
              <a:t>The raw database</a:t>
            </a:r>
            <a:endParaRPr lang="en-US" sz="1100" dirty="0"/>
          </a:p>
        </p:txBody>
      </p:sp>
      <p:sp>
        <p:nvSpPr>
          <p:cNvPr id="28" name="agent-4"/>
          <p:cNvSpPr/>
          <p:nvPr/>
        </p:nvSpPr>
        <p:spPr>
          <a:xfrm>
            <a:off x="9607052" y="1828800"/>
            <a:ext cx="2036003" cy="3017520"/>
          </a:xfrm>
          <a:prstGeom prst="roundRect">
            <a:avLst>
              <a:gd name="adj" fmla="val 5389"/>
            </a:avLst>
          </a:prstGeom>
          <a:solidFill>
            <a:schemeClr val="bg1"/>
          </a:solidFill>
          <a:ln/>
          <a:effectLst>
            <a:outerShdw sx="100000" sy="100000" kx="0" ky="0" algn="bl" rotWithShape="0" blurRad="101600" dist="25400" dir="5400000">
              <a:srgbClr val="000000">
                <a:alpha val="8000"/>
              </a:srgbClr>
            </a:outerShdw>
          </a:effectLst>
        </p:spPr>
      </p:sp>
      <p:sp>
        <p:nvSpPr>
          <p:cNvPr id="29" name="agent-4-disc"/>
          <p:cNvSpPr/>
          <p:nvPr/>
        </p:nvSpPr>
        <p:spPr>
          <a:xfrm>
            <a:off x="9835652" y="2103120"/>
            <a:ext cx="640080" cy="640080"/>
          </a:xfrm>
          <a:prstGeom prst="ellipse">
            <a:avLst/>
          </a:prstGeom>
          <a:solidFill>
            <a:schemeClr val="tx1"/>
          </a:solidFill>
          <a:ln/>
        </p:spPr>
      </p:sp>
      <p:pic>
        <p:nvPicPr>
          <p:cNvPr id="30" name="agent-4-icon" descr="preencoded.png">    </p:cNvPr>
          <p:cNvPicPr>
            <a:picLocks noChangeAspect="1"/>
          </p:cNvPicPr>
          <p:nvPr/>
        </p:nvPicPr>
        <p:blipFill>
          <a:blip r:embed="rId5"/>
          <a:stretch>
            <a:fillRect/>
          </a:stretch>
        </p:blipFill>
        <p:spPr>
          <a:xfrm>
            <a:off x="9972812" y="2240280"/>
            <a:ext cx="365760" cy="365760"/>
          </a:xfrm>
          <a:prstGeom prst="rect">
            <a:avLst/>
          </a:prstGeom>
        </p:spPr>
      </p:pic>
      <p:sp>
        <p:nvSpPr>
          <p:cNvPr id="31" name="agent-4-name"/>
          <p:cNvSpPr txBox="1"/>
          <p:nvPr/>
        </p:nvSpPr>
        <p:spPr>
          <a:xfrm>
            <a:off x="9835652" y="2880360"/>
            <a:ext cx="1578803" cy="566928"/>
          </a:xfrm>
          <a:prstGeom prst="rect">
            <a:avLst/>
          </a:prstGeom>
          <a:noFill/>
          <a:ln/>
        </p:spPr>
        <p:txBody>
          <a:bodyPr wrap="square" lIns="0" tIns="0" rIns="0" bIns="0" rtlCol="0" anchor="t"/>
          <a:lstStyle/>
          <a:p>
            <a:pPr indent="0" marL="0">
              <a:buNone/>
            </a:pPr>
            <a:r>
              <a:rPr lang="en-US" sz="1600" b="1" dirty="0">
                <a:solidFill>
                  <a:schemeClr val="tx1"/>
                </a:solidFill>
              </a:rPr>
              <a:t>Judge</a:t>
            </a:r>
            <a:endParaRPr lang="en-US" sz="1600" dirty="0"/>
          </a:p>
        </p:txBody>
      </p:sp>
      <p:sp>
        <p:nvSpPr>
          <p:cNvPr id="32" name="agent-4-sees"/>
          <p:cNvSpPr txBox="1"/>
          <p:nvPr/>
        </p:nvSpPr>
        <p:spPr>
          <a:xfrm>
            <a:off x="9835652" y="3474720"/>
            <a:ext cx="1578803" cy="777240"/>
          </a:xfrm>
          <a:prstGeom prst="rect">
            <a:avLst/>
          </a:prstGeom>
          <a:noFill/>
          <a:ln/>
        </p:spPr>
        <p:txBody>
          <a:bodyPr wrap="square" lIns="0" tIns="0" rIns="0" bIns="0" rtlCol="0" anchor="t"/>
          <a:lstStyle/>
          <a:p>
            <a:pPr indent="0" marL="0">
              <a:buNone/>
            </a:pPr>
            <a:r>
              <a:rPr lang="en-US" sz="1100" b="1" dirty="0">
                <a:solidFill>
                  <a:schemeClr val="accent3"/>
                </a:solidFill>
              </a:rPr>
              <a:t>Sees</a:t>
            </a:r>
            <a:endParaRPr lang="en-US" sz="1100" dirty="0"/>
          </a:p>
          <a:p>
            <a:pPr indent="0" marL="0">
              <a:buNone/>
            </a:pPr>
            <a:r>
              <a:rPr lang="en-US" sz="1250" dirty="0">
                <a:solidFill>
                  <a:schemeClr val="tx1"/>
                </a:solidFill>
              </a:rPr>
              <a:t>The case file and both arguments</a:t>
            </a:r>
            <a:endParaRPr lang="en-US" sz="1100" dirty="0"/>
          </a:p>
        </p:txBody>
      </p:sp>
      <p:sp>
        <p:nvSpPr>
          <p:cNvPr id="33" name="agent-4-never"/>
          <p:cNvSpPr txBox="1"/>
          <p:nvPr/>
        </p:nvSpPr>
        <p:spPr>
          <a:xfrm>
            <a:off x="9835652" y="4251960"/>
            <a:ext cx="1578803" cy="731520"/>
          </a:xfrm>
          <a:prstGeom prst="rect">
            <a:avLst/>
          </a:prstGeom>
          <a:noFill/>
          <a:ln/>
        </p:spPr>
        <p:txBody>
          <a:bodyPr wrap="square" lIns="0" tIns="0" rIns="0" bIns="0" rtlCol="0" anchor="t"/>
          <a:lstStyle/>
          <a:p>
            <a:pPr indent="0" marL="0">
              <a:buNone/>
            </a:pPr>
            <a:r>
              <a:rPr lang="en-US" sz="1100" b="1" dirty="0">
                <a:solidFill>
                  <a:schemeClr val="accent5"/>
                </a:solidFill>
              </a:rPr>
              <a:t>Never sees</a:t>
            </a:r>
            <a:endParaRPr lang="en-US" sz="1100" dirty="0"/>
          </a:p>
          <a:p>
            <a:pPr indent="0" marL="0">
              <a:buNone/>
            </a:pPr>
            <a:r>
              <a:rPr lang="en-US" sz="1250" dirty="0">
                <a:solidFill>
                  <a:schemeClr val="tx1"/>
                </a:solidFill>
              </a:rPr>
              <a:t>The complaint text, the raw database</a:t>
            </a:r>
            <a:endParaRPr lang="en-US" sz="1100" dirty="0"/>
          </a:p>
        </p:txBody>
      </p:sp>
      <p:pic>
        <p:nvPicPr>
          <p:cNvPr id="34" name="vision-icon" descr="preencoded.png">    </p:cNvPr>
          <p:cNvPicPr>
            <a:picLocks noChangeAspect="1"/>
          </p:cNvPicPr>
          <p:nvPr/>
        </p:nvPicPr>
        <p:blipFill>
          <a:blip r:embed="rId6"/>
          <a:stretch>
            <a:fillRect/>
          </a:stretch>
        </p:blipFill>
        <p:spPr>
          <a:xfrm>
            <a:off x="548640" y="5239512"/>
            <a:ext cx="310896" cy="310896"/>
          </a:xfrm>
          <a:prstGeom prst="rect">
            <a:avLst/>
          </a:prstGeom>
        </p:spPr>
      </p:pic>
      <p:sp>
        <p:nvSpPr>
          <p:cNvPr id="35" name="vision-text"/>
          <p:cNvSpPr txBox="1"/>
          <p:nvPr/>
        </p:nvSpPr>
        <p:spPr>
          <a:xfrm>
            <a:off x="1005840" y="5212080"/>
            <a:ext cx="10637215" cy="365760"/>
          </a:xfrm>
          <a:prstGeom prst="rect">
            <a:avLst/>
          </a:prstGeom>
          <a:noFill/>
          <a:ln/>
        </p:spPr>
        <p:txBody>
          <a:bodyPr wrap="square" lIns="0" tIns="0" rIns="0" bIns="0" rtlCol="0" anchor="ctr"/>
          <a:lstStyle/>
          <a:p>
            <a:pPr indent="0" marL="0">
              <a:buNone/>
            </a:pPr>
            <a:r>
              <a:rPr lang="en-US" sz="1400" b="1" dirty="0">
                <a:solidFill>
                  <a:schemeClr val="tx1"/>
                </a:solidFill>
              </a:rPr>
              <a:t>Photos: </a:t>
            </a:r>
            <a:pPr indent="0" marL="0">
              <a:buNone/>
            </a:pPr>
            <a:r>
              <a:rPr lang="en-US" sz="1400" dirty="0">
                <a:solidFill>
                  <a:schemeClr val="tx1"/>
                </a:solidFill>
              </a:rPr>
              <a:t>a vision model says what it sees; code picks the fee ($40 / $120 / $200).</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Every finding cites evidence</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A claim that points at nothing in the case file is struck before anyone acts on it.</a:t>
            </a:r>
            <a:endParaRPr lang="en-US" sz="1500" dirty="0"/>
          </a:p>
        </p:txBody>
      </p:sp>
      <p:sp>
        <p:nvSpPr>
          <p:cNvPr id="4" name="step-0"/>
          <p:cNvSpPr/>
          <p:nvPr/>
        </p:nvSpPr>
        <p:spPr>
          <a:xfrm>
            <a:off x="548640" y="1965960"/>
            <a:ext cx="1911645" cy="1600200"/>
          </a:xfrm>
          <a:prstGeom prst="roundRect">
            <a:avLst>
              <a:gd name="adj" fmla="val 6857"/>
            </a:avLst>
          </a:prstGeom>
          <a:solidFill>
            <a:schemeClr val="bg1"/>
          </a:solidFill>
          <a:ln/>
          <a:effectLst>
            <a:outerShdw sx="100000" sy="100000" kx="0" ky="0" algn="bl" rotWithShape="0" blurRad="101600" dist="25400" dir="5400000">
              <a:srgbClr val="000000">
                <a:alpha val="8000"/>
              </a:srgbClr>
            </a:outerShdw>
          </a:effectLst>
        </p:spPr>
      </p:sp>
      <p:pic>
        <p:nvPicPr>
          <p:cNvPr id="5" name="step-0-icon" descr="preencoded.png">    </p:cNvPr>
          <p:cNvPicPr>
            <a:picLocks noChangeAspect="1"/>
          </p:cNvPicPr>
          <p:nvPr/>
        </p:nvPicPr>
        <p:blipFill>
          <a:blip r:embed="rId1"/>
          <a:stretch>
            <a:fillRect/>
          </a:stretch>
        </p:blipFill>
        <p:spPr>
          <a:xfrm>
            <a:off x="676656" y="2093976"/>
            <a:ext cx="292608" cy="292608"/>
          </a:xfrm>
          <a:prstGeom prst="rect">
            <a:avLst/>
          </a:prstGeom>
        </p:spPr>
      </p:pic>
      <p:sp>
        <p:nvSpPr>
          <p:cNvPr id="6" name="step-0-title"/>
          <p:cNvSpPr txBox="1"/>
          <p:nvPr/>
        </p:nvSpPr>
        <p:spPr>
          <a:xfrm>
            <a:off x="1060704" y="2066544"/>
            <a:ext cx="1271565" cy="347472"/>
          </a:xfrm>
          <a:prstGeom prst="rect">
            <a:avLst/>
          </a:prstGeom>
          <a:noFill/>
          <a:ln/>
        </p:spPr>
        <p:txBody>
          <a:bodyPr wrap="square" lIns="0" tIns="0" rIns="0" bIns="0" rtlCol="0" anchor="ctr"/>
          <a:lstStyle/>
          <a:p>
            <a:pPr indent="0" marL="0">
              <a:buNone/>
            </a:pPr>
            <a:r>
              <a:rPr lang="en-US" sz="1400" b="1" dirty="0">
                <a:solidFill>
                  <a:schemeClr val="tx1"/>
                </a:solidFill>
              </a:rPr>
              <a:t>Trip records</a:t>
            </a:r>
            <a:endParaRPr lang="en-US" sz="1400" dirty="0"/>
          </a:p>
        </p:txBody>
      </p:sp>
      <p:sp>
        <p:nvSpPr>
          <p:cNvPr id="7" name="step-0-body"/>
          <p:cNvSpPr txBox="1"/>
          <p:nvPr/>
        </p:nvSpPr>
        <p:spPr>
          <a:xfrm>
            <a:off x="676656" y="2468880"/>
            <a:ext cx="1655613" cy="960120"/>
          </a:xfrm>
          <a:prstGeom prst="rect">
            <a:avLst/>
          </a:prstGeom>
          <a:noFill/>
          <a:ln/>
        </p:spPr>
        <p:txBody>
          <a:bodyPr wrap="square" lIns="0" tIns="0" rIns="0" bIns="0" rtlCol="0" anchor="t"/>
          <a:lstStyle/>
          <a:p>
            <a:pPr indent="0" marL="0">
              <a:buNone/>
            </a:pPr>
            <a:r>
              <a:rPr lang="en-US" sz="1200" dirty="0">
                <a:solidFill>
                  <a:schemeClr val="tx2"/>
                </a:solidFill>
              </a:rPr>
              <a:t>GPS, routes, fare, messages, photos</a:t>
            </a:r>
            <a:endParaRPr lang="en-US" sz="1200" dirty="0"/>
          </a:p>
        </p:txBody>
      </p:sp>
      <p:sp>
        <p:nvSpPr>
          <p:cNvPr id="8" name="arrow-76"/>
          <p:cNvSpPr/>
          <p:nvPr/>
        </p:nvSpPr>
        <p:spPr>
          <a:xfrm>
            <a:off x="2460285" y="2766060"/>
            <a:ext cx="384048" cy="0"/>
          </a:xfrm>
          <a:prstGeom prst="line">
            <a:avLst/>
          </a:prstGeom>
          <a:noFill/>
          <a:ln w="19050">
            <a:solidFill>
              <a:schemeClr val="tx2"/>
            </a:solidFill>
            <a:prstDash val="solid"/>
            <a:tailEnd type="triangle"/>
          </a:ln>
        </p:spPr>
      </p:sp>
      <p:sp>
        <p:nvSpPr>
          <p:cNvPr id="9" name="step-1"/>
          <p:cNvSpPr/>
          <p:nvPr/>
        </p:nvSpPr>
        <p:spPr>
          <a:xfrm>
            <a:off x="2844333" y="1965960"/>
            <a:ext cx="1911645" cy="1600200"/>
          </a:xfrm>
          <a:prstGeom prst="roundRect">
            <a:avLst>
              <a:gd name="adj" fmla="val 6857"/>
            </a:avLst>
          </a:prstGeom>
          <a:solidFill>
            <a:schemeClr val="bg1"/>
          </a:solidFill>
          <a:ln/>
          <a:effectLst>
            <a:outerShdw sx="100000" sy="100000" kx="0" ky="0" algn="bl" rotWithShape="0" blurRad="101600" dist="25400" dir="5400000">
              <a:srgbClr val="000000">
                <a:alpha val="8000"/>
              </a:srgbClr>
            </a:outerShdw>
          </a:effectLst>
        </p:spPr>
      </p:sp>
      <p:pic>
        <p:nvPicPr>
          <p:cNvPr id="10" name="step-1-icon" descr="preencoded.png">    </p:cNvPr>
          <p:cNvPicPr>
            <a:picLocks noChangeAspect="1"/>
          </p:cNvPicPr>
          <p:nvPr/>
        </p:nvPicPr>
        <p:blipFill>
          <a:blip r:embed="rId2"/>
          <a:stretch>
            <a:fillRect/>
          </a:stretch>
        </p:blipFill>
        <p:spPr>
          <a:xfrm>
            <a:off x="2972349" y="2093976"/>
            <a:ext cx="292608" cy="292608"/>
          </a:xfrm>
          <a:prstGeom prst="rect">
            <a:avLst/>
          </a:prstGeom>
        </p:spPr>
      </p:pic>
      <p:sp>
        <p:nvSpPr>
          <p:cNvPr id="11" name="step-1-title"/>
          <p:cNvSpPr txBox="1"/>
          <p:nvPr/>
        </p:nvSpPr>
        <p:spPr>
          <a:xfrm>
            <a:off x="3356397" y="2066544"/>
            <a:ext cx="1271565" cy="347472"/>
          </a:xfrm>
          <a:prstGeom prst="rect">
            <a:avLst/>
          </a:prstGeom>
          <a:noFill/>
          <a:ln/>
        </p:spPr>
        <p:txBody>
          <a:bodyPr wrap="square" lIns="0" tIns="0" rIns="0" bIns="0" rtlCol="0" anchor="ctr"/>
          <a:lstStyle/>
          <a:p>
            <a:pPr indent="0" marL="0">
              <a:buNone/>
            </a:pPr>
            <a:r>
              <a:rPr lang="en-US" sz="1400" b="1" dirty="0">
                <a:solidFill>
                  <a:schemeClr val="tx1"/>
                </a:solidFill>
              </a:rPr>
              <a:t>Case file</a:t>
            </a:r>
            <a:endParaRPr lang="en-US" sz="1400" dirty="0"/>
          </a:p>
        </p:txBody>
      </p:sp>
      <p:sp>
        <p:nvSpPr>
          <p:cNvPr id="12" name="step-1-body"/>
          <p:cNvSpPr txBox="1"/>
          <p:nvPr/>
        </p:nvSpPr>
        <p:spPr>
          <a:xfrm>
            <a:off x="2972349" y="2468880"/>
            <a:ext cx="1655613" cy="960120"/>
          </a:xfrm>
          <a:prstGeom prst="rect">
            <a:avLst/>
          </a:prstGeom>
          <a:noFill/>
          <a:ln/>
        </p:spPr>
        <p:txBody>
          <a:bodyPr wrap="square" lIns="0" tIns="0" rIns="0" bIns="0" rtlCol="0" anchor="t"/>
          <a:lstStyle/>
          <a:p>
            <a:pPr indent="0" marL="0">
              <a:buNone/>
            </a:pPr>
            <a:r>
              <a:rPr lang="en-US" sz="1200" dirty="0">
                <a:solidFill>
                  <a:schemeClr val="tx2"/>
                </a:solidFill>
              </a:rPr>
              <a:t>Every item gets an ID, like MSG-0132</a:t>
            </a:r>
            <a:endParaRPr lang="en-US" sz="1200" dirty="0"/>
          </a:p>
        </p:txBody>
      </p:sp>
      <p:sp>
        <p:nvSpPr>
          <p:cNvPr id="13" name="arrow-77"/>
          <p:cNvSpPr/>
          <p:nvPr/>
        </p:nvSpPr>
        <p:spPr>
          <a:xfrm>
            <a:off x="4755977" y="2766060"/>
            <a:ext cx="384048" cy="0"/>
          </a:xfrm>
          <a:prstGeom prst="line">
            <a:avLst/>
          </a:prstGeom>
          <a:noFill/>
          <a:ln w="19050">
            <a:solidFill>
              <a:schemeClr val="tx2"/>
            </a:solidFill>
            <a:prstDash val="solid"/>
            <a:tailEnd type="triangle"/>
          </a:ln>
        </p:spPr>
      </p:sp>
      <p:sp>
        <p:nvSpPr>
          <p:cNvPr id="14" name="node-78"/>
          <p:cNvSpPr/>
          <p:nvPr/>
        </p:nvSpPr>
        <p:spPr>
          <a:xfrm>
            <a:off x="5140025" y="1965960"/>
            <a:ext cx="1911645" cy="1600200"/>
          </a:xfrm>
          <a:prstGeom prst="roundRect">
            <a:avLst>
              <a:gd name="adj" fmla="val 5714"/>
            </a:avLst>
          </a:prstGeom>
          <a:solidFill>
            <a:schemeClr val="tx1"/>
          </a:solidFill>
          <a:ln/>
        </p:spPr>
      </p:sp>
      <p:pic>
        <p:nvPicPr>
          <p:cNvPr id="15" name="icon-79" descr="preencoded.png">    </p:cNvPr>
          <p:cNvPicPr>
            <a:picLocks noChangeAspect="1"/>
          </p:cNvPicPr>
          <p:nvPr/>
        </p:nvPicPr>
        <p:blipFill>
          <a:blip r:embed="rId3"/>
          <a:stretch>
            <a:fillRect/>
          </a:stretch>
        </p:blipFill>
        <p:spPr>
          <a:xfrm>
            <a:off x="5268041" y="2093976"/>
            <a:ext cx="292608" cy="292608"/>
          </a:xfrm>
          <a:prstGeom prst="rect">
            <a:avLst/>
          </a:prstGeom>
        </p:spPr>
      </p:pic>
      <p:sp>
        <p:nvSpPr>
          <p:cNvPr id="16" name="node-title-80"/>
          <p:cNvSpPr txBox="1"/>
          <p:nvPr/>
        </p:nvSpPr>
        <p:spPr>
          <a:xfrm>
            <a:off x="5652089" y="2066544"/>
            <a:ext cx="1271565" cy="347472"/>
          </a:xfrm>
          <a:prstGeom prst="rect">
            <a:avLst/>
          </a:prstGeom>
          <a:noFill/>
          <a:ln/>
        </p:spPr>
        <p:txBody>
          <a:bodyPr wrap="square" lIns="0" tIns="0" rIns="0" bIns="0" rtlCol="0" anchor="ctr"/>
          <a:lstStyle/>
          <a:p>
            <a:pPr indent="0" marL="0">
              <a:buNone/>
            </a:pPr>
            <a:r>
              <a:rPr lang="en-US" sz="1400" b="1" dirty="0">
                <a:solidFill>
                  <a:schemeClr val="bg1"/>
                </a:solidFill>
              </a:rPr>
              <a:t>Arguments</a:t>
            </a:r>
            <a:endParaRPr lang="en-US" sz="1400" dirty="0"/>
          </a:p>
        </p:txBody>
      </p:sp>
      <p:sp>
        <p:nvSpPr>
          <p:cNvPr id="17" name="node-sub-81"/>
          <p:cNvSpPr txBox="1"/>
          <p:nvPr/>
        </p:nvSpPr>
        <p:spPr>
          <a:xfrm>
            <a:off x="5268041" y="2459736"/>
            <a:ext cx="1655613" cy="1069848"/>
          </a:xfrm>
          <a:prstGeom prst="rect">
            <a:avLst/>
          </a:prstGeom>
          <a:noFill/>
          <a:ln/>
        </p:spPr>
        <p:txBody>
          <a:bodyPr wrap="square" lIns="0" tIns="0" rIns="0" bIns="0" rtlCol="0" anchor="t"/>
          <a:lstStyle/>
          <a:p>
            <a:pPr indent="0" marL="0">
              <a:buNone/>
            </a:pPr>
            <a:r>
              <a:rPr lang="en-US" sz="1100" dirty="0">
                <a:solidFill>
                  <a:schemeClr val="bg2"/>
                </a:solidFill>
              </a:rPr>
              <a:t>Every claim names the IDs it rests on</a:t>
            </a:r>
            <a:endParaRPr lang="en-US" sz="1100" dirty="0"/>
          </a:p>
        </p:txBody>
      </p:sp>
      <p:sp>
        <p:nvSpPr>
          <p:cNvPr id="18" name="arrow-82"/>
          <p:cNvSpPr/>
          <p:nvPr/>
        </p:nvSpPr>
        <p:spPr>
          <a:xfrm>
            <a:off x="7051670" y="2766060"/>
            <a:ext cx="384048" cy="0"/>
          </a:xfrm>
          <a:prstGeom prst="line">
            <a:avLst/>
          </a:prstGeom>
          <a:noFill/>
          <a:ln w="19050">
            <a:solidFill>
              <a:schemeClr val="tx2"/>
            </a:solidFill>
            <a:prstDash val="solid"/>
            <a:tailEnd type="triangle"/>
          </a:ln>
        </p:spPr>
      </p:sp>
      <p:sp>
        <p:nvSpPr>
          <p:cNvPr id="19" name="node-83"/>
          <p:cNvSpPr/>
          <p:nvPr/>
        </p:nvSpPr>
        <p:spPr>
          <a:xfrm>
            <a:off x="7435718" y="1965960"/>
            <a:ext cx="1911645" cy="1600200"/>
          </a:xfrm>
          <a:prstGeom prst="roundRect">
            <a:avLst>
              <a:gd name="adj" fmla="val 5714"/>
            </a:avLst>
          </a:prstGeom>
          <a:solidFill>
            <a:schemeClr val="bg1"/>
          </a:solidFill>
          <a:ln w="15875">
            <a:solidFill>
              <a:schemeClr val="tx2"/>
            </a:solidFill>
            <a:prstDash val="dash"/>
          </a:ln>
        </p:spPr>
      </p:sp>
      <p:pic>
        <p:nvPicPr>
          <p:cNvPr id="20" name="icon-84" descr="preencoded.png">    </p:cNvPr>
          <p:cNvPicPr>
            <a:picLocks noChangeAspect="1"/>
          </p:cNvPicPr>
          <p:nvPr/>
        </p:nvPicPr>
        <p:blipFill>
          <a:blip r:embed="rId4"/>
          <a:stretch>
            <a:fillRect/>
          </a:stretch>
        </p:blipFill>
        <p:spPr>
          <a:xfrm>
            <a:off x="7563734" y="2093976"/>
            <a:ext cx="292608" cy="292608"/>
          </a:xfrm>
          <a:prstGeom prst="rect">
            <a:avLst/>
          </a:prstGeom>
        </p:spPr>
      </p:pic>
      <p:sp>
        <p:nvSpPr>
          <p:cNvPr id="21" name="node-title-85"/>
          <p:cNvSpPr txBox="1"/>
          <p:nvPr/>
        </p:nvSpPr>
        <p:spPr>
          <a:xfrm>
            <a:off x="7947782" y="2066544"/>
            <a:ext cx="1271565" cy="347472"/>
          </a:xfrm>
          <a:prstGeom prst="rect">
            <a:avLst/>
          </a:prstGeom>
          <a:noFill/>
          <a:ln/>
        </p:spPr>
        <p:txBody>
          <a:bodyPr wrap="square" lIns="0" tIns="0" rIns="0" bIns="0" rtlCol="0" anchor="ctr"/>
          <a:lstStyle/>
          <a:p>
            <a:pPr indent="0" marL="0">
              <a:buNone/>
            </a:pPr>
            <a:r>
              <a:rPr lang="en-US" sz="1400" b="1" dirty="0">
                <a:solidFill>
                  <a:schemeClr val="tx1"/>
                </a:solidFill>
              </a:rPr>
              <a:t>Citation check</a:t>
            </a:r>
            <a:endParaRPr lang="en-US" sz="1400" dirty="0"/>
          </a:p>
        </p:txBody>
      </p:sp>
      <p:sp>
        <p:nvSpPr>
          <p:cNvPr id="22" name="node-sub-86"/>
          <p:cNvSpPr txBox="1"/>
          <p:nvPr/>
        </p:nvSpPr>
        <p:spPr>
          <a:xfrm>
            <a:off x="7563734" y="2459736"/>
            <a:ext cx="1655613" cy="1069848"/>
          </a:xfrm>
          <a:prstGeom prst="rect">
            <a:avLst/>
          </a:prstGeom>
          <a:noFill/>
          <a:ln/>
        </p:spPr>
        <p:txBody>
          <a:bodyPr wrap="square" lIns="0" tIns="0" rIns="0" bIns="0" rtlCol="0" anchor="t"/>
          <a:lstStyle/>
          <a:p>
            <a:pPr indent="0" marL="0">
              <a:buNone/>
            </a:pPr>
            <a:r>
              <a:rPr lang="en-US" sz="1100" dirty="0">
                <a:solidFill>
                  <a:schemeClr val="tx2"/>
                </a:solidFill>
              </a:rPr>
              <a:t>An unknown ID: claim struck, case flagged</a:t>
            </a:r>
            <a:endParaRPr lang="en-US" sz="1100" dirty="0"/>
          </a:p>
        </p:txBody>
      </p:sp>
      <p:sp>
        <p:nvSpPr>
          <p:cNvPr id="23" name="arrow-87"/>
          <p:cNvSpPr/>
          <p:nvPr/>
        </p:nvSpPr>
        <p:spPr>
          <a:xfrm>
            <a:off x="9347363" y="2766060"/>
            <a:ext cx="384048" cy="0"/>
          </a:xfrm>
          <a:prstGeom prst="line">
            <a:avLst/>
          </a:prstGeom>
          <a:noFill/>
          <a:ln w="19050">
            <a:solidFill>
              <a:schemeClr val="tx2"/>
            </a:solidFill>
            <a:prstDash val="solid"/>
            <a:tailEnd type="triangle"/>
          </a:ln>
        </p:spPr>
      </p:sp>
      <p:sp>
        <p:nvSpPr>
          <p:cNvPr id="24" name="step-4"/>
          <p:cNvSpPr/>
          <p:nvPr/>
        </p:nvSpPr>
        <p:spPr>
          <a:xfrm>
            <a:off x="9731411" y="1965960"/>
            <a:ext cx="1911645" cy="1600200"/>
          </a:xfrm>
          <a:prstGeom prst="roundRect">
            <a:avLst>
              <a:gd name="adj" fmla="val 6857"/>
            </a:avLst>
          </a:prstGeom>
          <a:solidFill>
            <a:schemeClr val="bg1"/>
          </a:solidFill>
          <a:ln/>
          <a:effectLst>
            <a:outerShdw sx="100000" sy="100000" kx="0" ky="0" algn="bl" rotWithShape="0" blurRad="101600" dist="25400" dir="5400000">
              <a:srgbClr val="000000">
                <a:alpha val="8000"/>
              </a:srgbClr>
            </a:outerShdw>
          </a:effectLst>
        </p:spPr>
      </p:sp>
      <p:pic>
        <p:nvPicPr>
          <p:cNvPr id="25" name="step-4-icon" descr="preencoded.png">    </p:cNvPr>
          <p:cNvPicPr>
            <a:picLocks noChangeAspect="1"/>
          </p:cNvPicPr>
          <p:nvPr/>
        </p:nvPicPr>
        <p:blipFill>
          <a:blip r:embed="rId5"/>
          <a:stretch>
            <a:fillRect/>
          </a:stretch>
        </p:blipFill>
        <p:spPr>
          <a:xfrm>
            <a:off x="9859427" y="2093976"/>
            <a:ext cx="292608" cy="292608"/>
          </a:xfrm>
          <a:prstGeom prst="rect">
            <a:avLst/>
          </a:prstGeom>
        </p:spPr>
      </p:pic>
      <p:sp>
        <p:nvSpPr>
          <p:cNvPr id="26" name="step-4-title"/>
          <p:cNvSpPr txBox="1"/>
          <p:nvPr/>
        </p:nvSpPr>
        <p:spPr>
          <a:xfrm>
            <a:off x="10243475" y="2066544"/>
            <a:ext cx="1271565" cy="347472"/>
          </a:xfrm>
          <a:prstGeom prst="rect">
            <a:avLst/>
          </a:prstGeom>
          <a:noFill/>
          <a:ln/>
        </p:spPr>
        <p:txBody>
          <a:bodyPr wrap="square" lIns="0" tIns="0" rIns="0" bIns="0" rtlCol="0" anchor="ctr"/>
          <a:lstStyle/>
          <a:p>
            <a:pPr indent="0" marL="0">
              <a:buNone/>
            </a:pPr>
            <a:r>
              <a:rPr lang="en-US" sz="1400" b="1" dirty="0">
                <a:solidFill>
                  <a:schemeClr val="tx1"/>
                </a:solidFill>
              </a:rPr>
              <a:t>On screen</a:t>
            </a:r>
            <a:endParaRPr lang="en-US" sz="1400" dirty="0"/>
          </a:p>
        </p:txBody>
      </p:sp>
      <p:sp>
        <p:nvSpPr>
          <p:cNvPr id="27" name="step-4-body"/>
          <p:cNvSpPr txBox="1"/>
          <p:nvPr/>
        </p:nvSpPr>
        <p:spPr>
          <a:xfrm>
            <a:off x="9859427" y="2468880"/>
            <a:ext cx="1655613" cy="960120"/>
          </a:xfrm>
          <a:prstGeom prst="rect">
            <a:avLst/>
          </a:prstGeom>
          <a:noFill/>
          <a:ln/>
        </p:spPr>
        <p:txBody>
          <a:bodyPr wrap="square" lIns="0" tIns="0" rIns="0" bIns="0" rtlCol="0" anchor="t"/>
          <a:lstStyle/>
          <a:p>
            <a:pPr indent="0" marL="0">
              <a:buNone/>
            </a:pPr>
            <a:r>
              <a:rPr lang="en-US" sz="1200" dirty="0">
                <a:solidFill>
                  <a:schemeClr val="tx2"/>
                </a:solidFill>
              </a:rPr>
              <a:t>Click any citation to open the evidence</a:t>
            </a:r>
            <a:endParaRPr lang="en-US" sz="1200" dirty="0"/>
          </a:p>
        </p:txBody>
      </p:sp>
      <p:sp>
        <p:nvSpPr>
          <p:cNvPr id="28" name="computed-card"/>
          <p:cNvSpPr/>
          <p:nvPr/>
        </p:nvSpPr>
        <p:spPr>
          <a:xfrm>
            <a:off x="548640" y="4114800"/>
            <a:ext cx="11094415" cy="1005840"/>
          </a:xfrm>
          <a:prstGeom prst="roundRect">
            <a:avLst>
              <a:gd name="adj" fmla="val 10909"/>
            </a:avLst>
          </a:prstGeom>
          <a:solidFill>
            <a:schemeClr val="bg1"/>
          </a:solidFill>
          <a:ln/>
          <a:effectLst>
            <a:outerShdw sx="100000" sy="100000" kx="0" ky="0" algn="bl" rotWithShape="0" blurRad="101600" dist="25400" dir="5400000">
              <a:srgbClr val="000000">
                <a:alpha val="8000"/>
              </a:srgbClr>
            </a:outerShdw>
          </a:effectLst>
        </p:spPr>
      </p:sp>
      <p:pic>
        <p:nvPicPr>
          <p:cNvPr id="29" name="computed-icon" descr="preencoded.png">    </p:cNvPr>
          <p:cNvPicPr>
            <a:picLocks noChangeAspect="1"/>
          </p:cNvPicPr>
          <p:nvPr/>
        </p:nvPicPr>
        <p:blipFill>
          <a:blip r:embed="rId6"/>
          <a:stretch>
            <a:fillRect/>
          </a:stretch>
        </p:blipFill>
        <p:spPr>
          <a:xfrm>
            <a:off x="822960" y="4416552"/>
            <a:ext cx="402336" cy="402336"/>
          </a:xfrm>
          <a:prstGeom prst="rect">
            <a:avLst/>
          </a:prstGeom>
        </p:spPr>
      </p:pic>
      <p:sp>
        <p:nvSpPr>
          <p:cNvPr id="30" name="computed-text"/>
          <p:cNvSpPr txBox="1"/>
          <p:nvPr/>
        </p:nvSpPr>
        <p:spPr>
          <a:xfrm>
            <a:off x="1463040" y="4178808"/>
            <a:ext cx="9905695" cy="877824"/>
          </a:xfrm>
          <a:prstGeom prst="rect">
            <a:avLst/>
          </a:prstGeom>
          <a:noFill/>
          <a:ln/>
        </p:spPr>
        <p:txBody>
          <a:bodyPr wrap="square" lIns="0" tIns="0" rIns="0" bIns="0" rtlCol="0" anchor="ctr"/>
          <a:lstStyle/>
          <a:p>
            <a:pPr indent="0" marL="0">
              <a:buNone/>
            </a:pPr>
            <a:r>
              <a:rPr lang="en-US" sz="1500" b="1" dirty="0">
                <a:solidFill>
                  <a:schemeClr val="tx1"/>
                </a:solidFill>
              </a:rPr>
              <a:t>Computed in code, never by a model</a:t>
            </a:r>
            <a:endParaRPr lang="en-US" sz="1500" dirty="0"/>
          </a:p>
          <a:p>
            <a:pPr indent="0" marL="0">
              <a:buNone/>
            </a:pPr>
            <a:r>
              <a:rPr lang="en-US" sz="1300" dirty="0">
                <a:solidFill>
                  <a:schemeClr val="tx2"/>
                </a:solidFill>
              </a:rPr>
              <a:t>How much longer the route was, how close the driver got to the pickup, whether traffic was on the route, and every amount.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When a person decides</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These checks run on every case, whatever the Judge says. Any one sends it to a person.</a:t>
            </a:r>
            <a:endParaRPr lang="en-US" sz="1500" dirty="0"/>
          </a:p>
        </p:txBody>
      </p:sp>
      <p:sp>
        <p:nvSpPr>
          <p:cNvPr id="4" name="trigger-0"/>
          <p:cNvSpPr/>
          <p:nvPr/>
        </p:nvSpPr>
        <p:spPr>
          <a:xfrm>
            <a:off x="548640" y="1783080"/>
            <a:ext cx="4206240" cy="713232"/>
          </a:xfrm>
          <a:prstGeom prst="roundRect">
            <a:avLst>
              <a:gd name="adj" fmla="val 15385"/>
            </a:avLst>
          </a:prstGeom>
          <a:solidFill>
            <a:schemeClr val="bg1"/>
          </a:solidFill>
          <a:ln/>
          <a:effectLst>
            <a:outerShdw sx="100000" sy="100000" kx="0" ky="0" algn="bl" rotWithShape="0" blurRad="101600" dist="25400" dir="5400000">
              <a:srgbClr val="000000">
                <a:alpha val="8000"/>
              </a:srgbClr>
            </a:outerShdw>
          </a:effectLst>
        </p:spPr>
      </p:sp>
      <p:pic>
        <p:nvPicPr>
          <p:cNvPr id="5" name="trigger-0-icon" descr="preencoded.png">    </p:cNvPr>
          <p:cNvPicPr>
            <a:picLocks noChangeAspect="1"/>
          </p:cNvPicPr>
          <p:nvPr/>
        </p:nvPicPr>
        <p:blipFill>
          <a:blip r:embed="rId1"/>
          <a:stretch>
            <a:fillRect/>
          </a:stretch>
        </p:blipFill>
        <p:spPr>
          <a:xfrm>
            <a:off x="731520" y="1965960"/>
            <a:ext cx="347472" cy="347472"/>
          </a:xfrm>
          <a:prstGeom prst="rect">
            <a:avLst/>
          </a:prstGeom>
        </p:spPr>
      </p:pic>
      <p:sp>
        <p:nvSpPr>
          <p:cNvPr id="6" name="trigger-0-text"/>
          <p:cNvSpPr txBox="1"/>
          <p:nvPr/>
        </p:nvSpPr>
        <p:spPr>
          <a:xfrm>
            <a:off x="1234440" y="1837944"/>
            <a:ext cx="3337560" cy="603504"/>
          </a:xfrm>
          <a:prstGeom prst="rect">
            <a:avLst/>
          </a:prstGeom>
          <a:noFill/>
          <a:ln/>
        </p:spPr>
        <p:txBody>
          <a:bodyPr wrap="square" lIns="0" tIns="0" rIns="0" bIns="0" rtlCol="0" anchor="ctr"/>
          <a:lstStyle/>
          <a:p>
            <a:pPr indent="0" marL="0">
              <a:buNone/>
            </a:pPr>
            <a:r>
              <a:rPr lang="en-US" sz="1400" b="1" dirty="0">
                <a:solidFill>
                  <a:schemeClr val="tx1"/>
                </a:solidFill>
              </a:rPr>
              <a:t>Safety report</a:t>
            </a:r>
            <a:endParaRPr lang="en-US" sz="1400" dirty="0"/>
          </a:p>
          <a:p>
            <a:pPr indent="0" marL="0">
              <a:buNone/>
            </a:pPr>
            <a:r>
              <a:rPr lang="en-US" sz="1200" dirty="0">
                <a:solidFill>
                  <a:schemeClr val="tx2"/>
                </a:solidFill>
              </a:rPr>
              <a:t>No agent hears it at all</a:t>
            </a:r>
            <a:endParaRPr lang="en-US" sz="1400" dirty="0"/>
          </a:p>
        </p:txBody>
      </p:sp>
      <p:sp>
        <p:nvSpPr>
          <p:cNvPr id="7" name="arrow-88"/>
          <p:cNvSpPr/>
          <p:nvPr/>
        </p:nvSpPr>
        <p:spPr>
          <a:xfrm>
            <a:off x="4754880" y="2139696"/>
            <a:ext cx="502920" cy="0"/>
          </a:xfrm>
          <a:prstGeom prst="line">
            <a:avLst/>
          </a:prstGeom>
          <a:noFill/>
          <a:ln w="19050">
            <a:solidFill>
              <a:schemeClr val="tx2"/>
            </a:solidFill>
            <a:prstDash val="solid"/>
            <a:tailEnd type="none"/>
          </a:ln>
        </p:spPr>
      </p:sp>
      <p:sp>
        <p:nvSpPr>
          <p:cNvPr id="8" name="trigger-1"/>
          <p:cNvSpPr/>
          <p:nvPr/>
        </p:nvSpPr>
        <p:spPr>
          <a:xfrm>
            <a:off x="548640" y="2624328"/>
            <a:ext cx="4206240" cy="713232"/>
          </a:xfrm>
          <a:prstGeom prst="roundRect">
            <a:avLst>
              <a:gd name="adj" fmla="val 15385"/>
            </a:avLst>
          </a:prstGeom>
          <a:solidFill>
            <a:schemeClr val="bg1"/>
          </a:solidFill>
          <a:ln/>
          <a:effectLst>
            <a:outerShdw sx="100000" sy="100000" kx="0" ky="0" algn="bl" rotWithShape="0" blurRad="101600" dist="25400" dir="5400000">
              <a:srgbClr val="000000">
                <a:alpha val="8000"/>
              </a:srgbClr>
            </a:outerShdw>
          </a:effectLst>
        </p:spPr>
      </p:sp>
      <p:pic>
        <p:nvPicPr>
          <p:cNvPr id="9" name="trigger-1-icon" descr="preencoded.png">    </p:cNvPr>
          <p:cNvPicPr>
            <a:picLocks noChangeAspect="1"/>
          </p:cNvPicPr>
          <p:nvPr/>
        </p:nvPicPr>
        <p:blipFill>
          <a:blip r:embed="rId2"/>
          <a:stretch>
            <a:fillRect/>
          </a:stretch>
        </p:blipFill>
        <p:spPr>
          <a:xfrm>
            <a:off x="731520" y="2807208"/>
            <a:ext cx="347472" cy="347472"/>
          </a:xfrm>
          <a:prstGeom prst="rect">
            <a:avLst/>
          </a:prstGeom>
        </p:spPr>
      </p:pic>
      <p:sp>
        <p:nvSpPr>
          <p:cNvPr id="10" name="trigger-1-text"/>
          <p:cNvSpPr txBox="1"/>
          <p:nvPr/>
        </p:nvSpPr>
        <p:spPr>
          <a:xfrm>
            <a:off x="1234440" y="2679192"/>
            <a:ext cx="3337560" cy="603504"/>
          </a:xfrm>
          <a:prstGeom prst="rect">
            <a:avLst/>
          </a:prstGeom>
          <a:noFill/>
          <a:ln/>
        </p:spPr>
        <p:txBody>
          <a:bodyPr wrap="square" lIns="0" tIns="0" rIns="0" bIns="0" rtlCol="0" anchor="ctr"/>
          <a:lstStyle/>
          <a:p>
            <a:pPr indent="0" marL="0">
              <a:buNone/>
            </a:pPr>
            <a:r>
              <a:rPr lang="en-US" sz="1400" b="1" dirty="0">
                <a:solidFill>
                  <a:schemeClr val="tx1"/>
                </a:solidFill>
              </a:rPr>
              <a:t>Low confidence</a:t>
            </a:r>
            <a:endParaRPr lang="en-US" sz="1400" dirty="0"/>
          </a:p>
          <a:p>
            <a:pPr indent="0" marL="0">
              <a:buNone/>
            </a:pPr>
            <a:r>
              <a:rPr lang="en-US" sz="1200" dirty="0">
                <a:solidFill>
                  <a:schemeClr val="tx2"/>
                </a:solidFill>
              </a:rPr>
              <a:t>The Judge is under 0.60</a:t>
            </a:r>
            <a:endParaRPr lang="en-US" sz="1400" dirty="0"/>
          </a:p>
        </p:txBody>
      </p:sp>
      <p:sp>
        <p:nvSpPr>
          <p:cNvPr id="11" name="arrow-89"/>
          <p:cNvSpPr/>
          <p:nvPr/>
        </p:nvSpPr>
        <p:spPr>
          <a:xfrm>
            <a:off x="4754880" y="2980944"/>
            <a:ext cx="502920" cy="0"/>
          </a:xfrm>
          <a:prstGeom prst="line">
            <a:avLst/>
          </a:prstGeom>
          <a:noFill/>
          <a:ln w="19050">
            <a:solidFill>
              <a:schemeClr val="tx2"/>
            </a:solidFill>
            <a:prstDash val="solid"/>
            <a:tailEnd type="none"/>
          </a:ln>
        </p:spPr>
      </p:sp>
      <p:sp>
        <p:nvSpPr>
          <p:cNvPr id="12" name="trigger-2"/>
          <p:cNvSpPr/>
          <p:nvPr/>
        </p:nvSpPr>
        <p:spPr>
          <a:xfrm>
            <a:off x="548640" y="3465576"/>
            <a:ext cx="4206240" cy="713232"/>
          </a:xfrm>
          <a:prstGeom prst="roundRect">
            <a:avLst>
              <a:gd name="adj" fmla="val 15385"/>
            </a:avLst>
          </a:prstGeom>
          <a:solidFill>
            <a:schemeClr val="bg1"/>
          </a:solidFill>
          <a:ln/>
          <a:effectLst>
            <a:outerShdw sx="100000" sy="100000" kx="0" ky="0" algn="bl" rotWithShape="0" blurRad="101600" dist="25400" dir="5400000">
              <a:srgbClr val="000000">
                <a:alpha val="8000"/>
              </a:srgbClr>
            </a:outerShdw>
          </a:effectLst>
        </p:spPr>
      </p:sp>
      <p:pic>
        <p:nvPicPr>
          <p:cNvPr id="13" name="trigger-2-icon" descr="preencoded.png">    </p:cNvPr>
          <p:cNvPicPr>
            <a:picLocks noChangeAspect="1"/>
          </p:cNvPicPr>
          <p:nvPr/>
        </p:nvPicPr>
        <p:blipFill>
          <a:blip r:embed="rId3"/>
          <a:stretch>
            <a:fillRect/>
          </a:stretch>
        </p:blipFill>
        <p:spPr>
          <a:xfrm>
            <a:off x="731520" y="3648456"/>
            <a:ext cx="347472" cy="347472"/>
          </a:xfrm>
          <a:prstGeom prst="rect">
            <a:avLst/>
          </a:prstGeom>
        </p:spPr>
      </p:pic>
      <p:sp>
        <p:nvSpPr>
          <p:cNvPr id="14" name="trigger-2-text"/>
          <p:cNvSpPr txBox="1"/>
          <p:nvPr/>
        </p:nvSpPr>
        <p:spPr>
          <a:xfrm>
            <a:off x="1234440" y="3520440"/>
            <a:ext cx="3337560" cy="603504"/>
          </a:xfrm>
          <a:prstGeom prst="rect">
            <a:avLst/>
          </a:prstGeom>
          <a:noFill/>
          <a:ln/>
        </p:spPr>
        <p:txBody>
          <a:bodyPr wrap="square" lIns="0" tIns="0" rIns="0" bIns="0" rtlCol="0" anchor="ctr"/>
          <a:lstStyle/>
          <a:p>
            <a:pPr indent="0" marL="0">
              <a:buNone/>
            </a:pPr>
            <a:r>
              <a:rPr lang="en-US" sz="1400" b="1" dirty="0">
                <a:solidFill>
                  <a:schemeClr val="tx1"/>
                </a:solidFill>
              </a:rPr>
              <a:t>High risk</a:t>
            </a:r>
            <a:endParaRPr lang="en-US" sz="1400" dirty="0"/>
          </a:p>
          <a:p>
            <a:pPr indent="0" marL="0">
              <a:buNone/>
            </a:pPr>
            <a:r>
              <a:rPr lang="en-US" sz="1200" dirty="0">
                <a:solidFill>
                  <a:schemeClr val="tx2"/>
                </a:solidFill>
              </a:rPr>
              <a:t>Repeat filer, or a fee of $120+</a:t>
            </a:r>
            <a:endParaRPr lang="en-US" sz="1400" dirty="0"/>
          </a:p>
        </p:txBody>
      </p:sp>
      <p:sp>
        <p:nvSpPr>
          <p:cNvPr id="15" name="arrow-90"/>
          <p:cNvSpPr/>
          <p:nvPr/>
        </p:nvSpPr>
        <p:spPr>
          <a:xfrm>
            <a:off x="4754880" y="3822192"/>
            <a:ext cx="502920" cy="0"/>
          </a:xfrm>
          <a:prstGeom prst="line">
            <a:avLst/>
          </a:prstGeom>
          <a:noFill/>
          <a:ln w="19050">
            <a:solidFill>
              <a:schemeClr val="tx2"/>
            </a:solidFill>
            <a:prstDash val="solid"/>
            <a:tailEnd type="none"/>
          </a:ln>
        </p:spPr>
      </p:sp>
      <p:sp>
        <p:nvSpPr>
          <p:cNvPr id="16" name="trigger-3"/>
          <p:cNvSpPr/>
          <p:nvPr/>
        </p:nvSpPr>
        <p:spPr>
          <a:xfrm>
            <a:off x="548640" y="4306824"/>
            <a:ext cx="4206240" cy="713232"/>
          </a:xfrm>
          <a:prstGeom prst="roundRect">
            <a:avLst>
              <a:gd name="adj" fmla="val 15385"/>
            </a:avLst>
          </a:prstGeom>
          <a:solidFill>
            <a:schemeClr val="bg1"/>
          </a:solidFill>
          <a:ln/>
          <a:effectLst>
            <a:outerShdw sx="100000" sy="100000" kx="0" ky="0" algn="bl" rotWithShape="0" blurRad="101600" dist="25400" dir="5400000">
              <a:srgbClr val="000000">
                <a:alpha val="8000"/>
              </a:srgbClr>
            </a:outerShdw>
          </a:effectLst>
        </p:spPr>
      </p:sp>
      <p:pic>
        <p:nvPicPr>
          <p:cNvPr id="17" name="trigger-3-icon" descr="preencoded.png">    </p:cNvPr>
          <p:cNvPicPr>
            <a:picLocks noChangeAspect="1"/>
          </p:cNvPicPr>
          <p:nvPr/>
        </p:nvPicPr>
        <p:blipFill>
          <a:blip r:embed="rId4"/>
          <a:stretch>
            <a:fillRect/>
          </a:stretch>
        </p:blipFill>
        <p:spPr>
          <a:xfrm>
            <a:off x="731520" y="4489704"/>
            <a:ext cx="347472" cy="347472"/>
          </a:xfrm>
          <a:prstGeom prst="rect">
            <a:avLst/>
          </a:prstGeom>
        </p:spPr>
      </p:pic>
      <p:sp>
        <p:nvSpPr>
          <p:cNvPr id="18" name="trigger-3-text"/>
          <p:cNvSpPr txBox="1"/>
          <p:nvPr/>
        </p:nvSpPr>
        <p:spPr>
          <a:xfrm>
            <a:off x="1234440" y="4361688"/>
            <a:ext cx="3337560" cy="603504"/>
          </a:xfrm>
          <a:prstGeom prst="rect">
            <a:avLst/>
          </a:prstGeom>
          <a:noFill/>
          <a:ln/>
        </p:spPr>
        <p:txBody>
          <a:bodyPr wrap="square" lIns="0" tIns="0" rIns="0" bIns="0" rtlCol="0" anchor="ctr"/>
          <a:lstStyle/>
          <a:p>
            <a:pPr indent="0" marL="0">
              <a:buNone/>
            </a:pPr>
            <a:r>
              <a:rPr lang="en-US" sz="1400" b="1" dirty="0">
                <a:solidFill>
                  <a:schemeClr val="tx1"/>
                </a:solidFill>
              </a:rPr>
              <a:t>The Judge asks</a:t>
            </a:r>
            <a:endParaRPr lang="en-US" sz="1400" dirty="0"/>
          </a:p>
          <a:p>
            <a:pPr indent="0" marL="0">
              <a:buNone/>
            </a:pPr>
            <a:r>
              <a:rPr lang="en-US" sz="1200" dirty="0">
                <a:solidFill>
                  <a:schemeClr val="tx2"/>
                </a:solidFill>
              </a:rPr>
              <a:t>A request, never a substitute</a:t>
            </a:r>
            <a:endParaRPr lang="en-US" sz="1400" dirty="0"/>
          </a:p>
        </p:txBody>
      </p:sp>
      <p:sp>
        <p:nvSpPr>
          <p:cNvPr id="19" name="arrow-91"/>
          <p:cNvSpPr/>
          <p:nvPr/>
        </p:nvSpPr>
        <p:spPr>
          <a:xfrm>
            <a:off x="4754880" y="4663440"/>
            <a:ext cx="502920" cy="0"/>
          </a:xfrm>
          <a:prstGeom prst="line">
            <a:avLst/>
          </a:prstGeom>
          <a:noFill/>
          <a:ln w="19050">
            <a:solidFill>
              <a:schemeClr val="tx2"/>
            </a:solidFill>
            <a:prstDash val="solid"/>
            <a:tailEnd type="none"/>
          </a:ln>
        </p:spPr>
      </p:sp>
      <p:sp>
        <p:nvSpPr>
          <p:cNvPr id="20" name="trigger-4"/>
          <p:cNvSpPr/>
          <p:nvPr/>
        </p:nvSpPr>
        <p:spPr>
          <a:xfrm>
            <a:off x="548640" y="5148072"/>
            <a:ext cx="4206240" cy="713232"/>
          </a:xfrm>
          <a:prstGeom prst="roundRect">
            <a:avLst>
              <a:gd name="adj" fmla="val 15385"/>
            </a:avLst>
          </a:prstGeom>
          <a:solidFill>
            <a:schemeClr val="bg1"/>
          </a:solidFill>
          <a:ln/>
          <a:effectLst>
            <a:outerShdw sx="100000" sy="100000" kx="0" ky="0" algn="bl" rotWithShape="0" blurRad="101600" dist="25400" dir="5400000">
              <a:srgbClr val="000000">
                <a:alpha val="8000"/>
              </a:srgbClr>
            </a:outerShdw>
          </a:effectLst>
        </p:spPr>
      </p:sp>
      <p:pic>
        <p:nvPicPr>
          <p:cNvPr id="21" name="trigger-4-icon" descr="preencoded.png">    </p:cNvPr>
          <p:cNvPicPr>
            <a:picLocks noChangeAspect="1"/>
          </p:cNvPicPr>
          <p:nvPr/>
        </p:nvPicPr>
        <p:blipFill>
          <a:blip r:embed="rId5"/>
          <a:stretch>
            <a:fillRect/>
          </a:stretch>
        </p:blipFill>
        <p:spPr>
          <a:xfrm>
            <a:off x="731520" y="5330952"/>
            <a:ext cx="347472" cy="347472"/>
          </a:xfrm>
          <a:prstGeom prst="rect">
            <a:avLst/>
          </a:prstGeom>
        </p:spPr>
      </p:pic>
      <p:sp>
        <p:nvSpPr>
          <p:cNvPr id="22" name="trigger-4-text"/>
          <p:cNvSpPr txBox="1"/>
          <p:nvPr/>
        </p:nvSpPr>
        <p:spPr>
          <a:xfrm>
            <a:off x="1234440" y="5202936"/>
            <a:ext cx="3337560" cy="603504"/>
          </a:xfrm>
          <a:prstGeom prst="rect">
            <a:avLst/>
          </a:prstGeom>
          <a:noFill/>
          <a:ln/>
        </p:spPr>
        <p:txBody>
          <a:bodyPr wrap="square" lIns="0" tIns="0" rIns="0" bIns="0" rtlCol="0" anchor="ctr"/>
          <a:lstStyle/>
          <a:p>
            <a:pPr indent="0" marL="0">
              <a:buNone/>
            </a:pPr>
            <a:r>
              <a:rPr lang="en-US" sz="1400" b="1" dirty="0">
                <a:solidFill>
                  <a:schemeClr val="tx1"/>
                </a:solidFill>
              </a:rPr>
              <a:t>Compliance veto</a:t>
            </a:r>
            <a:endParaRPr lang="en-US" sz="1400" dirty="0"/>
          </a:p>
          <a:p>
            <a:pPr indent="0" marL="0">
              <a:buNone/>
            </a:pPr>
            <a:r>
              <a:rPr lang="en-US" sz="1200" dirty="0">
                <a:solidFill>
                  <a:schemeClr val="tx2"/>
                </a:solidFill>
              </a:rPr>
              <a:t>The remedy breaks a policy rule</a:t>
            </a:r>
            <a:endParaRPr lang="en-US" sz="1400" dirty="0"/>
          </a:p>
        </p:txBody>
      </p:sp>
      <p:sp>
        <p:nvSpPr>
          <p:cNvPr id="23" name="arrow-92"/>
          <p:cNvSpPr/>
          <p:nvPr/>
        </p:nvSpPr>
        <p:spPr>
          <a:xfrm>
            <a:off x="4754880" y="5504688"/>
            <a:ext cx="502920" cy="0"/>
          </a:xfrm>
          <a:prstGeom prst="line">
            <a:avLst/>
          </a:prstGeom>
          <a:noFill/>
          <a:ln w="19050">
            <a:solidFill>
              <a:schemeClr val="tx2"/>
            </a:solidFill>
            <a:prstDash val="solid"/>
            <a:tailEnd type="none"/>
          </a:ln>
        </p:spPr>
      </p:sp>
      <p:sp>
        <p:nvSpPr>
          <p:cNvPr id="24" name="arrow-93"/>
          <p:cNvSpPr/>
          <p:nvPr/>
        </p:nvSpPr>
        <p:spPr>
          <a:xfrm>
            <a:off x="5257800" y="2139696"/>
            <a:ext cx="0" cy="3364992"/>
          </a:xfrm>
          <a:prstGeom prst="line">
            <a:avLst/>
          </a:prstGeom>
          <a:noFill/>
          <a:ln w="19050">
            <a:solidFill>
              <a:schemeClr val="tx2"/>
            </a:solidFill>
            <a:prstDash val="solid"/>
            <a:tailEnd type="none"/>
          </a:ln>
        </p:spPr>
      </p:sp>
      <p:sp>
        <p:nvSpPr>
          <p:cNvPr id="25" name="or-gate"/>
          <p:cNvSpPr/>
          <p:nvPr/>
        </p:nvSpPr>
        <p:spPr>
          <a:xfrm>
            <a:off x="4983480" y="3547872"/>
            <a:ext cx="548640" cy="548640"/>
          </a:xfrm>
          <a:prstGeom prst="ellipse">
            <a:avLst/>
          </a:prstGeom>
          <a:solidFill>
            <a:schemeClr val="tx1"/>
          </a:solidFill>
          <a:ln/>
        </p:spPr>
      </p:sp>
      <p:sp>
        <p:nvSpPr>
          <p:cNvPr id="26" name="or-label"/>
          <p:cNvSpPr txBox="1"/>
          <p:nvPr/>
        </p:nvSpPr>
        <p:spPr>
          <a:xfrm>
            <a:off x="4983480" y="3547872"/>
            <a:ext cx="548640" cy="548640"/>
          </a:xfrm>
          <a:prstGeom prst="rect">
            <a:avLst/>
          </a:prstGeom>
          <a:noFill/>
          <a:ln/>
        </p:spPr>
        <p:txBody>
          <a:bodyPr wrap="square" lIns="0" tIns="0" rIns="0" bIns="0" rtlCol="0" anchor="ctr"/>
          <a:lstStyle/>
          <a:p>
            <a:pPr algn="ctr" indent="0" marL="0">
              <a:buNone/>
            </a:pPr>
            <a:r>
              <a:rPr lang="en-US" sz="1200" b="1" dirty="0">
                <a:solidFill>
                  <a:schemeClr val="bg1"/>
                </a:solidFill>
              </a:rPr>
              <a:t>OR</a:t>
            </a:r>
            <a:endParaRPr lang="en-US" sz="1200" dirty="0"/>
          </a:p>
        </p:txBody>
      </p:sp>
      <p:sp>
        <p:nvSpPr>
          <p:cNvPr id="27" name="arrow-94"/>
          <p:cNvSpPr/>
          <p:nvPr/>
        </p:nvSpPr>
        <p:spPr>
          <a:xfrm>
            <a:off x="5532120" y="3822192"/>
            <a:ext cx="594360" cy="0"/>
          </a:xfrm>
          <a:prstGeom prst="line">
            <a:avLst/>
          </a:prstGeom>
          <a:noFill/>
          <a:ln w="19050">
            <a:solidFill>
              <a:schemeClr val="tx2"/>
            </a:solidFill>
            <a:prstDash val="solid"/>
            <a:tailEnd type="triangle"/>
          </a:ln>
        </p:spPr>
      </p:sp>
      <p:sp>
        <p:nvSpPr>
          <p:cNvPr id="28" name="reviewer-card"/>
          <p:cNvSpPr/>
          <p:nvPr/>
        </p:nvSpPr>
        <p:spPr>
          <a:xfrm>
            <a:off x="6126480" y="1783080"/>
            <a:ext cx="5516575" cy="2697480"/>
          </a:xfrm>
          <a:prstGeom prst="roundRect">
            <a:avLst>
              <a:gd name="adj" fmla="val 4068"/>
            </a:avLst>
          </a:prstGeom>
          <a:solidFill>
            <a:schemeClr val="accent4">
              <a:alpha val="12000"/>
            </a:schemeClr>
          </a:solidFill>
          <a:ln w="15875">
            <a:solidFill>
              <a:schemeClr val="accent4"/>
            </a:solidFill>
            <a:prstDash val="solid"/>
          </a:ln>
        </p:spPr>
      </p:sp>
      <p:pic>
        <p:nvPicPr>
          <p:cNvPr id="29" name="reviewer-icon" descr="preencoded.png">    </p:cNvPr>
          <p:cNvPicPr>
            <a:picLocks noChangeAspect="1"/>
          </p:cNvPicPr>
          <p:nvPr/>
        </p:nvPicPr>
        <p:blipFill>
          <a:blip r:embed="rId6"/>
          <a:stretch>
            <a:fillRect/>
          </a:stretch>
        </p:blipFill>
        <p:spPr>
          <a:xfrm>
            <a:off x="6355080" y="1965960"/>
            <a:ext cx="384048" cy="384048"/>
          </a:xfrm>
          <a:prstGeom prst="rect">
            <a:avLst/>
          </a:prstGeom>
        </p:spPr>
      </p:pic>
      <p:sp>
        <p:nvSpPr>
          <p:cNvPr id="30" name="reviewer-title"/>
          <p:cNvSpPr txBox="1"/>
          <p:nvPr/>
        </p:nvSpPr>
        <p:spPr>
          <a:xfrm>
            <a:off x="6858000" y="1965960"/>
            <a:ext cx="4602175" cy="384048"/>
          </a:xfrm>
          <a:prstGeom prst="rect">
            <a:avLst/>
          </a:prstGeom>
          <a:noFill/>
          <a:ln/>
        </p:spPr>
        <p:txBody>
          <a:bodyPr wrap="square" lIns="0" tIns="0" rIns="0" bIns="0" rtlCol="0" anchor="ctr"/>
          <a:lstStyle/>
          <a:p>
            <a:pPr indent="0" marL="0">
              <a:buNone/>
            </a:pPr>
            <a:r>
              <a:rPr lang="en-US" sz="1700" b="1" dirty="0">
                <a:solidFill>
                  <a:schemeClr val="tx1"/>
                </a:solidFill>
              </a:rPr>
              <a:t>A person decides</a:t>
            </a:r>
            <a:endParaRPr lang="en-US" sz="1700" dirty="0"/>
          </a:p>
        </p:txBody>
      </p:sp>
      <p:sp>
        <p:nvSpPr>
          <p:cNvPr id="31" name="reviewer-body"/>
          <p:cNvSpPr txBox="1"/>
          <p:nvPr/>
        </p:nvSpPr>
        <p:spPr>
          <a:xfrm>
            <a:off x="6355080" y="2514600"/>
            <a:ext cx="5059375"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Safety reports come first</a:t>
            </a:r>
            <a:endParaRPr lang="en-US" sz="1400" dirty="0"/>
          </a:p>
          <a:p>
            <a:pPr marL="342900" indent="-342900">
              <a:spcAft>
                <a:spcPts val="800"/>
              </a:spcAft>
              <a:buSzPct val="100000"/>
              <a:buChar char="•"/>
            </a:pPr>
            <a:r>
              <a:rPr lang="en-US" sz="1400" dirty="0">
                <a:solidFill>
                  <a:schemeClr val="tx1"/>
                </a:solidFill>
              </a:rPr>
              <a:t>The evidence is shown before the AI's recommendation, so it can't anchor them</a:t>
            </a:r>
            <a:endParaRPr lang="en-US" sz="1400" dirty="0"/>
          </a:p>
          <a:p>
            <a:pPr marL="342900" indent="-342900">
              <a:spcAft>
                <a:spcPts val="800"/>
              </a:spcAft>
              <a:buSzPct val="100000"/>
              <a:buChar char="•"/>
            </a:pPr>
            <a:r>
              <a:rPr lang="en-US" sz="1400" dirty="0">
                <a:solidFill>
                  <a:schemeClr val="tx1"/>
                </a:solidFill>
              </a:rPr>
              <a:t>They approve or change the outcome, with a reason</a:t>
            </a:r>
            <a:endParaRPr lang="en-US" sz="1400" dirty="0"/>
          </a:p>
        </p:txBody>
      </p:sp>
      <p:sp>
        <p:nvSpPr>
          <p:cNvPr id="32" name="stands-card"/>
          <p:cNvSpPr/>
          <p:nvPr/>
        </p:nvSpPr>
        <p:spPr>
          <a:xfrm>
            <a:off x="6126480" y="4754880"/>
            <a:ext cx="5516575" cy="1005840"/>
          </a:xfrm>
          <a:prstGeom prst="roundRect">
            <a:avLst>
              <a:gd name="adj" fmla="val 10909"/>
            </a:avLst>
          </a:prstGeom>
          <a:solidFill>
            <a:schemeClr val="accent3">
              <a:alpha val="12000"/>
            </a:schemeClr>
          </a:solidFill>
          <a:ln w="15875">
            <a:solidFill>
              <a:schemeClr val="accent3"/>
            </a:solidFill>
            <a:prstDash val="solid"/>
          </a:ln>
        </p:spPr>
      </p:sp>
      <p:pic>
        <p:nvPicPr>
          <p:cNvPr id="33" name="stands-icon" descr="preencoded.png">    </p:cNvPr>
          <p:cNvPicPr>
            <a:picLocks noChangeAspect="1"/>
          </p:cNvPicPr>
          <p:nvPr/>
        </p:nvPicPr>
        <p:blipFill>
          <a:blip r:embed="rId7"/>
          <a:stretch>
            <a:fillRect/>
          </a:stretch>
        </p:blipFill>
        <p:spPr>
          <a:xfrm>
            <a:off x="6355080" y="4974336"/>
            <a:ext cx="384048" cy="384048"/>
          </a:xfrm>
          <a:prstGeom prst="rect">
            <a:avLst/>
          </a:prstGeom>
        </p:spPr>
      </p:pic>
      <p:sp>
        <p:nvSpPr>
          <p:cNvPr id="34" name="stands-text"/>
          <p:cNvSpPr txBox="1"/>
          <p:nvPr/>
        </p:nvSpPr>
        <p:spPr>
          <a:xfrm>
            <a:off x="6858000" y="4800600"/>
            <a:ext cx="4602175" cy="914400"/>
          </a:xfrm>
          <a:prstGeom prst="rect">
            <a:avLst/>
          </a:prstGeom>
          <a:noFill/>
          <a:ln/>
        </p:spPr>
        <p:txBody>
          <a:bodyPr wrap="square" lIns="0" tIns="0" rIns="0" bIns="0" rtlCol="0" anchor="ctr"/>
          <a:lstStyle/>
          <a:p>
            <a:pPr indent="0" marL="0">
              <a:buNone/>
            </a:pPr>
            <a:r>
              <a:rPr lang="en-US" sz="1500" b="1" dirty="0">
                <a:solidFill>
                  <a:schemeClr val="tx1"/>
                </a:solidFill>
              </a:rPr>
              <a:t>None fire: the ruling stands</a:t>
            </a:r>
            <a:endParaRPr lang="en-US" sz="1500" dirty="0"/>
          </a:p>
          <a:p>
            <a:pPr indent="0" marL="0">
              <a:buNone/>
            </a:pPr>
            <a:r>
              <a:rPr lang="en-US" sz="1250" dirty="0">
                <a:solidFill>
                  <a:schemeClr val="tx2"/>
                </a:solidFill>
              </a:rPr>
              <a:t>Both parties see the same facts and rule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Technical architecture</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A React app, one FastAPI service and Neon. Every step streams live to the screen.</a:t>
            </a:r>
            <a:endParaRPr lang="en-US" sz="1500" dirty="0"/>
          </a:p>
        </p:txBody>
      </p:sp>
      <p:sp>
        <p:nvSpPr>
          <p:cNvPr id="4" name="layer-0"/>
          <p:cNvSpPr/>
          <p:nvPr/>
        </p:nvSpPr>
        <p:spPr>
          <a:xfrm>
            <a:off x="548640" y="1691640"/>
            <a:ext cx="11094415" cy="914400"/>
          </a:xfrm>
          <a:prstGeom prst="roundRect">
            <a:avLst>
              <a:gd name="adj" fmla="val 10000"/>
            </a:avLst>
          </a:prstGeom>
          <a:solidFill>
            <a:schemeClr val="bg1"/>
          </a:solidFill>
          <a:ln w="6350">
            <a:solidFill>
              <a:schemeClr val="tx2">
                <a:alpha val="30000"/>
              </a:schemeClr>
            </a:solidFill>
            <a:prstDash val="solid"/>
          </a:ln>
        </p:spPr>
      </p:sp>
      <p:sp>
        <p:nvSpPr>
          <p:cNvPr id="5" name="layer-0-label"/>
          <p:cNvSpPr txBox="1"/>
          <p:nvPr/>
        </p:nvSpPr>
        <p:spPr>
          <a:xfrm>
            <a:off x="731520" y="178308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Frontend</a:t>
            </a:r>
            <a:endParaRPr lang="en-US" sz="1400" dirty="0"/>
          </a:p>
          <a:p>
            <a:pPr indent="0" marL="0">
              <a:buNone/>
            </a:pPr>
            <a:r>
              <a:rPr lang="en-US" sz="1100" dirty="0">
                <a:solidFill>
                  <a:schemeClr val="tx2"/>
                </a:solidFill>
              </a:rPr>
              <a:t>Vercel</a:t>
            </a:r>
            <a:endParaRPr lang="en-US" sz="1400" dirty="0"/>
          </a:p>
        </p:txBody>
      </p:sp>
      <p:sp>
        <p:nvSpPr>
          <p:cNvPr id="6" name="comp-95"/>
          <p:cNvSpPr/>
          <p:nvPr/>
        </p:nvSpPr>
        <p:spPr>
          <a:xfrm>
            <a:off x="2423160" y="1792224"/>
            <a:ext cx="2181530" cy="713232"/>
          </a:xfrm>
          <a:prstGeom prst="roundRect">
            <a:avLst>
              <a:gd name="adj" fmla="val 8974"/>
            </a:avLst>
          </a:prstGeom>
          <a:solidFill>
            <a:schemeClr val="bg2"/>
          </a:solidFill>
          <a:ln/>
        </p:spPr>
      </p:sp>
      <p:sp>
        <p:nvSpPr>
          <p:cNvPr id="7" name="comp-text-96"/>
          <p:cNvSpPr txBox="1"/>
          <p:nvPr/>
        </p:nvSpPr>
        <p:spPr>
          <a:xfrm>
            <a:off x="2551176" y="184708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Rider and driver apps</a:t>
            </a:r>
            <a:endParaRPr lang="en-US" sz="1300" dirty="0"/>
          </a:p>
          <a:p>
            <a:pPr indent="0" marL="0">
              <a:buNone/>
            </a:pPr>
            <a:r>
              <a:rPr lang="en-US" sz="1100" dirty="0">
                <a:solidFill>
                  <a:schemeClr val="tx2"/>
                </a:solidFill>
              </a:rPr>
              <a:t>report, reply, outcome</a:t>
            </a:r>
            <a:endParaRPr lang="en-US" sz="1300" dirty="0"/>
          </a:p>
        </p:txBody>
      </p:sp>
      <p:sp>
        <p:nvSpPr>
          <p:cNvPr id="8" name="comp-97"/>
          <p:cNvSpPr/>
          <p:nvPr/>
        </p:nvSpPr>
        <p:spPr>
          <a:xfrm>
            <a:off x="4732706" y="1792224"/>
            <a:ext cx="2181530" cy="713232"/>
          </a:xfrm>
          <a:prstGeom prst="roundRect">
            <a:avLst>
              <a:gd name="adj" fmla="val 8974"/>
            </a:avLst>
          </a:prstGeom>
          <a:solidFill>
            <a:schemeClr val="bg2"/>
          </a:solidFill>
          <a:ln/>
        </p:spPr>
      </p:sp>
      <p:sp>
        <p:nvSpPr>
          <p:cNvPr id="9" name="comp-text-98"/>
          <p:cNvSpPr txBox="1"/>
          <p:nvPr/>
        </p:nvSpPr>
        <p:spPr>
          <a:xfrm>
            <a:off x="4860722" y="184708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Support console</a:t>
            </a:r>
            <a:endParaRPr lang="en-US" sz="1300" dirty="0"/>
          </a:p>
          <a:p>
            <a:pPr indent="0" marL="0">
              <a:buNone/>
            </a:pPr>
            <a:r>
              <a:rPr lang="en-US" sz="1100" dirty="0">
                <a:solidFill>
                  <a:schemeClr val="tx2"/>
                </a:solidFill>
              </a:rPr>
              <a:t>the person's queue</a:t>
            </a:r>
            <a:endParaRPr lang="en-US" sz="1300" dirty="0"/>
          </a:p>
        </p:txBody>
      </p:sp>
      <p:sp>
        <p:nvSpPr>
          <p:cNvPr id="10" name="comp-99"/>
          <p:cNvSpPr/>
          <p:nvPr/>
        </p:nvSpPr>
        <p:spPr>
          <a:xfrm>
            <a:off x="7042252" y="1792224"/>
            <a:ext cx="2181530" cy="713232"/>
          </a:xfrm>
          <a:prstGeom prst="roundRect">
            <a:avLst>
              <a:gd name="adj" fmla="val 8974"/>
            </a:avLst>
          </a:prstGeom>
          <a:solidFill>
            <a:schemeClr val="bg2"/>
          </a:solidFill>
          <a:ln/>
        </p:spPr>
      </p:sp>
      <p:sp>
        <p:nvSpPr>
          <p:cNvPr id="11" name="comp-text-100"/>
          <p:cNvSpPr txBox="1"/>
          <p:nvPr/>
        </p:nvSpPr>
        <p:spPr>
          <a:xfrm>
            <a:off x="7170268" y="184708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AI trace</a:t>
            </a:r>
            <a:endParaRPr lang="en-US" sz="1300" dirty="0"/>
          </a:p>
          <a:p>
            <a:pPr indent="0" marL="0">
              <a:buNone/>
            </a:pPr>
            <a:r>
              <a:rPr lang="en-US" sz="1100" dirty="0">
                <a:solidFill>
                  <a:schemeClr val="tx2"/>
                </a:solidFill>
              </a:rPr>
              <a:t>every case as a hearing</a:t>
            </a:r>
            <a:endParaRPr lang="en-US" sz="1300" dirty="0"/>
          </a:p>
        </p:txBody>
      </p:sp>
      <p:sp>
        <p:nvSpPr>
          <p:cNvPr id="12" name="comp-101"/>
          <p:cNvSpPr/>
          <p:nvPr/>
        </p:nvSpPr>
        <p:spPr>
          <a:xfrm>
            <a:off x="9351797" y="1792224"/>
            <a:ext cx="2181530" cy="713232"/>
          </a:xfrm>
          <a:prstGeom prst="roundRect">
            <a:avLst>
              <a:gd name="adj" fmla="val 8974"/>
            </a:avLst>
          </a:prstGeom>
          <a:solidFill>
            <a:schemeClr val="bg2"/>
          </a:solidFill>
          <a:ln/>
        </p:spPr>
      </p:sp>
      <p:sp>
        <p:nvSpPr>
          <p:cNvPr id="13" name="comp-text-102"/>
          <p:cNvSpPr txBox="1"/>
          <p:nvPr/>
        </p:nvSpPr>
        <p:spPr>
          <a:xfrm>
            <a:off x="9479813" y="184708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Live updates</a:t>
            </a:r>
            <a:endParaRPr lang="en-US" sz="1300" dirty="0"/>
          </a:p>
          <a:p>
            <a:pPr indent="0" marL="0">
              <a:buNone/>
            </a:pPr>
            <a:r>
              <a:rPr lang="en-US" sz="1100" dirty="0">
                <a:solidFill>
                  <a:schemeClr val="tx2"/>
                </a:solidFill>
              </a:rPr>
              <a:t>server-sent events</a:t>
            </a:r>
            <a:endParaRPr lang="en-US" sz="1300" dirty="0"/>
          </a:p>
        </p:txBody>
      </p:sp>
      <p:sp>
        <p:nvSpPr>
          <p:cNvPr id="14" name="arrow-103"/>
          <p:cNvSpPr/>
          <p:nvPr/>
        </p:nvSpPr>
        <p:spPr>
          <a:xfrm>
            <a:off x="6978244" y="2606040"/>
            <a:ext cx="0" cy="182880"/>
          </a:xfrm>
          <a:prstGeom prst="line">
            <a:avLst/>
          </a:prstGeom>
          <a:noFill/>
          <a:ln w="19050">
            <a:solidFill>
              <a:schemeClr val="tx2"/>
            </a:solidFill>
            <a:prstDash val="solid"/>
            <a:tailEnd type="triangle"/>
          </a:ln>
        </p:spPr>
      </p:sp>
      <p:sp>
        <p:nvSpPr>
          <p:cNvPr id="15" name="layer-1"/>
          <p:cNvSpPr/>
          <p:nvPr/>
        </p:nvSpPr>
        <p:spPr>
          <a:xfrm>
            <a:off x="548640" y="2788920"/>
            <a:ext cx="11094415" cy="914400"/>
          </a:xfrm>
          <a:prstGeom prst="roundRect">
            <a:avLst>
              <a:gd name="adj" fmla="val 10000"/>
            </a:avLst>
          </a:prstGeom>
          <a:solidFill>
            <a:schemeClr val="bg1"/>
          </a:solidFill>
          <a:ln w="6350">
            <a:solidFill>
              <a:schemeClr val="tx2">
                <a:alpha val="30000"/>
              </a:schemeClr>
            </a:solidFill>
            <a:prstDash val="solid"/>
          </a:ln>
        </p:spPr>
      </p:sp>
      <p:sp>
        <p:nvSpPr>
          <p:cNvPr id="16" name="layer-1-label"/>
          <p:cNvSpPr txBox="1"/>
          <p:nvPr/>
        </p:nvSpPr>
        <p:spPr>
          <a:xfrm>
            <a:off x="731520" y="288036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Backend</a:t>
            </a:r>
            <a:endParaRPr lang="en-US" sz="1400" dirty="0"/>
          </a:p>
          <a:p>
            <a:pPr indent="0" marL="0">
              <a:buNone/>
            </a:pPr>
            <a:r>
              <a:rPr lang="en-US" sz="1100" dirty="0">
                <a:solidFill>
                  <a:schemeClr val="tx2"/>
                </a:solidFill>
              </a:rPr>
              <a:t>FastAPI on Render</a:t>
            </a:r>
            <a:endParaRPr lang="en-US" sz="1400" dirty="0"/>
          </a:p>
        </p:txBody>
      </p:sp>
      <p:sp>
        <p:nvSpPr>
          <p:cNvPr id="17" name="comp-104"/>
          <p:cNvSpPr/>
          <p:nvPr/>
        </p:nvSpPr>
        <p:spPr>
          <a:xfrm>
            <a:off x="2423160" y="2889504"/>
            <a:ext cx="2181530" cy="713232"/>
          </a:xfrm>
          <a:prstGeom prst="roundRect">
            <a:avLst>
              <a:gd name="adj" fmla="val 8974"/>
            </a:avLst>
          </a:prstGeom>
          <a:solidFill>
            <a:schemeClr val="bg1"/>
          </a:solidFill>
          <a:ln w="12700">
            <a:solidFill>
              <a:schemeClr val="tx2"/>
            </a:solidFill>
            <a:prstDash val="dash"/>
          </a:ln>
        </p:spPr>
      </p:sp>
      <p:sp>
        <p:nvSpPr>
          <p:cNvPr id="18" name="comp-text-105"/>
          <p:cNvSpPr txBox="1"/>
          <p:nvPr/>
        </p:nvSpPr>
        <p:spPr>
          <a:xfrm>
            <a:off x="2551176" y="294436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Orchestrator</a:t>
            </a:r>
            <a:endParaRPr lang="en-US" sz="1300" dirty="0"/>
          </a:p>
          <a:p>
            <a:pPr indent="0" marL="0">
              <a:buNone/>
            </a:pPr>
            <a:r>
              <a:rPr lang="en-US" sz="1100" dirty="0">
                <a:solidFill>
                  <a:schemeClr val="tx2"/>
                </a:solidFill>
              </a:rPr>
              <a:t>wires every step</a:t>
            </a:r>
            <a:endParaRPr lang="en-US" sz="1300" dirty="0"/>
          </a:p>
        </p:txBody>
      </p:sp>
      <p:sp>
        <p:nvSpPr>
          <p:cNvPr id="19" name="comp-106"/>
          <p:cNvSpPr/>
          <p:nvPr/>
        </p:nvSpPr>
        <p:spPr>
          <a:xfrm>
            <a:off x="4732706" y="2889504"/>
            <a:ext cx="2181530" cy="713232"/>
          </a:xfrm>
          <a:prstGeom prst="roundRect">
            <a:avLst>
              <a:gd name="adj" fmla="val 8974"/>
            </a:avLst>
          </a:prstGeom>
          <a:solidFill>
            <a:schemeClr val="tx1"/>
          </a:solidFill>
          <a:ln/>
        </p:spPr>
      </p:sp>
      <p:sp>
        <p:nvSpPr>
          <p:cNvPr id="20" name="comp-text-107"/>
          <p:cNvSpPr txBox="1"/>
          <p:nvPr/>
        </p:nvSpPr>
        <p:spPr>
          <a:xfrm>
            <a:off x="4860722" y="2944368"/>
            <a:ext cx="1925498" cy="603504"/>
          </a:xfrm>
          <a:prstGeom prst="rect">
            <a:avLst/>
          </a:prstGeom>
          <a:noFill/>
          <a:ln/>
        </p:spPr>
        <p:txBody>
          <a:bodyPr wrap="square" lIns="0" tIns="0" rIns="0" bIns="0" rtlCol="0" anchor="ctr"/>
          <a:lstStyle/>
          <a:p>
            <a:pPr indent="0" marL="0">
              <a:buNone/>
            </a:pPr>
            <a:r>
              <a:rPr lang="en-US" sz="1300" b="1" dirty="0">
                <a:solidFill>
                  <a:schemeClr val="bg1"/>
                </a:solidFill>
              </a:rPr>
              <a:t>5 AI agents</a:t>
            </a:r>
            <a:endParaRPr lang="en-US" sz="1300" dirty="0"/>
          </a:p>
          <a:p>
            <a:pPr indent="0" marL="0">
              <a:buNone/>
            </a:pPr>
            <a:r>
              <a:rPr lang="en-US" sz="1100" dirty="0">
                <a:solidFill>
                  <a:schemeClr val="bg2"/>
                </a:solidFill>
              </a:rPr>
              <a:t>pydantic-ai, typed output</a:t>
            </a:r>
            <a:endParaRPr lang="en-US" sz="1300" dirty="0"/>
          </a:p>
        </p:txBody>
      </p:sp>
      <p:sp>
        <p:nvSpPr>
          <p:cNvPr id="21" name="comp-108"/>
          <p:cNvSpPr/>
          <p:nvPr/>
        </p:nvSpPr>
        <p:spPr>
          <a:xfrm>
            <a:off x="7042252" y="2889504"/>
            <a:ext cx="2181530" cy="713232"/>
          </a:xfrm>
          <a:prstGeom prst="roundRect">
            <a:avLst>
              <a:gd name="adj" fmla="val 8974"/>
            </a:avLst>
          </a:prstGeom>
          <a:solidFill>
            <a:schemeClr val="bg1"/>
          </a:solidFill>
          <a:ln w="12700">
            <a:solidFill>
              <a:schemeClr val="tx2"/>
            </a:solidFill>
            <a:prstDash val="dash"/>
          </a:ln>
        </p:spPr>
      </p:sp>
      <p:sp>
        <p:nvSpPr>
          <p:cNvPr id="22" name="comp-text-109"/>
          <p:cNvSpPr txBox="1"/>
          <p:nvPr/>
        </p:nvSpPr>
        <p:spPr>
          <a:xfrm>
            <a:off x="7170268" y="294436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Rules</a:t>
            </a:r>
            <a:endParaRPr lang="en-US" sz="1300" dirty="0"/>
          </a:p>
          <a:p>
            <a:pPr indent="0" marL="0">
              <a:buNone/>
            </a:pPr>
            <a:r>
              <a:rPr lang="en-US" sz="1100" dirty="0">
                <a:solidFill>
                  <a:schemeClr val="tx2"/>
                </a:solidFill>
              </a:rPr>
              <a:t>checks with no AI</a:t>
            </a:r>
            <a:endParaRPr lang="en-US" sz="1300" dirty="0"/>
          </a:p>
        </p:txBody>
      </p:sp>
      <p:sp>
        <p:nvSpPr>
          <p:cNvPr id="23" name="comp-110"/>
          <p:cNvSpPr/>
          <p:nvPr/>
        </p:nvSpPr>
        <p:spPr>
          <a:xfrm>
            <a:off x="9351797" y="2889504"/>
            <a:ext cx="2181530" cy="713232"/>
          </a:xfrm>
          <a:prstGeom prst="roundRect">
            <a:avLst>
              <a:gd name="adj" fmla="val 8974"/>
            </a:avLst>
          </a:prstGeom>
          <a:solidFill>
            <a:schemeClr val="bg2"/>
          </a:solidFill>
          <a:ln/>
        </p:spPr>
      </p:sp>
      <p:sp>
        <p:nvSpPr>
          <p:cNvPr id="24" name="comp-text-111"/>
          <p:cNvSpPr txBox="1"/>
          <p:nvPr/>
        </p:nvSpPr>
        <p:spPr>
          <a:xfrm>
            <a:off x="9479813" y="2944368"/>
            <a:ext cx="1925498" cy="603504"/>
          </a:xfrm>
          <a:prstGeom prst="rect">
            <a:avLst/>
          </a:prstGeom>
          <a:noFill/>
          <a:ln/>
        </p:spPr>
        <p:txBody>
          <a:bodyPr wrap="square" lIns="0" tIns="0" rIns="0" bIns="0" rtlCol="0" anchor="ctr"/>
          <a:lstStyle/>
          <a:p>
            <a:pPr indent="0" marL="0">
              <a:buNone/>
            </a:pPr>
            <a:r>
              <a:rPr lang="en-US" sz="1300" b="1" dirty="0">
                <a:solidFill>
                  <a:schemeClr val="tx1"/>
                </a:solidFill>
              </a:rPr>
              <a:t>Tools</a:t>
            </a:r>
            <a:endParaRPr lang="en-US" sz="1300" dirty="0"/>
          </a:p>
          <a:p>
            <a:pPr indent="0" marL="0">
              <a:buNone/>
            </a:pPr>
            <a:r>
              <a:rPr lang="en-US" sz="1100" dirty="0">
                <a:solidFill>
                  <a:schemeClr val="tx2"/>
                </a:solidFill>
              </a:rPr>
              <a:t>evidence, policy, photos</a:t>
            </a:r>
            <a:endParaRPr lang="en-US" sz="1300" dirty="0"/>
          </a:p>
        </p:txBody>
      </p:sp>
      <p:sp>
        <p:nvSpPr>
          <p:cNvPr id="25" name="arrow-112"/>
          <p:cNvSpPr/>
          <p:nvPr/>
        </p:nvSpPr>
        <p:spPr>
          <a:xfrm>
            <a:off x="6978244" y="3703320"/>
            <a:ext cx="0" cy="182880"/>
          </a:xfrm>
          <a:prstGeom prst="line">
            <a:avLst/>
          </a:prstGeom>
          <a:noFill/>
          <a:ln w="19050">
            <a:solidFill>
              <a:schemeClr val="tx2"/>
            </a:solidFill>
            <a:prstDash val="solid"/>
            <a:tailEnd type="triangle"/>
          </a:ln>
        </p:spPr>
      </p:sp>
      <p:sp>
        <p:nvSpPr>
          <p:cNvPr id="26" name="layer-2"/>
          <p:cNvSpPr/>
          <p:nvPr/>
        </p:nvSpPr>
        <p:spPr>
          <a:xfrm>
            <a:off x="548640" y="3886200"/>
            <a:ext cx="11094415" cy="914400"/>
          </a:xfrm>
          <a:prstGeom prst="roundRect">
            <a:avLst>
              <a:gd name="adj" fmla="val 10000"/>
            </a:avLst>
          </a:prstGeom>
          <a:solidFill>
            <a:schemeClr val="bg1"/>
          </a:solidFill>
          <a:ln w="6350">
            <a:solidFill>
              <a:schemeClr val="tx2">
                <a:alpha val="30000"/>
              </a:schemeClr>
            </a:solidFill>
            <a:prstDash val="solid"/>
          </a:ln>
        </p:spPr>
      </p:sp>
      <p:sp>
        <p:nvSpPr>
          <p:cNvPr id="27" name="layer-2-label"/>
          <p:cNvSpPr txBox="1"/>
          <p:nvPr/>
        </p:nvSpPr>
        <p:spPr>
          <a:xfrm>
            <a:off x="731520" y="397764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Data</a:t>
            </a:r>
            <a:endParaRPr lang="en-US" sz="1400" dirty="0"/>
          </a:p>
          <a:p>
            <a:pPr indent="0" marL="0">
              <a:buNone/>
            </a:pPr>
            <a:r>
              <a:rPr lang="en-US" sz="1100" dirty="0">
                <a:solidFill>
                  <a:schemeClr val="tx2"/>
                </a:solidFill>
              </a:rPr>
              <a:t>Neon</a:t>
            </a:r>
            <a:endParaRPr lang="en-US" sz="1400" dirty="0"/>
          </a:p>
        </p:txBody>
      </p:sp>
      <p:sp>
        <p:nvSpPr>
          <p:cNvPr id="28" name="comp-113"/>
          <p:cNvSpPr/>
          <p:nvPr/>
        </p:nvSpPr>
        <p:spPr>
          <a:xfrm>
            <a:off x="2423160" y="3986784"/>
            <a:ext cx="4491076" cy="713232"/>
          </a:xfrm>
          <a:prstGeom prst="roundRect">
            <a:avLst>
              <a:gd name="adj" fmla="val 8974"/>
            </a:avLst>
          </a:prstGeom>
          <a:solidFill>
            <a:schemeClr val="bg2"/>
          </a:solidFill>
          <a:ln/>
        </p:spPr>
      </p:sp>
      <p:sp>
        <p:nvSpPr>
          <p:cNvPr id="29" name="comp-text-114"/>
          <p:cNvSpPr txBox="1"/>
          <p:nvPr/>
        </p:nvSpPr>
        <p:spPr>
          <a:xfrm>
            <a:off x="2551176" y="4041648"/>
            <a:ext cx="4235044" cy="603504"/>
          </a:xfrm>
          <a:prstGeom prst="rect">
            <a:avLst/>
          </a:prstGeom>
          <a:noFill/>
          <a:ln/>
        </p:spPr>
        <p:txBody>
          <a:bodyPr wrap="square" lIns="0" tIns="0" rIns="0" bIns="0" rtlCol="0" anchor="ctr"/>
          <a:lstStyle/>
          <a:p>
            <a:pPr indent="0" marL="0">
              <a:buNone/>
            </a:pPr>
            <a:r>
              <a:rPr lang="en-US" sz="1300" b="1" dirty="0">
                <a:solidFill>
                  <a:schemeClr val="tx1"/>
                </a:solidFill>
              </a:rPr>
              <a:t>Postgres + pgvector</a:t>
            </a:r>
            <a:endParaRPr lang="en-US" sz="1300" dirty="0"/>
          </a:p>
          <a:p>
            <a:pPr indent="0" marL="0">
              <a:buNone/>
            </a:pPr>
            <a:r>
              <a:rPr lang="en-US" sz="1100" dirty="0">
                <a:solidFill>
                  <a:schemeClr val="tx2"/>
                </a:solidFill>
              </a:rPr>
              <a:t>cases, evidence, trace</a:t>
            </a:r>
            <a:endParaRPr lang="en-US" sz="1300" dirty="0"/>
          </a:p>
        </p:txBody>
      </p:sp>
      <p:sp>
        <p:nvSpPr>
          <p:cNvPr id="30" name="comp-115"/>
          <p:cNvSpPr/>
          <p:nvPr/>
        </p:nvSpPr>
        <p:spPr>
          <a:xfrm>
            <a:off x="7042252" y="3986784"/>
            <a:ext cx="4491076" cy="713232"/>
          </a:xfrm>
          <a:prstGeom prst="roundRect">
            <a:avLst>
              <a:gd name="adj" fmla="val 8974"/>
            </a:avLst>
          </a:prstGeom>
          <a:solidFill>
            <a:schemeClr val="bg2"/>
          </a:solidFill>
          <a:ln/>
        </p:spPr>
      </p:sp>
      <p:sp>
        <p:nvSpPr>
          <p:cNvPr id="31" name="comp-text-116"/>
          <p:cNvSpPr txBox="1"/>
          <p:nvPr/>
        </p:nvSpPr>
        <p:spPr>
          <a:xfrm>
            <a:off x="7170268" y="4041648"/>
            <a:ext cx="4235044" cy="603504"/>
          </a:xfrm>
          <a:prstGeom prst="rect">
            <a:avLst/>
          </a:prstGeom>
          <a:noFill/>
          <a:ln/>
        </p:spPr>
        <p:txBody>
          <a:bodyPr wrap="square" lIns="0" tIns="0" rIns="0" bIns="0" rtlCol="0" anchor="ctr"/>
          <a:lstStyle/>
          <a:p>
            <a:pPr indent="0" marL="0">
              <a:buNone/>
            </a:pPr>
            <a:r>
              <a:rPr lang="en-US" sz="1300" b="1" dirty="0">
                <a:solidFill>
                  <a:schemeClr val="tx1"/>
                </a:solidFill>
              </a:rPr>
              <a:t>Object storage</a:t>
            </a:r>
            <a:endParaRPr lang="en-US" sz="1300" dirty="0"/>
          </a:p>
          <a:p>
            <a:pPr indent="0" marL="0">
              <a:buNone/>
            </a:pPr>
            <a:r>
              <a:rPr lang="en-US" sz="1100" dirty="0">
                <a:solidFill>
                  <a:schemeClr val="tx2"/>
                </a:solidFill>
              </a:rPr>
              <a:t>evidence photos</a:t>
            </a:r>
            <a:endParaRPr lang="en-US" sz="1300" dirty="0"/>
          </a:p>
        </p:txBody>
      </p:sp>
      <p:sp>
        <p:nvSpPr>
          <p:cNvPr id="32" name="arrow-117"/>
          <p:cNvSpPr/>
          <p:nvPr/>
        </p:nvSpPr>
        <p:spPr>
          <a:xfrm>
            <a:off x="6978244" y="4800600"/>
            <a:ext cx="0" cy="182880"/>
          </a:xfrm>
          <a:prstGeom prst="line">
            <a:avLst/>
          </a:prstGeom>
          <a:noFill/>
          <a:ln w="19050">
            <a:solidFill>
              <a:schemeClr val="tx2"/>
            </a:solidFill>
            <a:prstDash val="solid"/>
            <a:tailEnd type="triangle"/>
          </a:ln>
        </p:spPr>
      </p:sp>
      <p:sp>
        <p:nvSpPr>
          <p:cNvPr id="33" name="layer-3"/>
          <p:cNvSpPr/>
          <p:nvPr/>
        </p:nvSpPr>
        <p:spPr>
          <a:xfrm>
            <a:off x="548640" y="4983480"/>
            <a:ext cx="11094415" cy="914400"/>
          </a:xfrm>
          <a:prstGeom prst="roundRect">
            <a:avLst>
              <a:gd name="adj" fmla="val 10000"/>
            </a:avLst>
          </a:prstGeom>
          <a:solidFill>
            <a:schemeClr val="bg1"/>
          </a:solidFill>
          <a:ln w="6350">
            <a:solidFill>
              <a:schemeClr val="tx2">
                <a:alpha val="30000"/>
              </a:schemeClr>
            </a:solidFill>
            <a:prstDash val="solid"/>
          </a:ln>
        </p:spPr>
      </p:sp>
      <p:sp>
        <p:nvSpPr>
          <p:cNvPr id="34" name="layer-3-label"/>
          <p:cNvSpPr txBox="1"/>
          <p:nvPr/>
        </p:nvSpPr>
        <p:spPr>
          <a:xfrm>
            <a:off x="731520" y="5074920"/>
            <a:ext cx="1554480" cy="731520"/>
          </a:xfrm>
          <a:prstGeom prst="rect">
            <a:avLst/>
          </a:prstGeom>
          <a:noFill/>
          <a:ln/>
        </p:spPr>
        <p:txBody>
          <a:bodyPr wrap="square" lIns="0" tIns="0" rIns="0" bIns="0" rtlCol="0" anchor="ctr"/>
          <a:lstStyle/>
          <a:p>
            <a:pPr indent="0" marL="0">
              <a:buNone/>
            </a:pPr>
            <a:r>
              <a:rPr lang="en-US" sz="1400" b="1" dirty="0">
                <a:solidFill>
                  <a:schemeClr val="tx1"/>
                </a:solidFill>
              </a:rPr>
              <a:t>Services</a:t>
            </a:r>
            <a:endParaRPr lang="en-US" sz="1400" dirty="0"/>
          </a:p>
          <a:p>
            <a:pPr indent="0" marL="0">
              <a:buNone/>
            </a:pPr>
            <a:r>
              <a:rPr lang="en-US" sz="1100" dirty="0">
                <a:solidFill>
                  <a:schemeClr val="tx2"/>
                </a:solidFill>
              </a:rPr>
              <a:t>external</a:t>
            </a:r>
            <a:endParaRPr lang="en-US" sz="1400" dirty="0"/>
          </a:p>
        </p:txBody>
      </p:sp>
      <p:sp>
        <p:nvSpPr>
          <p:cNvPr id="35" name="comp-118"/>
          <p:cNvSpPr/>
          <p:nvPr/>
        </p:nvSpPr>
        <p:spPr>
          <a:xfrm>
            <a:off x="2423160" y="5084064"/>
            <a:ext cx="2951378" cy="713232"/>
          </a:xfrm>
          <a:prstGeom prst="roundRect">
            <a:avLst>
              <a:gd name="adj" fmla="val 8974"/>
            </a:avLst>
          </a:prstGeom>
          <a:solidFill>
            <a:schemeClr val="bg2"/>
          </a:solidFill>
          <a:ln/>
        </p:spPr>
      </p:sp>
      <p:sp>
        <p:nvSpPr>
          <p:cNvPr id="36" name="comp-text-119"/>
          <p:cNvSpPr txBox="1"/>
          <p:nvPr/>
        </p:nvSpPr>
        <p:spPr>
          <a:xfrm>
            <a:off x="2551176" y="5138928"/>
            <a:ext cx="2695346" cy="603504"/>
          </a:xfrm>
          <a:prstGeom prst="rect">
            <a:avLst/>
          </a:prstGeom>
          <a:noFill/>
          <a:ln/>
        </p:spPr>
        <p:txBody>
          <a:bodyPr wrap="square" lIns="0" tIns="0" rIns="0" bIns="0" rtlCol="0" anchor="ctr"/>
          <a:lstStyle/>
          <a:p>
            <a:pPr indent="0" marL="0">
              <a:buNone/>
            </a:pPr>
            <a:r>
              <a:rPr lang="en-US" sz="1300" b="1" dirty="0">
                <a:solidFill>
                  <a:schemeClr val="tx1"/>
                </a:solidFill>
              </a:rPr>
              <a:t>DeepInfra</a:t>
            </a:r>
            <a:endParaRPr lang="en-US" sz="1300" dirty="0"/>
          </a:p>
          <a:p>
            <a:pPr indent="0" marL="0">
              <a:buNone/>
            </a:pPr>
            <a:r>
              <a:rPr lang="en-US" sz="1100" dirty="0">
                <a:solidFill>
                  <a:schemeClr val="tx2"/>
                </a:solidFill>
              </a:rPr>
              <a:t>Qwen3-235B, Gemma 4</a:t>
            </a:r>
            <a:endParaRPr lang="en-US" sz="1300" dirty="0"/>
          </a:p>
        </p:txBody>
      </p:sp>
      <p:sp>
        <p:nvSpPr>
          <p:cNvPr id="37" name="comp-120"/>
          <p:cNvSpPr/>
          <p:nvPr/>
        </p:nvSpPr>
        <p:spPr>
          <a:xfrm>
            <a:off x="5502554" y="5084064"/>
            <a:ext cx="2951378" cy="713232"/>
          </a:xfrm>
          <a:prstGeom prst="roundRect">
            <a:avLst>
              <a:gd name="adj" fmla="val 8974"/>
            </a:avLst>
          </a:prstGeom>
          <a:solidFill>
            <a:schemeClr val="bg2"/>
          </a:solidFill>
          <a:ln/>
        </p:spPr>
      </p:sp>
      <p:sp>
        <p:nvSpPr>
          <p:cNvPr id="38" name="comp-text-121"/>
          <p:cNvSpPr txBox="1"/>
          <p:nvPr/>
        </p:nvSpPr>
        <p:spPr>
          <a:xfrm>
            <a:off x="5630570" y="5138928"/>
            <a:ext cx="2695346" cy="603504"/>
          </a:xfrm>
          <a:prstGeom prst="rect">
            <a:avLst/>
          </a:prstGeom>
          <a:noFill/>
          <a:ln/>
        </p:spPr>
        <p:txBody>
          <a:bodyPr wrap="square" lIns="0" tIns="0" rIns="0" bIns="0" rtlCol="0" anchor="ctr"/>
          <a:lstStyle/>
          <a:p>
            <a:pPr indent="0" marL="0">
              <a:buNone/>
            </a:pPr>
            <a:r>
              <a:rPr lang="en-US" sz="1300" b="1" dirty="0">
                <a:solidFill>
                  <a:schemeClr val="tx1"/>
                </a:solidFill>
              </a:rPr>
              <a:t>Logfire</a:t>
            </a:r>
            <a:endParaRPr lang="en-US" sz="1300" dirty="0"/>
          </a:p>
          <a:p>
            <a:pPr indent="0" marL="0">
              <a:buNone/>
            </a:pPr>
            <a:r>
              <a:rPr lang="en-US" sz="1100" dirty="0">
                <a:solidFill>
                  <a:schemeClr val="tx2"/>
                </a:solidFill>
              </a:rPr>
              <a:t>traces every agent run</a:t>
            </a:r>
            <a:endParaRPr lang="en-US" sz="1300" dirty="0"/>
          </a:p>
        </p:txBody>
      </p:sp>
      <p:sp>
        <p:nvSpPr>
          <p:cNvPr id="39" name="comp-122"/>
          <p:cNvSpPr/>
          <p:nvPr/>
        </p:nvSpPr>
        <p:spPr>
          <a:xfrm>
            <a:off x="8581949" y="5084064"/>
            <a:ext cx="2951378" cy="713232"/>
          </a:xfrm>
          <a:prstGeom prst="roundRect">
            <a:avLst>
              <a:gd name="adj" fmla="val 8974"/>
            </a:avLst>
          </a:prstGeom>
          <a:solidFill>
            <a:schemeClr val="bg2"/>
          </a:solidFill>
          <a:ln/>
        </p:spPr>
      </p:sp>
      <p:sp>
        <p:nvSpPr>
          <p:cNvPr id="40" name="comp-text-123"/>
          <p:cNvSpPr txBox="1"/>
          <p:nvPr/>
        </p:nvSpPr>
        <p:spPr>
          <a:xfrm>
            <a:off x="8709965" y="5138928"/>
            <a:ext cx="2695346" cy="603504"/>
          </a:xfrm>
          <a:prstGeom prst="rect">
            <a:avLst/>
          </a:prstGeom>
          <a:noFill/>
          <a:ln/>
        </p:spPr>
        <p:txBody>
          <a:bodyPr wrap="square" lIns="0" tIns="0" rIns="0" bIns="0" rtlCol="0" anchor="ctr"/>
          <a:lstStyle/>
          <a:p>
            <a:pPr indent="0" marL="0">
              <a:buNone/>
            </a:pPr>
            <a:r>
              <a:rPr lang="en-US" sz="1300" b="1" dirty="0">
                <a:solidFill>
                  <a:schemeClr val="tx1"/>
                </a:solidFill>
              </a:rPr>
              <a:t>OneMap</a:t>
            </a:r>
            <a:endParaRPr lang="en-US" sz="1300" dirty="0"/>
          </a:p>
          <a:p>
            <a:pPr indent="0" marL="0">
              <a:buNone/>
            </a:pPr>
            <a:r>
              <a:rPr lang="en-US" sz="1100" dirty="0">
                <a:solidFill>
                  <a:schemeClr val="tx2"/>
                </a:solidFill>
              </a:rPr>
              <a:t>real Singapore routes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t"/>
          <a:lstStyle/>
          <a:p>
            <a:pPr algn="l" indent="0" marL="0">
              <a:buNone/>
            </a:pPr>
            <a:r>
              <a:rPr lang="en-US" sz="3200" b="1" dirty="0">
                <a:solidFill>
                  <a:schemeClr val="tx1"/>
                </a:solidFill>
              </a:rPr>
              <a:t>Results</a:t>
            </a:r>
            <a:endParaRPr lang="en-US" sz="3200" dirty="0"/>
          </a:p>
        </p:txBody>
      </p:sp>
      <p:sp>
        <p:nvSpPr>
          <p:cNvPr id="3" name="Text 1"/>
          <p:cNvSpPr/>
          <p:nvPr>
            <p:ph idx="102" type="body" hasCustomPrompt="1"/>
          </p:nvPr>
        </p:nvSpPr>
        <p:spPr>
          <a:xfrm>
            <a:off x="548640" y="1024128"/>
            <a:ext cx="11094415" cy="411480"/>
          </a:xfrm>
          <a:prstGeom prst="rect">
            <a:avLst/>
          </a:prstGeom>
          <a:noFill/>
          <a:ln/>
        </p:spPr>
        <p:txBody>
          <a:bodyPr wrap="square" lIns="0" tIns="0" rIns="0" bIns="0" rtlCol="0" anchor="t"/>
          <a:lstStyle/>
          <a:p>
            <a:pPr indent="0" marL="0">
              <a:buNone/>
            </a:pPr>
            <a:r>
              <a:rPr lang="en-US" sz="1500" dirty="0">
                <a:solidFill>
                  <a:schemeClr val="tx2"/>
                </a:solidFill>
              </a:rPr>
              <a:t>22 labelled test cases, each run through the full pipeline with real model calls.</a:t>
            </a:r>
            <a:endParaRPr lang="en-US" sz="1500" dirty="0"/>
          </a:p>
        </p:txBody>
      </p:sp>
      <p:sp>
        <p:nvSpPr>
          <p:cNvPr id="4" name="hero-card"/>
          <p:cNvSpPr/>
          <p:nvPr/>
        </p:nvSpPr>
        <p:spPr>
          <a:xfrm>
            <a:off x="548640" y="1783080"/>
            <a:ext cx="4206240" cy="4069080"/>
          </a:xfrm>
          <a:prstGeom prst="roundRect">
            <a:avLst>
              <a:gd name="adj" fmla="val 3146"/>
            </a:avLst>
          </a:prstGeom>
          <a:solidFill>
            <a:schemeClr val="tx1"/>
          </a:solidFill>
          <a:ln/>
        </p:spPr>
      </p:sp>
      <p:sp>
        <p:nvSpPr>
          <p:cNvPr id="5" name="hero-value"/>
          <p:cNvSpPr txBox="1"/>
          <p:nvPr/>
        </p:nvSpPr>
        <p:spPr>
          <a:xfrm>
            <a:off x="914400" y="2240280"/>
            <a:ext cx="3474720" cy="1554480"/>
          </a:xfrm>
          <a:prstGeom prst="rect">
            <a:avLst/>
          </a:prstGeom>
          <a:noFill/>
          <a:ln/>
        </p:spPr>
        <p:txBody>
          <a:bodyPr wrap="square" lIns="0" tIns="0" rIns="0" bIns="0" rtlCol="0" anchor="ctr"/>
          <a:lstStyle/>
          <a:p>
            <a:pPr indent="0" marL="0">
              <a:buNone/>
            </a:pPr>
            <a:r>
              <a:rPr lang="en-US" sz="9600" b="1" dirty="0">
                <a:solidFill>
                  <a:schemeClr val="bg1"/>
                </a:solidFill>
              </a:rPr>
              <a:t>22/22</a:t>
            </a:r>
            <a:endParaRPr lang="en-US" sz="9600" dirty="0"/>
          </a:p>
        </p:txBody>
      </p:sp>
      <p:sp>
        <p:nvSpPr>
          <p:cNvPr id="6" name="hero-label"/>
          <p:cNvSpPr txBox="1"/>
          <p:nvPr/>
        </p:nvSpPr>
        <p:spPr>
          <a:xfrm>
            <a:off x="914400" y="3977640"/>
            <a:ext cx="3474720" cy="1463040"/>
          </a:xfrm>
          <a:prstGeom prst="rect">
            <a:avLst/>
          </a:prstGeom>
          <a:noFill/>
          <a:ln/>
        </p:spPr>
        <p:txBody>
          <a:bodyPr wrap="square" lIns="0" tIns="0" rIns="0" bIns="0" rtlCol="0" anchor="t"/>
          <a:lstStyle/>
          <a:p>
            <a:pPr indent="0" marL="0">
              <a:buNone/>
            </a:pPr>
            <a:r>
              <a:rPr lang="en-US" sz="2200" b="1" dirty="0">
                <a:solidFill>
                  <a:schemeClr val="bg1"/>
                </a:solidFill>
              </a:rPr>
              <a:t>verdicts correct</a:t>
            </a:r>
            <a:endParaRPr lang="en-US" sz="2200" dirty="0"/>
          </a:p>
          <a:p>
            <a:pPr indent="0" marL="0">
              <a:buNone/>
            </a:pPr>
            <a:r>
              <a:rPr lang="en-US" sz="1400" dirty="0">
                <a:solidFill>
                  <a:schemeClr val="bg2"/>
                </a:solidFill>
              </a:rPr>
              <a:t>Outcome, remedy and exact amount all match the label, across every category.</a:t>
            </a:r>
            <a:endParaRPr lang="en-US" sz="2200" dirty="0"/>
          </a:p>
        </p:txBody>
      </p:sp>
      <p:sp>
        <p:nvSpPr>
          <p:cNvPr id="7" name="stat-0"/>
          <p:cNvSpPr/>
          <p:nvPr/>
        </p:nvSpPr>
        <p:spPr>
          <a:xfrm>
            <a:off x="5074920" y="1783080"/>
            <a:ext cx="3124048" cy="1874520"/>
          </a:xfrm>
          <a:prstGeom prst="roundRect">
            <a:avLst>
              <a:gd name="adj" fmla="val 5854"/>
            </a:avLst>
          </a:prstGeom>
          <a:solidFill>
            <a:schemeClr val="bg1"/>
          </a:solidFill>
          <a:ln/>
          <a:effectLst>
            <a:outerShdw sx="100000" sy="100000" kx="0" ky="0" algn="bl" rotWithShape="0" blurRad="101600" dist="25400" dir="5400000">
              <a:srgbClr val="000000">
                <a:alpha val="8000"/>
              </a:srgbClr>
            </a:outerShdw>
          </a:effectLst>
        </p:spPr>
      </p:sp>
      <p:sp>
        <p:nvSpPr>
          <p:cNvPr id="8" name="stat-0-value"/>
          <p:cNvSpPr txBox="1"/>
          <p:nvPr/>
        </p:nvSpPr>
        <p:spPr>
          <a:xfrm>
            <a:off x="5394960" y="2057400"/>
            <a:ext cx="2483968" cy="777240"/>
          </a:xfrm>
          <a:prstGeom prst="rect">
            <a:avLst/>
          </a:prstGeom>
          <a:noFill/>
          <a:ln/>
        </p:spPr>
        <p:txBody>
          <a:bodyPr wrap="square" lIns="0" tIns="0" rIns="0" bIns="0" rtlCol="0" anchor="ctr"/>
          <a:lstStyle/>
          <a:p>
            <a:pPr indent="0" marL="0">
              <a:buNone/>
            </a:pPr>
            <a:r>
              <a:rPr lang="en-US" sz="4000" b="1" dirty="0">
                <a:solidFill>
                  <a:schemeClr val="tx1"/>
                </a:solidFill>
              </a:rPr>
              <a:t>13 of 22</a:t>
            </a:r>
            <a:endParaRPr lang="en-US" sz="4000" dirty="0"/>
          </a:p>
        </p:txBody>
      </p:sp>
      <p:sp>
        <p:nvSpPr>
          <p:cNvPr id="9" name="stat-0-label"/>
          <p:cNvSpPr txBox="1"/>
          <p:nvPr/>
        </p:nvSpPr>
        <p:spPr>
          <a:xfrm>
            <a:off x="5394960" y="2880360"/>
            <a:ext cx="2483968" cy="640080"/>
          </a:xfrm>
          <a:prstGeom prst="rect">
            <a:avLst/>
          </a:prstGeom>
          <a:noFill/>
          <a:ln/>
        </p:spPr>
        <p:txBody>
          <a:bodyPr wrap="square" lIns="0" tIns="0" rIns="0" bIns="0" rtlCol="0" anchor="t"/>
          <a:lstStyle/>
          <a:p>
            <a:pPr indent="0" marL="0">
              <a:buNone/>
            </a:pPr>
            <a:r>
              <a:rPr lang="en-US" sz="1500" b="1" dirty="0">
                <a:solidFill>
                  <a:schemeClr val="tx1"/>
                </a:solidFill>
              </a:rPr>
              <a:t>decided with no person</a:t>
            </a:r>
            <a:endParaRPr lang="en-US" sz="1500" dirty="0"/>
          </a:p>
          <a:p>
            <a:pPr indent="0" marL="0">
              <a:buNone/>
            </a:pPr>
            <a:r>
              <a:rPr lang="en-US" sz="1250" dirty="0">
                <a:solidFill>
                  <a:schemeClr val="tx2"/>
                </a:solidFill>
              </a:rPr>
              <a:t>the other 9 went to a person, as the rules require</a:t>
            </a:r>
            <a:endParaRPr lang="en-US" sz="1500" dirty="0"/>
          </a:p>
        </p:txBody>
      </p:sp>
      <p:sp>
        <p:nvSpPr>
          <p:cNvPr id="10" name="stat-1"/>
          <p:cNvSpPr/>
          <p:nvPr/>
        </p:nvSpPr>
        <p:spPr>
          <a:xfrm>
            <a:off x="8519008" y="1783080"/>
            <a:ext cx="3124048" cy="1874520"/>
          </a:xfrm>
          <a:prstGeom prst="roundRect">
            <a:avLst>
              <a:gd name="adj" fmla="val 5854"/>
            </a:avLst>
          </a:prstGeom>
          <a:solidFill>
            <a:schemeClr val="bg1"/>
          </a:solidFill>
          <a:ln/>
          <a:effectLst>
            <a:outerShdw sx="100000" sy="100000" kx="0" ky="0" algn="bl" rotWithShape="0" blurRad="101600" dist="25400" dir="5400000">
              <a:srgbClr val="000000">
                <a:alpha val="8000"/>
              </a:srgbClr>
            </a:outerShdw>
          </a:effectLst>
        </p:spPr>
      </p:sp>
      <p:sp>
        <p:nvSpPr>
          <p:cNvPr id="11" name="stat-1-value"/>
          <p:cNvSpPr txBox="1"/>
          <p:nvPr/>
        </p:nvSpPr>
        <p:spPr>
          <a:xfrm>
            <a:off x="8839048" y="2057400"/>
            <a:ext cx="2483968" cy="777240"/>
          </a:xfrm>
          <a:prstGeom prst="rect">
            <a:avLst/>
          </a:prstGeom>
          <a:noFill/>
          <a:ln/>
        </p:spPr>
        <p:txBody>
          <a:bodyPr wrap="square" lIns="0" tIns="0" rIns="0" bIns="0" rtlCol="0" anchor="ctr"/>
          <a:lstStyle/>
          <a:p>
            <a:pPr indent="0" marL="0">
              <a:buNone/>
            </a:pPr>
            <a:r>
              <a:rPr lang="en-US" sz="4000" b="1" dirty="0">
                <a:solidFill>
                  <a:schemeClr val="tx1"/>
                </a:solidFill>
              </a:rPr>
              <a:t>100%</a:t>
            </a:r>
            <a:endParaRPr lang="en-US" sz="4000" dirty="0"/>
          </a:p>
        </p:txBody>
      </p:sp>
      <p:sp>
        <p:nvSpPr>
          <p:cNvPr id="12" name="stat-1-label"/>
          <p:cNvSpPr txBox="1"/>
          <p:nvPr/>
        </p:nvSpPr>
        <p:spPr>
          <a:xfrm>
            <a:off x="8839048" y="2880360"/>
            <a:ext cx="2483968" cy="640080"/>
          </a:xfrm>
          <a:prstGeom prst="rect">
            <a:avLst/>
          </a:prstGeom>
          <a:noFill/>
          <a:ln/>
        </p:spPr>
        <p:txBody>
          <a:bodyPr wrap="square" lIns="0" tIns="0" rIns="0" bIns="0" rtlCol="0" anchor="t"/>
          <a:lstStyle/>
          <a:p>
            <a:pPr indent="0" marL="0">
              <a:buNone/>
            </a:pPr>
            <a:r>
              <a:rPr lang="en-US" sz="1500" b="1" dirty="0">
                <a:solidFill>
                  <a:schemeClr val="tx1"/>
                </a:solidFill>
              </a:rPr>
              <a:t>safety reports to a person</a:t>
            </a:r>
            <a:endParaRPr lang="en-US" sz="1500" dirty="0"/>
          </a:p>
          <a:p>
            <a:pPr indent="0" marL="0">
              <a:buNone/>
            </a:pPr>
            <a:r>
              <a:rPr lang="en-US" sz="1250" dirty="0">
                <a:solidFill>
                  <a:schemeClr val="tx2"/>
                </a:solidFill>
              </a:rPr>
              <a:t>no AI ever decides one</a:t>
            </a:r>
            <a:endParaRPr lang="en-US" sz="1500" dirty="0"/>
          </a:p>
        </p:txBody>
      </p:sp>
      <p:sp>
        <p:nvSpPr>
          <p:cNvPr id="13" name="stat-2"/>
          <p:cNvSpPr/>
          <p:nvPr/>
        </p:nvSpPr>
        <p:spPr>
          <a:xfrm>
            <a:off x="5074920" y="3977640"/>
            <a:ext cx="3124048" cy="1874520"/>
          </a:xfrm>
          <a:prstGeom prst="roundRect">
            <a:avLst>
              <a:gd name="adj" fmla="val 5854"/>
            </a:avLst>
          </a:prstGeom>
          <a:solidFill>
            <a:schemeClr val="bg1"/>
          </a:solidFill>
          <a:ln/>
          <a:effectLst>
            <a:outerShdw sx="100000" sy="100000" kx="0" ky="0" algn="bl" rotWithShape="0" blurRad="101600" dist="25400" dir="5400000">
              <a:srgbClr val="000000">
                <a:alpha val="8000"/>
              </a:srgbClr>
            </a:outerShdw>
          </a:effectLst>
        </p:spPr>
      </p:sp>
      <p:sp>
        <p:nvSpPr>
          <p:cNvPr id="14" name="stat-2-value"/>
          <p:cNvSpPr txBox="1"/>
          <p:nvPr/>
        </p:nvSpPr>
        <p:spPr>
          <a:xfrm>
            <a:off x="5394960" y="4251960"/>
            <a:ext cx="2483968" cy="777240"/>
          </a:xfrm>
          <a:prstGeom prst="rect">
            <a:avLst/>
          </a:prstGeom>
          <a:noFill/>
          <a:ln/>
        </p:spPr>
        <p:txBody>
          <a:bodyPr wrap="square" lIns="0" tIns="0" rIns="0" bIns="0" rtlCol="0" anchor="ctr"/>
          <a:lstStyle/>
          <a:p>
            <a:pPr indent="0" marL="0">
              <a:buNone/>
            </a:pPr>
            <a:r>
              <a:rPr lang="en-US" sz="4000" b="1" dirty="0">
                <a:solidFill>
                  <a:schemeClr val="tx1"/>
                </a:solidFill>
              </a:rPr>
              <a:t>$0.012</a:t>
            </a:r>
            <a:endParaRPr lang="en-US" sz="4000" dirty="0"/>
          </a:p>
        </p:txBody>
      </p:sp>
      <p:sp>
        <p:nvSpPr>
          <p:cNvPr id="15" name="stat-2-label"/>
          <p:cNvSpPr txBox="1"/>
          <p:nvPr/>
        </p:nvSpPr>
        <p:spPr>
          <a:xfrm>
            <a:off x="5394960" y="5074920"/>
            <a:ext cx="2483968" cy="640080"/>
          </a:xfrm>
          <a:prstGeom prst="rect">
            <a:avLst/>
          </a:prstGeom>
          <a:noFill/>
          <a:ln/>
        </p:spPr>
        <p:txBody>
          <a:bodyPr wrap="square" lIns="0" tIns="0" rIns="0" bIns="0" rtlCol="0" anchor="t"/>
          <a:lstStyle/>
          <a:p>
            <a:pPr indent="0" marL="0">
              <a:buNone/>
            </a:pPr>
            <a:r>
              <a:rPr lang="en-US" sz="1500" b="1" dirty="0">
                <a:solidFill>
                  <a:schemeClr val="tx1"/>
                </a:solidFill>
              </a:rPr>
              <a:t>model cost per case</a:t>
            </a:r>
            <a:endParaRPr lang="en-US" sz="1500" dirty="0"/>
          </a:p>
          <a:p>
            <a:pPr indent="0" marL="0">
              <a:buNone/>
            </a:pPr>
            <a:r>
              <a:rPr lang="en-US" sz="1250" dirty="0">
                <a:solidFill>
                  <a:schemeClr val="tx2"/>
                </a:solidFill>
              </a:rPr>
              <a:t>about 124K input and 2.3K output tokens</a:t>
            </a:r>
            <a:endParaRPr lang="en-US" sz="1500" dirty="0"/>
          </a:p>
        </p:txBody>
      </p:sp>
      <p:sp>
        <p:nvSpPr>
          <p:cNvPr id="16" name="stat-3"/>
          <p:cNvSpPr/>
          <p:nvPr/>
        </p:nvSpPr>
        <p:spPr>
          <a:xfrm>
            <a:off x="8519008" y="3977640"/>
            <a:ext cx="3124048" cy="1874520"/>
          </a:xfrm>
          <a:prstGeom prst="roundRect">
            <a:avLst>
              <a:gd name="adj" fmla="val 5854"/>
            </a:avLst>
          </a:prstGeom>
          <a:solidFill>
            <a:schemeClr val="bg1"/>
          </a:solidFill>
          <a:ln/>
          <a:effectLst>
            <a:outerShdw sx="100000" sy="100000" kx="0" ky="0" algn="bl" rotWithShape="0" blurRad="101600" dist="25400" dir="5400000">
              <a:srgbClr val="000000">
                <a:alpha val="8000"/>
              </a:srgbClr>
            </a:outerShdw>
          </a:effectLst>
        </p:spPr>
      </p:sp>
      <p:sp>
        <p:nvSpPr>
          <p:cNvPr id="17" name="stat-3-value"/>
          <p:cNvSpPr txBox="1"/>
          <p:nvPr/>
        </p:nvSpPr>
        <p:spPr>
          <a:xfrm>
            <a:off x="8839048" y="4251960"/>
            <a:ext cx="2483968" cy="777240"/>
          </a:xfrm>
          <a:prstGeom prst="rect">
            <a:avLst/>
          </a:prstGeom>
          <a:noFill/>
          <a:ln/>
        </p:spPr>
        <p:txBody>
          <a:bodyPr wrap="square" lIns="0" tIns="0" rIns="0" bIns="0" rtlCol="0" anchor="ctr"/>
          <a:lstStyle/>
          <a:p>
            <a:pPr indent="0" marL="0">
              <a:buNone/>
            </a:pPr>
            <a:r>
              <a:rPr lang="en-US" sz="4000" b="1" dirty="0">
                <a:solidFill>
                  <a:schemeClr val="tx1"/>
                </a:solidFill>
              </a:rPr>
              <a:t>3.4 min</a:t>
            </a:r>
            <a:endParaRPr lang="en-US" sz="4000" dirty="0"/>
          </a:p>
        </p:txBody>
      </p:sp>
      <p:sp>
        <p:nvSpPr>
          <p:cNvPr id="18" name="stat-3-label"/>
          <p:cNvSpPr txBox="1"/>
          <p:nvPr/>
        </p:nvSpPr>
        <p:spPr>
          <a:xfrm>
            <a:off x="8839048" y="5074920"/>
            <a:ext cx="2483968" cy="640080"/>
          </a:xfrm>
          <a:prstGeom prst="rect">
            <a:avLst/>
          </a:prstGeom>
          <a:noFill/>
          <a:ln/>
        </p:spPr>
        <p:txBody>
          <a:bodyPr wrap="square" lIns="0" tIns="0" rIns="0" bIns="0" rtlCol="0" anchor="t"/>
          <a:lstStyle/>
          <a:p>
            <a:pPr indent="0" marL="0">
              <a:buNone/>
            </a:pPr>
            <a:r>
              <a:rPr lang="en-US" sz="1500" b="1" dirty="0">
                <a:solidFill>
                  <a:schemeClr val="tx1"/>
                </a:solidFill>
              </a:rPr>
              <a:t>report to outcome</a:t>
            </a:r>
            <a:endParaRPr lang="en-US" sz="1500" dirty="0"/>
          </a:p>
          <a:p>
            <a:pPr indent="0" marL="0">
              <a:buNone/>
            </a:pPr>
            <a:r>
              <a:rPr lang="en-US" sz="1250" dirty="0">
                <a:solidFill>
                  <a:schemeClr val="tx2"/>
                </a:solidFill>
              </a:rPr>
              <a:t>median per case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RydeResolve">
  <a:themeElements>
    <a:clrScheme name="RydeResolve">
      <a:dk1>
        <a:srgbClr val="1D1D1F"/>
      </a:dk1>
      <a:lt1>
        <a:srgbClr val="FFFFFF"/>
      </a:lt1>
      <a:dk2>
        <a:srgbClr val="424245"/>
      </a:dk2>
      <a:lt2>
        <a:srgbClr val="F5F5F7"/>
      </a:lt2>
      <a:accent1>
        <a:srgbClr val="6E4FD8"/>
      </a:accent1>
      <a:accent2>
        <a:srgbClr val="087A8C"/>
      </a:accent2>
      <a:accent3>
        <a:srgbClr val="1D7F3A"/>
      </a:accent3>
      <a:accent4>
        <a:srgbClr val="A85400"/>
      </a:accent4>
      <a:accent5>
        <a:srgbClr val="C8102E"/>
      </a:accent5>
      <a:accent6>
        <a:srgbClr val="0066CC"/>
      </a:accent6>
      <a:hlink>
        <a:srgbClr val="0066CC"/>
      </a:hlink>
      <a:folHlink>
        <a:srgbClr val="6E4FD8"/>
      </a:folHlink>
    </a:clrScheme>
    <a:fontScheme name="RydeResol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RydeResolve architecture</dc:title>
  <dc:subject>How a ride dispute is heard: agents, plain-code checks, people, platform</dc:subject>
  <dc:creator>RydeResolve team</dc:creator>
  <cp:lastModifiedBy>RydeResolve team</cp:lastModifiedBy>
  <cp:revision>1</cp:revision>
  <dcterms:created xsi:type="dcterms:W3CDTF">2026-10-15T08:14:39Z</dcterms:created>
  <dcterms:modified xsi:type="dcterms:W3CDTF">2026-10-15T08:14:39Z</dcterms:modified>
</cp:coreProperties>
</file>