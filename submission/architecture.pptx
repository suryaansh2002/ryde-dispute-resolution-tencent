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deb7f84-972f-eeb6-9f6d-2abfd8222c7e}">
          <p14:sldIdLst>
            <p14:sldId id="256"/>
          </p14:sldIdLst>
        </p14:section>
        <p14:section name="The hearing" id="{274c2764-50fe-11d6-cd92-2a7aa564f958}">
          <p14:sldIdLst>
            <p14:sldId id="257"/>
            <p14:sldId id="258"/>
          </p14:sldIdLst>
        </p14:section>
        <p14:section name="Safeguards" id="{c0baa0fa-6f4f-eb2d-9dff-14083cdb0eae}">
          <p14:sldIdLst>
            <p14:sldId id="259"/>
            <p14:sldId id="260"/>
          </p14:sldIdLst>
        </p14:section>
        <p14:section name="Platform" id="{6fddbde6-f73a-3884-a0ae-33a682fcbb14}">
          <p14:sldIdLst>
            <p14:sldId id="261"/>
            <p14:sldId id="262"/>
          </p14:sldIdLst>
        </p14:section>
        <p14:section name="Results" id="{362a51a7-9aac-93d4-39d6-0f15f05cedf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RydeResolve resolves rider and driver disputes on a ride-hailing platform: route deviation, no-show charges and cleaning fees, with safety reports always handed to a person. This deck shows how a case moves through the system, what each agent may see, how evidence is enforced, when a person decides, and the platform it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intake. The report is triaged by an agent, then six plain-code rules run: a safety flag hands the case straight to a person, and missing evidence declines it (not denied; the claimant can refile). Evidence Collection is the only agent allowed to read raw records; it assembles one case file. Cleaning-fee photos go through a vision check whose finding code maps to the fee tier. Bottom row is the hearing: two advocates argue in parallel from the identical case file, the Judge rules without ever seeing the complaint text, and plain-code final checks plus a compliance veto decide whether the ruling stands or goes to a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heart of the fairness design. Only Evidence Collection touches the database. Both advocates see the shared case file plus both parties' words, and can only look up items in that case file. The Judge sees the case file and both arguments, but never the original complaint text, so the forcefulness of a complaint cannot sway it. The vision model is a narrow tool: it describes the photo, and code applies the fee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Collection turns raw records into one case file in which every item has an ID such as MSG-0459 or ROUTE-COMPARISON. Advocates and the Judge must cite those IDs for every factual claim; an output validator in code strikes any claim whose citation does not exist and flags the case. On screen, every citation opens the exact evidence. Facts the policy turns on, and every fixed amount, are computed in code so a model can never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is deterministic and runs on every case regardless of the Judge. A safety report never reaches an agent. Low confidence, a risk bucket (repeat filers, fees of $120 or more) or a compliance veto each independently sends the case to a reviewer; the Judge can also ask, but its request never replaces the checks. Reviewers see the evidence before the AI recommendation, record a reason for any change, and can have a safety case file assembled in code with no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The client is a static React app; it sends actions over REST and receives every live update over server-sent events, resuming after a dropped connection from the last event id. The FastAPI service exposes seven routers. The domain layer separates the orchestrator (a state machine that wires every step), the five pydantic-ai agents with typed outputs and citation validators, plain-code rules with no model calls, and narrow tools such as the evidence index and policy search. Underneath: Neon Postgres (the trace table notifies the stream), S3-compatible object storage for photos, DeepInfra for models, Logfire for tracing, and OneMap for real Singapore routes and map 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is a state machine with a fixed set of allowed transitions. A claim is opened, triaged, checked by the plain-code rules and assembled by the Evidence agent, then waits for the other party (or is decided on the records). Adjudication ends in decided when every check passes, or escalated when any flags. Safety cases skip every agent; declined cases stop with a reason and can be refiled. Only a reviewer moves an escalated or safety case to decided. Every transition inserts a trace row; Postgres NOTIFY wakes the server-sent-event stream, so every open screen updates live, and a dropped connection resumes from the last event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from the golden run on 2026-10-14 with Qwen3-235B on DeepInfra: 22 of 22 verdicts matched their labels across all four categories, down to the exact amount; Qwen3.6-27B, the fallback, also scored 22 of 22. Twelve cases were decided with no person; the other ten went to a reviewer because the checks required it. Model cost was about 1.2 US cents per fully argued case, with a median of about 2.7 minutes from report to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960120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7472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bg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tx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slideLayout" Target="../slideLayouts/slideLayout4.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4.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4.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icon" descr="preencoded.png">    </p:cNvPr>
          <p:cNvPicPr>
            <a:picLocks noChangeAspect="1"/>
          </p:cNvPicPr>
          <p:nvPr/>
        </p:nvPicPr>
        <p:blipFill>
          <a:blip r:embed="rId1"/>
          <a:stretch>
            <a:fillRect/>
          </a:stretch>
        </p:blipFill>
        <p:spPr>
          <a:xfrm>
            <a:off x="548640" y="1417320"/>
            <a:ext cx="566928" cy="566928"/>
          </a:xfrm>
          <a:prstGeom prst="rect">
            <a:avLst/>
          </a:prstGeom>
        </p:spPr>
      </p:pic>
      <p:sp>
        <p:nvSpPr>
          <p:cNvPr id="3" name="Text 0"/>
          <p:cNvSpPr/>
          <p:nvPr>
            <p:ph idx="100" type="title" hasCustomPrompt="1"/>
          </p:nvPr>
        </p:nvSpPr>
        <p:spPr>
          <a:xfrm>
            <a:off x="548640" y="2148840"/>
            <a:ext cx="9601200" cy="1188720"/>
          </a:xfrm>
          <a:prstGeom prst="rect">
            <a:avLst/>
          </a:prstGeom>
          <a:noFill/>
          <a:ln/>
        </p:spPr>
        <p:txBody>
          <a:bodyPr wrap="square" lIns="0" tIns="0" rIns="0" bIns="0" rtlCol="0" anchor="b"/>
          <a:lstStyle/>
          <a:p>
            <a:pPr algn="l" indent="0" marL="0">
              <a:buNone/>
            </a:pPr>
            <a:r>
              <a:rPr lang="en-US" sz="5400" b="1" dirty="0">
                <a:solidFill>
                  <a:schemeClr val="bg1"/>
                </a:solidFill>
              </a:rPr>
              <a:t>RydeResolve architecture</a:t>
            </a:r>
            <a:endParaRPr lang="en-US" sz="5400" dirty="0"/>
          </a:p>
        </p:txBody>
      </p:sp>
      <p:sp>
        <p:nvSpPr>
          <p:cNvPr id="4" name="Text 0"/>
          <p:cNvSpPr/>
          <p:nvPr>
            <p:ph idx="101" type="body" hasCustomPrompt="1"/>
          </p:nvPr>
        </p:nvSpPr>
        <p:spPr>
          <a:xfrm>
            <a:off x="548640" y="3474720"/>
            <a:ext cx="9144000" cy="914400"/>
          </a:xfrm>
          <a:prstGeom prst="rect">
            <a:avLst/>
          </a:prstGeom>
          <a:noFill/>
          <a:ln/>
        </p:spPr>
        <p:txBody>
          <a:bodyPr wrap="square" lIns="0" tIns="0" rIns="0" bIns="0" rtlCol="0" anchor="t"/>
          <a:lstStyle/>
          <a:p>
            <a:pPr indent="0" marL="0">
              <a:buNone/>
            </a:pPr>
            <a:r>
              <a:rPr lang="en-US" sz="2200" dirty="0">
                <a:solidFill>
                  <a:schemeClr val="bg2"/>
                </a:solidFill>
              </a:rPr>
              <a:t>How a ride dispute is heard: two AI advocates, an AI judge that cites every finding, plain-code checks on every ruling, and people for anything uncertain or unsafe.</a:t>
            </a:r>
            <a:endParaRPr lang="en-US" sz="2200" dirty="0"/>
          </a:p>
        </p:txBody>
      </p:sp>
      <p:sp>
        <p:nvSpPr>
          <p:cNvPr id="5" name="title-footer"/>
          <p:cNvSpPr txBox="1"/>
          <p:nvPr/>
        </p:nvSpPr>
        <p:spPr>
          <a:xfrm>
            <a:off x="548640" y="5989320"/>
            <a:ext cx="7315200" cy="320040"/>
          </a:xfrm>
          <a:prstGeom prst="rect">
            <a:avLst/>
          </a:prstGeom>
          <a:noFill/>
          <a:ln/>
        </p:spPr>
        <p:txBody>
          <a:bodyPr wrap="square" lIns="0" tIns="0" rIns="0" bIns="0" rtlCol="0" anchor="ctr"/>
          <a:lstStyle/>
          <a:p>
            <a:pPr indent="0" marL="0">
              <a:buNone/>
            </a:pPr>
            <a:r>
              <a:rPr lang="en-US" sz="1300" dirty="0">
                <a:solidFill>
                  <a:schemeClr val="bg2"/>
                </a:solidFill>
              </a:rPr>
              <a:t>Tencent Cloud Hackathon · Digital Native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One dispute, end to end</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Ordinary code wires the steps together. Agents never call each other, and every step is written to a live trace.</a:t>
            </a:r>
            <a:endParaRPr lang="en-US" sz="1500" dirty="0"/>
          </a:p>
        </p:txBody>
      </p:sp>
      <p:sp>
        <p:nvSpPr>
          <p:cNvPr id="4" name="node-1"/>
          <p:cNvSpPr/>
          <p:nvPr/>
        </p:nvSpPr>
        <p:spPr>
          <a:xfrm>
            <a:off x="548640" y="1783080"/>
            <a:ext cx="1874520" cy="1024128"/>
          </a:xfrm>
          <a:prstGeom prst="roundRect">
            <a:avLst>
              <a:gd name="adj" fmla="val 8929"/>
            </a:avLst>
          </a:prstGeom>
          <a:solidFill>
            <a:schemeClr val="accent4">
              <a:alpha val="14000"/>
            </a:schemeClr>
          </a:solidFill>
          <a:ln w="15875">
            <a:solidFill>
              <a:schemeClr val="accent4"/>
            </a:solidFill>
            <a:prstDash val="solid"/>
          </a:ln>
        </p:spPr>
      </p:sp>
      <p:pic>
        <p:nvPicPr>
          <p:cNvPr id="5" name="icon-2" descr="preencoded.png">    </p:cNvPr>
          <p:cNvPicPr>
            <a:picLocks noChangeAspect="1"/>
          </p:cNvPicPr>
          <p:nvPr/>
        </p:nvPicPr>
        <p:blipFill>
          <a:blip r:embed="rId1"/>
          <a:stretch>
            <a:fillRect/>
          </a:stretch>
        </p:blipFill>
        <p:spPr>
          <a:xfrm>
            <a:off x="676656" y="1911096"/>
            <a:ext cx="292608" cy="292608"/>
          </a:xfrm>
          <a:prstGeom prst="rect">
            <a:avLst/>
          </a:prstGeom>
        </p:spPr>
      </p:pic>
      <p:sp>
        <p:nvSpPr>
          <p:cNvPr id="6" name="node-title-3"/>
          <p:cNvSpPr txBox="1"/>
          <p:nvPr/>
        </p:nvSpPr>
        <p:spPr>
          <a:xfrm>
            <a:off x="1060704"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Report filed</a:t>
            </a:r>
            <a:endParaRPr lang="en-US" sz="1400" dirty="0"/>
          </a:p>
        </p:txBody>
      </p:sp>
      <p:sp>
        <p:nvSpPr>
          <p:cNvPr id="7" name="node-sub-4"/>
          <p:cNvSpPr txBox="1"/>
          <p:nvPr/>
        </p:nvSpPr>
        <p:spPr>
          <a:xfrm>
            <a:off x="676656" y="2276856"/>
            <a:ext cx="1618488" cy="493776"/>
          </a:xfrm>
          <a:prstGeom prst="rect">
            <a:avLst/>
          </a:prstGeom>
          <a:noFill/>
          <a:ln/>
        </p:spPr>
        <p:txBody>
          <a:bodyPr wrap="square" lIns="0" tIns="0" rIns="0" bIns="0" rtlCol="0" anchor="t"/>
          <a:lstStyle/>
          <a:p>
            <a:pPr indent="0" marL="0">
              <a:buNone/>
            </a:pPr>
            <a:r>
              <a:rPr lang="en-US" sz="1100" dirty="0">
                <a:solidFill>
                  <a:schemeClr val="tx2"/>
                </a:solidFill>
              </a:rPr>
              <a:t>Rider or driver, from the trip, in a chat</a:t>
            </a:r>
            <a:endParaRPr lang="en-US" sz="1100" dirty="0"/>
          </a:p>
        </p:txBody>
      </p:sp>
      <p:sp>
        <p:nvSpPr>
          <p:cNvPr id="8" name="node-5"/>
          <p:cNvSpPr/>
          <p:nvPr/>
        </p:nvSpPr>
        <p:spPr>
          <a:xfrm>
            <a:off x="2853614" y="1783080"/>
            <a:ext cx="1874520" cy="1024128"/>
          </a:xfrm>
          <a:prstGeom prst="roundRect">
            <a:avLst>
              <a:gd name="adj" fmla="val 8929"/>
            </a:avLst>
          </a:prstGeom>
          <a:solidFill>
            <a:schemeClr val="tx1"/>
          </a:solidFill>
          <a:ln/>
        </p:spPr>
      </p:sp>
      <p:pic>
        <p:nvPicPr>
          <p:cNvPr id="9" name="icon-6" descr="preencoded.png">    </p:cNvPr>
          <p:cNvPicPr>
            <a:picLocks noChangeAspect="1"/>
          </p:cNvPicPr>
          <p:nvPr/>
        </p:nvPicPr>
        <p:blipFill>
          <a:blip r:embed="rId2"/>
          <a:stretch>
            <a:fillRect/>
          </a:stretch>
        </p:blipFill>
        <p:spPr>
          <a:xfrm>
            <a:off x="2981630" y="1911096"/>
            <a:ext cx="292608" cy="292608"/>
          </a:xfrm>
          <a:prstGeom prst="rect">
            <a:avLst/>
          </a:prstGeom>
        </p:spPr>
      </p:pic>
      <p:sp>
        <p:nvSpPr>
          <p:cNvPr id="10" name="node-title-7"/>
          <p:cNvSpPr txBox="1"/>
          <p:nvPr/>
        </p:nvSpPr>
        <p:spPr>
          <a:xfrm>
            <a:off x="3365678"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Triage</a:t>
            </a:r>
            <a:endParaRPr lang="en-US" sz="1400" dirty="0"/>
          </a:p>
        </p:txBody>
      </p:sp>
      <p:sp>
        <p:nvSpPr>
          <p:cNvPr id="11" name="node-sub-8"/>
          <p:cNvSpPr txBox="1"/>
          <p:nvPr/>
        </p:nvSpPr>
        <p:spPr>
          <a:xfrm>
            <a:off x="2981630" y="2276856"/>
            <a:ext cx="1618488" cy="493776"/>
          </a:xfrm>
          <a:prstGeom prst="rect">
            <a:avLst/>
          </a:prstGeom>
          <a:noFill/>
          <a:ln/>
        </p:spPr>
        <p:txBody>
          <a:bodyPr wrap="square" lIns="0" tIns="0" rIns="0" bIns="0" rtlCol="0" anchor="t"/>
          <a:lstStyle/>
          <a:p>
            <a:pPr indent="0" marL="0">
              <a:buNone/>
            </a:pPr>
            <a:r>
              <a:rPr lang="en-US" sz="1100" dirty="0">
                <a:solidFill>
                  <a:schemeClr val="bg2"/>
                </a:solidFill>
              </a:rPr>
              <a:t>Kind of dispute, severity, safety flag</a:t>
            </a:r>
            <a:endParaRPr lang="en-US" sz="1100" dirty="0"/>
          </a:p>
        </p:txBody>
      </p:sp>
      <p:sp>
        <p:nvSpPr>
          <p:cNvPr id="12" name="node-9"/>
          <p:cNvSpPr/>
          <p:nvPr/>
        </p:nvSpPr>
        <p:spPr>
          <a:xfrm>
            <a:off x="5158588" y="1783080"/>
            <a:ext cx="1874520" cy="1024128"/>
          </a:xfrm>
          <a:prstGeom prst="roundRect">
            <a:avLst>
              <a:gd name="adj" fmla="val 8929"/>
            </a:avLst>
          </a:prstGeom>
          <a:solidFill>
            <a:schemeClr val="bg1"/>
          </a:solidFill>
          <a:ln w="15875">
            <a:solidFill>
              <a:schemeClr val="tx2"/>
            </a:solidFill>
            <a:prstDash val="dash"/>
          </a:ln>
        </p:spPr>
      </p:sp>
      <p:pic>
        <p:nvPicPr>
          <p:cNvPr id="13" name="icon-10" descr="preencoded.png">    </p:cNvPr>
          <p:cNvPicPr>
            <a:picLocks noChangeAspect="1"/>
          </p:cNvPicPr>
          <p:nvPr/>
        </p:nvPicPr>
        <p:blipFill>
          <a:blip r:embed="rId3"/>
          <a:stretch>
            <a:fillRect/>
          </a:stretch>
        </p:blipFill>
        <p:spPr>
          <a:xfrm>
            <a:off x="5286604" y="1911096"/>
            <a:ext cx="292608" cy="292608"/>
          </a:xfrm>
          <a:prstGeom prst="rect">
            <a:avLst/>
          </a:prstGeom>
        </p:spPr>
      </p:pic>
      <p:sp>
        <p:nvSpPr>
          <p:cNvPr id="14" name="node-title-11"/>
          <p:cNvSpPr txBox="1"/>
          <p:nvPr/>
        </p:nvSpPr>
        <p:spPr>
          <a:xfrm>
            <a:off x="5670652"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Eligibility</a:t>
            </a:r>
            <a:endParaRPr lang="en-US" sz="1400" dirty="0"/>
          </a:p>
        </p:txBody>
      </p:sp>
      <p:sp>
        <p:nvSpPr>
          <p:cNvPr id="15" name="node-sub-12"/>
          <p:cNvSpPr txBox="1"/>
          <p:nvPr/>
        </p:nvSpPr>
        <p:spPr>
          <a:xfrm>
            <a:off x="5286604" y="2276856"/>
            <a:ext cx="1618488" cy="493776"/>
          </a:xfrm>
          <a:prstGeom prst="rect">
            <a:avLst/>
          </a:prstGeom>
          <a:noFill/>
          <a:ln/>
        </p:spPr>
        <p:txBody>
          <a:bodyPr wrap="square" lIns="0" tIns="0" rIns="0" bIns="0" rtlCol="0" anchor="t"/>
          <a:lstStyle/>
          <a:p>
            <a:pPr indent="0" marL="0">
              <a:buNone/>
            </a:pPr>
            <a:r>
              <a:rPr lang="en-US" sz="1100" dirty="0">
                <a:solidFill>
                  <a:schemeClr val="tx2"/>
                </a:solidFill>
              </a:rPr>
              <a:t>Six rules, e.g. safety and missing evidence</a:t>
            </a:r>
            <a:endParaRPr lang="en-US" sz="1100" dirty="0"/>
          </a:p>
        </p:txBody>
      </p:sp>
      <p:sp>
        <p:nvSpPr>
          <p:cNvPr id="16" name="node-13"/>
          <p:cNvSpPr/>
          <p:nvPr/>
        </p:nvSpPr>
        <p:spPr>
          <a:xfrm>
            <a:off x="7463561" y="1783080"/>
            <a:ext cx="1874520" cy="1024128"/>
          </a:xfrm>
          <a:prstGeom prst="roundRect">
            <a:avLst>
              <a:gd name="adj" fmla="val 8929"/>
            </a:avLst>
          </a:prstGeom>
          <a:solidFill>
            <a:schemeClr val="tx1"/>
          </a:solidFill>
          <a:ln/>
        </p:spPr>
      </p:sp>
      <p:pic>
        <p:nvPicPr>
          <p:cNvPr id="17" name="icon-14" descr="preencoded.png">    </p:cNvPr>
          <p:cNvPicPr>
            <a:picLocks noChangeAspect="1"/>
          </p:cNvPicPr>
          <p:nvPr/>
        </p:nvPicPr>
        <p:blipFill>
          <a:blip r:embed="rId4"/>
          <a:stretch>
            <a:fillRect/>
          </a:stretch>
        </p:blipFill>
        <p:spPr>
          <a:xfrm>
            <a:off x="7591577" y="1911096"/>
            <a:ext cx="292608" cy="292608"/>
          </a:xfrm>
          <a:prstGeom prst="rect">
            <a:avLst/>
          </a:prstGeom>
        </p:spPr>
      </p:pic>
      <p:sp>
        <p:nvSpPr>
          <p:cNvPr id="18" name="node-title-15"/>
          <p:cNvSpPr txBox="1"/>
          <p:nvPr/>
        </p:nvSpPr>
        <p:spPr>
          <a:xfrm>
            <a:off x="7975625"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Evidence</a:t>
            </a:r>
            <a:endParaRPr lang="en-US" sz="1400" dirty="0"/>
          </a:p>
        </p:txBody>
      </p:sp>
      <p:sp>
        <p:nvSpPr>
          <p:cNvPr id="19" name="node-sub-16"/>
          <p:cNvSpPr txBox="1"/>
          <p:nvPr/>
        </p:nvSpPr>
        <p:spPr>
          <a:xfrm>
            <a:off x="7591577" y="2276856"/>
            <a:ext cx="1618488" cy="493776"/>
          </a:xfrm>
          <a:prstGeom prst="rect">
            <a:avLst/>
          </a:prstGeom>
          <a:noFill/>
          <a:ln/>
        </p:spPr>
        <p:txBody>
          <a:bodyPr wrap="square" lIns="0" tIns="0" rIns="0" bIns="0" rtlCol="0" anchor="t"/>
          <a:lstStyle/>
          <a:p>
            <a:pPr indent="0" marL="0">
              <a:buNone/>
            </a:pPr>
            <a:r>
              <a:rPr lang="en-US" sz="1100" dirty="0">
                <a:solidFill>
                  <a:schemeClr val="bg2"/>
                </a:solidFill>
              </a:rPr>
              <a:t>The only agent with database access</a:t>
            </a:r>
            <a:endParaRPr lang="en-US" sz="1100" dirty="0"/>
          </a:p>
        </p:txBody>
      </p:sp>
      <p:sp>
        <p:nvSpPr>
          <p:cNvPr id="20" name="node-17"/>
          <p:cNvSpPr/>
          <p:nvPr/>
        </p:nvSpPr>
        <p:spPr>
          <a:xfrm>
            <a:off x="9768535" y="1783080"/>
            <a:ext cx="1874520" cy="1024128"/>
          </a:xfrm>
          <a:prstGeom prst="roundRect">
            <a:avLst>
              <a:gd name="adj" fmla="val 8929"/>
            </a:avLst>
          </a:prstGeom>
          <a:solidFill>
            <a:schemeClr val="tx1"/>
          </a:solidFill>
          <a:ln/>
        </p:spPr>
      </p:sp>
      <p:pic>
        <p:nvPicPr>
          <p:cNvPr id="21" name="icon-18" descr="preencoded.png">    </p:cNvPr>
          <p:cNvPicPr>
            <a:picLocks noChangeAspect="1"/>
          </p:cNvPicPr>
          <p:nvPr/>
        </p:nvPicPr>
        <p:blipFill>
          <a:blip r:embed="rId5"/>
          <a:stretch>
            <a:fillRect/>
          </a:stretch>
        </p:blipFill>
        <p:spPr>
          <a:xfrm>
            <a:off x="9896551" y="1911096"/>
            <a:ext cx="292608" cy="292608"/>
          </a:xfrm>
          <a:prstGeom prst="rect">
            <a:avLst/>
          </a:prstGeom>
        </p:spPr>
      </p:pic>
      <p:sp>
        <p:nvSpPr>
          <p:cNvPr id="22" name="node-title-19"/>
          <p:cNvSpPr txBox="1"/>
          <p:nvPr/>
        </p:nvSpPr>
        <p:spPr>
          <a:xfrm>
            <a:off x="10280599"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Photo check</a:t>
            </a:r>
            <a:endParaRPr lang="en-US" sz="1400" dirty="0"/>
          </a:p>
        </p:txBody>
      </p:sp>
      <p:sp>
        <p:nvSpPr>
          <p:cNvPr id="23" name="node-sub-20"/>
          <p:cNvSpPr txBox="1"/>
          <p:nvPr/>
        </p:nvSpPr>
        <p:spPr>
          <a:xfrm>
            <a:off x="9896551" y="2276856"/>
            <a:ext cx="1618488" cy="493776"/>
          </a:xfrm>
          <a:prstGeom prst="rect">
            <a:avLst/>
          </a:prstGeom>
          <a:noFill/>
          <a:ln/>
        </p:spPr>
        <p:txBody>
          <a:bodyPr wrap="square" lIns="0" tIns="0" rIns="0" bIns="0" rtlCol="0" anchor="t"/>
          <a:lstStyle/>
          <a:p>
            <a:pPr indent="0" marL="0">
              <a:buNone/>
            </a:pPr>
            <a:r>
              <a:rPr lang="en-US" sz="1100" dirty="0">
                <a:solidFill>
                  <a:schemeClr val="bg2"/>
                </a:solidFill>
              </a:rPr>
              <a:t>Cleaning fees only; code sets the fee tier</a:t>
            </a:r>
            <a:endParaRPr lang="en-US" sz="1100" dirty="0"/>
          </a:p>
        </p:txBody>
      </p:sp>
      <p:sp>
        <p:nvSpPr>
          <p:cNvPr id="24" name="arrow-21"/>
          <p:cNvSpPr/>
          <p:nvPr/>
        </p:nvSpPr>
        <p:spPr>
          <a:xfrm>
            <a:off x="2423160" y="2295144"/>
            <a:ext cx="430454" cy="0"/>
          </a:xfrm>
          <a:prstGeom prst="line">
            <a:avLst/>
          </a:prstGeom>
          <a:noFill/>
          <a:ln w="19050">
            <a:solidFill>
              <a:schemeClr val="tx2"/>
            </a:solidFill>
            <a:prstDash val="solid"/>
            <a:tailEnd type="triangle"/>
          </a:ln>
        </p:spPr>
      </p:sp>
      <p:sp>
        <p:nvSpPr>
          <p:cNvPr id="25" name="arrow-22"/>
          <p:cNvSpPr/>
          <p:nvPr/>
        </p:nvSpPr>
        <p:spPr>
          <a:xfrm>
            <a:off x="4728134" y="2295144"/>
            <a:ext cx="430454" cy="0"/>
          </a:xfrm>
          <a:prstGeom prst="line">
            <a:avLst/>
          </a:prstGeom>
          <a:noFill/>
          <a:ln w="19050">
            <a:solidFill>
              <a:schemeClr val="tx2"/>
            </a:solidFill>
            <a:prstDash val="solid"/>
            <a:tailEnd type="triangle"/>
          </a:ln>
        </p:spPr>
      </p:sp>
      <p:sp>
        <p:nvSpPr>
          <p:cNvPr id="26" name="arrow-23"/>
          <p:cNvSpPr/>
          <p:nvPr/>
        </p:nvSpPr>
        <p:spPr>
          <a:xfrm>
            <a:off x="7033108" y="2295144"/>
            <a:ext cx="430454" cy="0"/>
          </a:xfrm>
          <a:prstGeom prst="line">
            <a:avLst/>
          </a:prstGeom>
          <a:noFill/>
          <a:ln w="19050">
            <a:solidFill>
              <a:schemeClr val="tx2"/>
            </a:solidFill>
            <a:prstDash val="solid"/>
            <a:tailEnd type="triangle"/>
          </a:ln>
        </p:spPr>
      </p:sp>
      <p:sp>
        <p:nvSpPr>
          <p:cNvPr id="27" name="arrow-24"/>
          <p:cNvSpPr/>
          <p:nvPr/>
        </p:nvSpPr>
        <p:spPr>
          <a:xfrm>
            <a:off x="9338081" y="2295144"/>
            <a:ext cx="430454" cy="0"/>
          </a:xfrm>
          <a:prstGeom prst="line">
            <a:avLst/>
          </a:prstGeom>
          <a:noFill/>
          <a:ln w="19050">
            <a:solidFill>
              <a:schemeClr val="tx2"/>
            </a:solidFill>
            <a:prstDash val="solid"/>
            <a:tailEnd type="triangle"/>
          </a:ln>
        </p:spPr>
      </p:sp>
      <p:sp>
        <p:nvSpPr>
          <p:cNvPr id="28" name="node-25"/>
          <p:cNvSpPr/>
          <p:nvPr/>
        </p:nvSpPr>
        <p:spPr>
          <a:xfrm>
            <a:off x="4655668" y="3026664"/>
            <a:ext cx="1325880" cy="457200"/>
          </a:xfrm>
          <a:prstGeom prst="roundRect">
            <a:avLst>
              <a:gd name="adj" fmla="val 20000"/>
            </a:avLst>
          </a:prstGeom>
          <a:solidFill>
            <a:schemeClr val="accent5">
              <a:alpha val="12000"/>
            </a:schemeClr>
          </a:solidFill>
          <a:ln w="15875">
            <a:solidFill>
              <a:schemeClr val="accent5"/>
            </a:solidFill>
            <a:prstDash val="solid"/>
          </a:ln>
        </p:spPr>
      </p:sp>
      <p:pic>
        <p:nvPicPr>
          <p:cNvPr id="29" name="icon-26" descr="preencoded.png">    </p:cNvPr>
          <p:cNvPicPr>
            <a:picLocks noChangeAspect="1"/>
          </p:cNvPicPr>
          <p:nvPr/>
        </p:nvPicPr>
        <p:blipFill>
          <a:blip r:embed="rId6"/>
          <a:stretch>
            <a:fillRect/>
          </a:stretch>
        </p:blipFill>
        <p:spPr>
          <a:xfrm>
            <a:off x="4783684" y="3154680"/>
            <a:ext cx="292608" cy="292608"/>
          </a:xfrm>
          <a:prstGeom prst="rect">
            <a:avLst/>
          </a:prstGeom>
        </p:spPr>
      </p:pic>
      <p:sp>
        <p:nvSpPr>
          <p:cNvPr id="30" name="node-title-27"/>
          <p:cNvSpPr txBox="1"/>
          <p:nvPr/>
        </p:nvSpPr>
        <p:spPr>
          <a:xfrm>
            <a:off x="5167732" y="3081528"/>
            <a:ext cx="685800" cy="347472"/>
          </a:xfrm>
          <a:prstGeom prst="rect">
            <a:avLst/>
          </a:prstGeom>
          <a:noFill/>
          <a:ln/>
        </p:spPr>
        <p:txBody>
          <a:bodyPr wrap="square" lIns="0" tIns="0" rIns="0" bIns="0" rtlCol="0" anchor="ctr"/>
          <a:lstStyle/>
          <a:p>
            <a:pPr indent="0" marL="0">
              <a:buNone/>
            </a:pPr>
            <a:r>
              <a:rPr lang="en-US" sz="1350" b="1" dirty="0">
                <a:solidFill>
                  <a:schemeClr val="tx1"/>
                </a:solidFill>
              </a:rPr>
              <a:t>Safety</a:t>
            </a:r>
            <a:endParaRPr lang="en-US" sz="1350" dirty="0"/>
          </a:p>
        </p:txBody>
      </p:sp>
      <p:sp>
        <p:nvSpPr>
          <p:cNvPr id="31" name="node-28"/>
          <p:cNvSpPr/>
          <p:nvPr/>
        </p:nvSpPr>
        <p:spPr>
          <a:xfrm>
            <a:off x="6347308" y="3026664"/>
            <a:ext cx="1600200" cy="457200"/>
          </a:xfrm>
          <a:prstGeom prst="roundRect">
            <a:avLst>
              <a:gd name="adj" fmla="val 20000"/>
            </a:avLst>
          </a:prstGeom>
          <a:solidFill>
            <a:schemeClr val="bg1"/>
          </a:solidFill>
          <a:ln w="15875">
            <a:solidFill>
              <a:schemeClr val="tx2"/>
            </a:solidFill>
            <a:prstDash val="dash"/>
          </a:ln>
        </p:spPr>
      </p:sp>
      <p:pic>
        <p:nvPicPr>
          <p:cNvPr id="32" name="icon-29" descr="preencoded.png">    </p:cNvPr>
          <p:cNvPicPr>
            <a:picLocks noChangeAspect="1"/>
          </p:cNvPicPr>
          <p:nvPr/>
        </p:nvPicPr>
        <p:blipFill>
          <a:blip r:embed="rId7"/>
          <a:stretch>
            <a:fillRect/>
          </a:stretch>
        </p:blipFill>
        <p:spPr>
          <a:xfrm>
            <a:off x="6475324" y="3154680"/>
            <a:ext cx="292608" cy="292608"/>
          </a:xfrm>
          <a:prstGeom prst="rect">
            <a:avLst/>
          </a:prstGeom>
        </p:spPr>
      </p:pic>
      <p:sp>
        <p:nvSpPr>
          <p:cNvPr id="33" name="node-title-30"/>
          <p:cNvSpPr txBox="1"/>
          <p:nvPr/>
        </p:nvSpPr>
        <p:spPr>
          <a:xfrm>
            <a:off x="6859372" y="3081528"/>
            <a:ext cx="960120" cy="347472"/>
          </a:xfrm>
          <a:prstGeom prst="rect">
            <a:avLst/>
          </a:prstGeom>
          <a:noFill/>
          <a:ln/>
        </p:spPr>
        <p:txBody>
          <a:bodyPr wrap="square" lIns="0" tIns="0" rIns="0" bIns="0" rtlCol="0" anchor="ctr"/>
          <a:lstStyle/>
          <a:p>
            <a:pPr indent="0" marL="0">
              <a:buNone/>
            </a:pPr>
            <a:r>
              <a:rPr lang="en-US" sz="1350" b="1" dirty="0">
                <a:solidFill>
                  <a:schemeClr val="tx1"/>
                </a:solidFill>
              </a:rPr>
              <a:t>Declined</a:t>
            </a:r>
            <a:endParaRPr lang="en-US" sz="1350" dirty="0"/>
          </a:p>
        </p:txBody>
      </p:sp>
      <p:sp>
        <p:nvSpPr>
          <p:cNvPr id="34" name="exit-safety-note"/>
          <p:cNvSpPr txBox="1"/>
          <p:nvPr/>
        </p:nvSpPr>
        <p:spPr>
          <a:xfrm>
            <a:off x="4655668" y="3502152"/>
            <a:ext cx="1600200" cy="237744"/>
          </a:xfrm>
          <a:prstGeom prst="rect">
            <a:avLst/>
          </a:prstGeom>
          <a:noFill/>
          <a:ln/>
        </p:spPr>
        <p:txBody>
          <a:bodyPr wrap="square" lIns="0" tIns="0" rIns="0" bIns="0" rtlCol="0" anchor="ctr"/>
          <a:lstStyle/>
          <a:p>
            <a:pPr indent="0" marL="0">
              <a:buNone/>
            </a:pPr>
            <a:r>
              <a:rPr lang="en-US" sz="1000" i="1" dirty="0">
                <a:solidFill>
                  <a:schemeClr val="tx2"/>
                </a:solidFill>
              </a:rPr>
              <a:t>a person handles it</a:t>
            </a:r>
            <a:endParaRPr lang="en-US" sz="1000" dirty="0"/>
          </a:p>
        </p:txBody>
      </p:sp>
      <p:sp>
        <p:nvSpPr>
          <p:cNvPr id="35" name="exit-declined-note"/>
          <p:cNvSpPr txBox="1"/>
          <p:nvPr/>
        </p:nvSpPr>
        <p:spPr>
          <a:xfrm>
            <a:off x="6347308" y="3502152"/>
            <a:ext cx="1737360" cy="237744"/>
          </a:xfrm>
          <a:prstGeom prst="rect">
            <a:avLst/>
          </a:prstGeom>
          <a:noFill/>
          <a:ln/>
        </p:spPr>
        <p:txBody>
          <a:bodyPr wrap="square" lIns="0" tIns="0" rIns="0" bIns="0" rtlCol="0" anchor="ctr"/>
          <a:lstStyle/>
          <a:p>
            <a:pPr indent="0" marL="0">
              <a:buNone/>
            </a:pPr>
            <a:r>
              <a:rPr lang="en-US" sz="1000" i="1" dirty="0">
                <a:solidFill>
                  <a:schemeClr val="tx2"/>
                </a:solidFill>
              </a:rPr>
              <a:t>evidence missing; can refile</a:t>
            </a:r>
            <a:endParaRPr lang="en-US" sz="1000" dirty="0"/>
          </a:p>
        </p:txBody>
      </p:sp>
      <p:sp>
        <p:nvSpPr>
          <p:cNvPr id="36" name="arrow-31"/>
          <p:cNvSpPr/>
          <p:nvPr/>
        </p:nvSpPr>
        <p:spPr>
          <a:xfrm>
            <a:off x="5341468" y="2807208"/>
            <a:ext cx="0" cy="219456"/>
          </a:xfrm>
          <a:prstGeom prst="line">
            <a:avLst/>
          </a:prstGeom>
          <a:noFill/>
          <a:ln w="19050">
            <a:solidFill>
              <a:schemeClr val="accent5"/>
            </a:solidFill>
            <a:prstDash val="solid"/>
            <a:tailEnd type="triangle"/>
          </a:ln>
        </p:spPr>
      </p:sp>
      <p:sp>
        <p:nvSpPr>
          <p:cNvPr id="37" name="arrow-32"/>
          <p:cNvSpPr/>
          <p:nvPr/>
        </p:nvSpPr>
        <p:spPr>
          <a:xfrm>
            <a:off x="6941668" y="2807208"/>
            <a:ext cx="0" cy="219456"/>
          </a:xfrm>
          <a:prstGeom prst="line">
            <a:avLst/>
          </a:prstGeom>
          <a:noFill/>
          <a:ln w="19050">
            <a:solidFill>
              <a:schemeClr val="tx2"/>
            </a:solidFill>
            <a:prstDash val="solid"/>
            <a:tailEnd type="triangle"/>
          </a:ln>
        </p:spPr>
      </p:sp>
      <p:sp>
        <p:nvSpPr>
          <p:cNvPr id="38" name="arrow-33"/>
          <p:cNvSpPr/>
          <p:nvPr/>
        </p:nvSpPr>
        <p:spPr>
          <a:xfrm>
            <a:off x="10705795" y="2807208"/>
            <a:ext cx="0" cy="1033272"/>
          </a:xfrm>
          <a:prstGeom prst="line">
            <a:avLst/>
          </a:prstGeom>
          <a:noFill/>
          <a:ln w="19050">
            <a:solidFill>
              <a:schemeClr val="tx2"/>
            </a:solidFill>
            <a:prstDash val="solid"/>
            <a:tailEnd type="none"/>
          </a:ln>
        </p:spPr>
      </p:sp>
      <p:sp>
        <p:nvSpPr>
          <p:cNvPr id="39" name="arrow-34"/>
          <p:cNvSpPr/>
          <p:nvPr/>
        </p:nvSpPr>
        <p:spPr>
          <a:xfrm flipH="1">
            <a:off x="1485900" y="3840480"/>
            <a:ext cx="9219895" cy="0"/>
          </a:xfrm>
          <a:prstGeom prst="line">
            <a:avLst/>
          </a:prstGeom>
          <a:noFill/>
          <a:ln w="19050">
            <a:solidFill>
              <a:schemeClr val="tx2"/>
            </a:solidFill>
            <a:prstDash val="solid"/>
            <a:tailEnd type="none"/>
          </a:ln>
        </p:spPr>
      </p:sp>
      <p:sp>
        <p:nvSpPr>
          <p:cNvPr id="40" name="return-label"/>
          <p:cNvSpPr txBox="1"/>
          <p:nvPr/>
        </p:nvSpPr>
        <p:spPr>
          <a:xfrm>
            <a:off x="8716975" y="3566160"/>
            <a:ext cx="2377440" cy="237744"/>
          </a:xfrm>
          <a:prstGeom prst="rect">
            <a:avLst/>
          </a:prstGeom>
          <a:noFill/>
          <a:ln/>
        </p:spPr>
        <p:txBody>
          <a:bodyPr wrap="square" lIns="0" tIns="0" rIns="0" bIns="0" rtlCol="0" anchor="ctr"/>
          <a:lstStyle/>
          <a:p>
            <a:pPr algn="r" indent="0" marL="0">
              <a:buNone/>
            </a:pPr>
            <a:r>
              <a:rPr lang="en-US" sz="1000" i="1" dirty="0">
                <a:solidFill>
                  <a:schemeClr val="tx2"/>
                </a:solidFill>
              </a:rPr>
              <a:t>the same case file to both sides</a:t>
            </a:r>
            <a:endParaRPr lang="en-US" sz="1000" dirty="0"/>
          </a:p>
        </p:txBody>
      </p:sp>
      <p:sp>
        <p:nvSpPr>
          <p:cNvPr id="41" name="arrow-35"/>
          <p:cNvSpPr/>
          <p:nvPr/>
        </p:nvSpPr>
        <p:spPr>
          <a:xfrm>
            <a:off x="1485900" y="3840480"/>
            <a:ext cx="0" cy="274320"/>
          </a:xfrm>
          <a:prstGeom prst="line">
            <a:avLst/>
          </a:prstGeom>
          <a:noFill/>
          <a:ln w="19050">
            <a:solidFill>
              <a:schemeClr val="tx2"/>
            </a:solidFill>
            <a:prstDash val="solid"/>
            <a:tailEnd type="triangle"/>
          </a:ln>
        </p:spPr>
      </p:sp>
      <p:sp>
        <p:nvSpPr>
          <p:cNvPr id="42" name="node-36"/>
          <p:cNvSpPr/>
          <p:nvPr/>
        </p:nvSpPr>
        <p:spPr>
          <a:xfrm>
            <a:off x="548640" y="4114800"/>
            <a:ext cx="1874520" cy="713232"/>
          </a:xfrm>
          <a:prstGeom prst="roundRect">
            <a:avLst>
              <a:gd name="adj" fmla="val 12821"/>
            </a:avLst>
          </a:prstGeom>
          <a:solidFill>
            <a:schemeClr val="accent1"/>
          </a:solidFill>
          <a:ln/>
        </p:spPr>
      </p:sp>
      <p:pic>
        <p:nvPicPr>
          <p:cNvPr id="43" name="icon-37" descr="preencoded.png">    </p:cNvPr>
          <p:cNvPicPr>
            <a:picLocks noChangeAspect="1"/>
          </p:cNvPicPr>
          <p:nvPr/>
        </p:nvPicPr>
        <p:blipFill>
          <a:blip r:embed="rId8"/>
          <a:stretch>
            <a:fillRect/>
          </a:stretch>
        </p:blipFill>
        <p:spPr>
          <a:xfrm>
            <a:off x="676656" y="4242816"/>
            <a:ext cx="292608" cy="292608"/>
          </a:xfrm>
          <a:prstGeom prst="rect">
            <a:avLst/>
          </a:prstGeom>
        </p:spPr>
      </p:pic>
      <p:sp>
        <p:nvSpPr>
          <p:cNvPr id="44" name="node-title-38"/>
          <p:cNvSpPr txBox="1"/>
          <p:nvPr/>
        </p:nvSpPr>
        <p:spPr>
          <a:xfrm>
            <a:off x="1060704" y="4169664"/>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Rider's advocate</a:t>
            </a:r>
            <a:endParaRPr lang="en-US" sz="1350" dirty="0"/>
          </a:p>
        </p:txBody>
      </p:sp>
      <p:sp>
        <p:nvSpPr>
          <p:cNvPr id="45" name="node-39"/>
          <p:cNvSpPr/>
          <p:nvPr/>
        </p:nvSpPr>
        <p:spPr>
          <a:xfrm>
            <a:off x="548640" y="4956048"/>
            <a:ext cx="1874520" cy="713232"/>
          </a:xfrm>
          <a:prstGeom prst="roundRect">
            <a:avLst>
              <a:gd name="adj" fmla="val 12821"/>
            </a:avLst>
          </a:prstGeom>
          <a:solidFill>
            <a:schemeClr val="accent2"/>
          </a:solidFill>
          <a:ln/>
        </p:spPr>
      </p:sp>
      <p:pic>
        <p:nvPicPr>
          <p:cNvPr id="46" name="icon-40" descr="preencoded.png">    </p:cNvPr>
          <p:cNvPicPr>
            <a:picLocks noChangeAspect="1"/>
          </p:cNvPicPr>
          <p:nvPr/>
        </p:nvPicPr>
        <p:blipFill>
          <a:blip r:embed="rId9"/>
          <a:stretch>
            <a:fillRect/>
          </a:stretch>
        </p:blipFill>
        <p:spPr>
          <a:xfrm>
            <a:off x="676656" y="5084064"/>
            <a:ext cx="292608" cy="292608"/>
          </a:xfrm>
          <a:prstGeom prst="rect">
            <a:avLst/>
          </a:prstGeom>
        </p:spPr>
      </p:pic>
      <p:sp>
        <p:nvSpPr>
          <p:cNvPr id="47" name="node-title-41"/>
          <p:cNvSpPr txBox="1"/>
          <p:nvPr/>
        </p:nvSpPr>
        <p:spPr>
          <a:xfrm>
            <a:off x="1060704" y="5010912"/>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Driver's advocate</a:t>
            </a:r>
            <a:endParaRPr lang="en-US" sz="1350" dirty="0"/>
          </a:p>
        </p:txBody>
      </p:sp>
      <p:sp>
        <p:nvSpPr>
          <p:cNvPr id="48" name="node-42"/>
          <p:cNvSpPr/>
          <p:nvPr/>
        </p:nvSpPr>
        <p:spPr>
          <a:xfrm>
            <a:off x="2853614" y="4114800"/>
            <a:ext cx="1874520" cy="1554480"/>
          </a:xfrm>
          <a:prstGeom prst="roundRect">
            <a:avLst>
              <a:gd name="adj" fmla="val 5882"/>
            </a:avLst>
          </a:prstGeom>
          <a:solidFill>
            <a:schemeClr val="tx1"/>
          </a:solidFill>
          <a:ln/>
        </p:spPr>
      </p:sp>
      <p:pic>
        <p:nvPicPr>
          <p:cNvPr id="49" name="icon-43" descr="preencoded.png">    </p:cNvPr>
          <p:cNvPicPr>
            <a:picLocks noChangeAspect="1"/>
          </p:cNvPicPr>
          <p:nvPr/>
        </p:nvPicPr>
        <p:blipFill>
          <a:blip r:embed="rId10"/>
          <a:stretch>
            <a:fillRect/>
          </a:stretch>
        </p:blipFill>
        <p:spPr>
          <a:xfrm>
            <a:off x="2981630" y="4242816"/>
            <a:ext cx="292608" cy="292608"/>
          </a:xfrm>
          <a:prstGeom prst="rect">
            <a:avLst/>
          </a:prstGeom>
        </p:spPr>
      </p:pic>
      <p:sp>
        <p:nvSpPr>
          <p:cNvPr id="50" name="node-title-44"/>
          <p:cNvSpPr txBox="1"/>
          <p:nvPr/>
        </p:nvSpPr>
        <p:spPr>
          <a:xfrm>
            <a:off x="3365678" y="421538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Judge</a:t>
            </a:r>
            <a:endParaRPr lang="en-US" sz="1400" dirty="0"/>
          </a:p>
        </p:txBody>
      </p:sp>
      <p:sp>
        <p:nvSpPr>
          <p:cNvPr id="51" name="node-sub-45"/>
          <p:cNvSpPr txBox="1"/>
          <p:nvPr/>
        </p:nvSpPr>
        <p:spPr>
          <a:xfrm>
            <a:off x="2981630" y="4608576"/>
            <a:ext cx="1618488" cy="1024128"/>
          </a:xfrm>
          <a:prstGeom prst="rect">
            <a:avLst/>
          </a:prstGeom>
          <a:noFill/>
          <a:ln/>
        </p:spPr>
        <p:txBody>
          <a:bodyPr wrap="square" lIns="0" tIns="0" rIns="0" bIns="0" rtlCol="0" anchor="t"/>
          <a:lstStyle/>
          <a:p>
            <a:pPr indent="0" marL="0">
              <a:buNone/>
            </a:pPr>
            <a:r>
              <a:rPr lang="en-US" sz="1100" dirty="0">
                <a:solidFill>
                  <a:schemeClr val="bg2"/>
                </a:solidFill>
              </a:rPr>
              <a:t>Rules from both arguments and the case file. Never reads the complaint.</a:t>
            </a:r>
            <a:endParaRPr lang="en-US" sz="1100" dirty="0"/>
          </a:p>
        </p:txBody>
      </p:sp>
      <p:sp>
        <p:nvSpPr>
          <p:cNvPr id="52" name="node-46"/>
          <p:cNvSpPr/>
          <p:nvPr/>
        </p:nvSpPr>
        <p:spPr>
          <a:xfrm>
            <a:off x="5158588" y="4114800"/>
            <a:ext cx="1874520" cy="1554480"/>
          </a:xfrm>
          <a:prstGeom prst="roundRect">
            <a:avLst>
              <a:gd name="adj" fmla="val 5882"/>
            </a:avLst>
          </a:prstGeom>
          <a:solidFill>
            <a:schemeClr val="bg1"/>
          </a:solidFill>
          <a:ln w="15875">
            <a:solidFill>
              <a:schemeClr val="tx2"/>
            </a:solidFill>
            <a:prstDash val="dash"/>
          </a:ln>
        </p:spPr>
      </p:sp>
      <p:pic>
        <p:nvPicPr>
          <p:cNvPr id="53" name="icon-47" descr="preencoded.png">    </p:cNvPr>
          <p:cNvPicPr>
            <a:picLocks noChangeAspect="1"/>
          </p:cNvPicPr>
          <p:nvPr/>
        </p:nvPicPr>
        <p:blipFill>
          <a:blip r:embed="rId11"/>
          <a:stretch>
            <a:fillRect/>
          </a:stretch>
        </p:blipFill>
        <p:spPr>
          <a:xfrm>
            <a:off x="5286604" y="4242816"/>
            <a:ext cx="292608" cy="292608"/>
          </a:xfrm>
          <a:prstGeom prst="rect">
            <a:avLst/>
          </a:prstGeom>
        </p:spPr>
      </p:pic>
      <p:sp>
        <p:nvSpPr>
          <p:cNvPr id="54" name="node-title-48"/>
          <p:cNvSpPr txBox="1"/>
          <p:nvPr/>
        </p:nvSpPr>
        <p:spPr>
          <a:xfrm>
            <a:off x="5670652" y="421538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Final checks</a:t>
            </a:r>
            <a:endParaRPr lang="en-US" sz="1400" dirty="0"/>
          </a:p>
        </p:txBody>
      </p:sp>
      <p:sp>
        <p:nvSpPr>
          <p:cNvPr id="55" name="node-sub-49"/>
          <p:cNvSpPr txBox="1"/>
          <p:nvPr/>
        </p:nvSpPr>
        <p:spPr>
          <a:xfrm>
            <a:off x="5286604" y="4608576"/>
            <a:ext cx="1618488" cy="1024128"/>
          </a:xfrm>
          <a:prstGeom prst="rect">
            <a:avLst/>
          </a:prstGeom>
          <a:noFill/>
          <a:ln/>
        </p:spPr>
        <p:txBody>
          <a:bodyPr wrap="square" lIns="0" tIns="0" rIns="0" bIns="0" rtlCol="0" anchor="t"/>
          <a:lstStyle/>
          <a:p>
            <a:pPr indent="0" marL="0">
              <a:buNone/>
            </a:pPr>
            <a:r>
              <a:rPr lang="en-US" sz="1100" dirty="0">
                <a:solidFill>
                  <a:schemeClr val="tx2"/>
                </a:solidFill>
              </a:rPr>
              <a:t>Confidence under 0.60? Risk bucket: repeat filer, fee of $120+, safety?</a:t>
            </a:r>
            <a:endParaRPr lang="en-US" sz="1100" dirty="0"/>
          </a:p>
        </p:txBody>
      </p:sp>
      <p:sp>
        <p:nvSpPr>
          <p:cNvPr id="56" name="node-50"/>
          <p:cNvSpPr/>
          <p:nvPr/>
        </p:nvSpPr>
        <p:spPr>
          <a:xfrm>
            <a:off x="7463561" y="4114800"/>
            <a:ext cx="1874520" cy="1554480"/>
          </a:xfrm>
          <a:prstGeom prst="roundRect">
            <a:avLst>
              <a:gd name="adj" fmla="val 5882"/>
            </a:avLst>
          </a:prstGeom>
          <a:solidFill>
            <a:schemeClr val="bg1"/>
          </a:solidFill>
          <a:ln w="15875">
            <a:solidFill>
              <a:schemeClr val="tx2"/>
            </a:solidFill>
            <a:prstDash val="dash"/>
          </a:ln>
        </p:spPr>
      </p:sp>
      <p:pic>
        <p:nvPicPr>
          <p:cNvPr id="57" name="icon-51" descr="preencoded.png">    </p:cNvPr>
          <p:cNvPicPr>
            <a:picLocks noChangeAspect="1"/>
          </p:cNvPicPr>
          <p:nvPr/>
        </p:nvPicPr>
        <p:blipFill>
          <a:blip r:embed="rId12"/>
          <a:stretch>
            <a:fillRect/>
          </a:stretch>
        </p:blipFill>
        <p:spPr>
          <a:xfrm>
            <a:off x="7591577" y="4242816"/>
            <a:ext cx="292608" cy="292608"/>
          </a:xfrm>
          <a:prstGeom prst="rect">
            <a:avLst/>
          </a:prstGeom>
        </p:spPr>
      </p:pic>
      <p:sp>
        <p:nvSpPr>
          <p:cNvPr id="58" name="node-title-52"/>
          <p:cNvSpPr txBox="1"/>
          <p:nvPr/>
        </p:nvSpPr>
        <p:spPr>
          <a:xfrm>
            <a:off x="7975625" y="421538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Compliance</a:t>
            </a:r>
            <a:endParaRPr lang="en-US" sz="1400" dirty="0"/>
          </a:p>
        </p:txBody>
      </p:sp>
      <p:sp>
        <p:nvSpPr>
          <p:cNvPr id="59" name="node-sub-53"/>
          <p:cNvSpPr txBox="1"/>
          <p:nvPr/>
        </p:nvSpPr>
        <p:spPr>
          <a:xfrm>
            <a:off x="7591577" y="4608576"/>
            <a:ext cx="1618488" cy="1024128"/>
          </a:xfrm>
          <a:prstGeom prst="rect">
            <a:avLst/>
          </a:prstGeom>
          <a:noFill/>
          <a:ln/>
        </p:spPr>
        <p:txBody>
          <a:bodyPr wrap="square" lIns="0" tIns="0" rIns="0" bIns="0" rtlCol="0" anchor="t"/>
          <a:lstStyle/>
          <a:p>
            <a:pPr indent="0" marL="0">
              <a:buNone/>
            </a:pPr>
            <a:r>
              <a:rPr lang="en-US" sz="1100" dirty="0">
                <a:solidFill>
                  <a:schemeClr val="tx2"/>
                </a:solidFill>
              </a:rPr>
              <a:t>Can veto a ruling that breaks a policy cap. Never writes one.</a:t>
            </a:r>
            <a:endParaRPr lang="en-US" sz="1100" dirty="0"/>
          </a:p>
        </p:txBody>
      </p:sp>
      <p:sp>
        <p:nvSpPr>
          <p:cNvPr id="60" name="node-54"/>
          <p:cNvSpPr/>
          <p:nvPr/>
        </p:nvSpPr>
        <p:spPr>
          <a:xfrm>
            <a:off x="9768535" y="4114800"/>
            <a:ext cx="1874520" cy="713232"/>
          </a:xfrm>
          <a:prstGeom prst="roundRect">
            <a:avLst>
              <a:gd name="adj" fmla="val 12821"/>
            </a:avLst>
          </a:prstGeom>
          <a:solidFill>
            <a:schemeClr val="accent3">
              <a:alpha val="14000"/>
            </a:schemeClr>
          </a:solidFill>
          <a:ln w="15875">
            <a:solidFill>
              <a:schemeClr val="accent3"/>
            </a:solidFill>
            <a:prstDash val="solid"/>
          </a:ln>
        </p:spPr>
      </p:sp>
      <p:pic>
        <p:nvPicPr>
          <p:cNvPr id="61" name="icon-55" descr="preencoded.png">    </p:cNvPr>
          <p:cNvPicPr>
            <a:picLocks noChangeAspect="1"/>
          </p:cNvPicPr>
          <p:nvPr/>
        </p:nvPicPr>
        <p:blipFill>
          <a:blip r:embed="rId13"/>
          <a:stretch>
            <a:fillRect/>
          </a:stretch>
        </p:blipFill>
        <p:spPr>
          <a:xfrm>
            <a:off x="9896551" y="4242816"/>
            <a:ext cx="292608" cy="292608"/>
          </a:xfrm>
          <a:prstGeom prst="rect">
            <a:avLst/>
          </a:prstGeom>
        </p:spPr>
      </p:pic>
      <p:sp>
        <p:nvSpPr>
          <p:cNvPr id="62" name="node-title-56"/>
          <p:cNvSpPr txBox="1"/>
          <p:nvPr/>
        </p:nvSpPr>
        <p:spPr>
          <a:xfrm>
            <a:off x="10280599" y="421538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Decided</a:t>
            </a:r>
            <a:endParaRPr lang="en-US" sz="1400" dirty="0"/>
          </a:p>
        </p:txBody>
      </p:sp>
      <p:sp>
        <p:nvSpPr>
          <p:cNvPr id="63" name="node-sub-57"/>
          <p:cNvSpPr txBox="1"/>
          <p:nvPr/>
        </p:nvSpPr>
        <p:spPr>
          <a:xfrm>
            <a:off x="9896551" y="4608576"/>
            <a:ext cx="1618488" cy="182880"/>
          </a:xfrm>
          <a:prstGeom prst="rect">
            <a:avLst/>
          </a:prstGeom>
          <a:noFill/>
          <a:ln/>
        </p:spPr>
        <p:txBody>
          <a:bodyPr wrap="square" lIns="0" tIns="0" rIns="0" bIns="0" rtlCol="0" anchor="t"/>
          <a:lstStyle/>
          <a:p>
            <a:pPr indent="0" marL="0">
              <a:buNone/>
            </a:pPr>
            <a:r>
              <a:rPr lang="en-US" sz="1050" dirty="0">
                <a:solidFill>
                  <a:schemeClr val="tx2"/>
                </a:solidFill>
              </a:rPr>
              <a:t>Every check passes</a:t>
            </a:r>
            <a:endParaRPr lang="en-US" sz="1050" dirty="0"/>
          </a:p>
        </p:txBody>
      </p:sp>
      <p:sp>
        <p:nvSpPr>
          <p:cNvPr id="64" name="node-58"/>
          <p:cNvSpPr/>
          <p:nvPr/>
        </p:nvSpPr>
        <p:spPr>
          <a:xfrm>
            <a:off x="9768535" y="4956048"/>
            <a:ext cx="1874520" cy="713232"/>
          </a:xfrm>
          <a:prstGeom prst="roundRect">
            <a:avLst>
              <a:gd name="adj" fmla="val 12821"/>
            </a:avLst>
          </a:prstGeom>
          <a:solidFill>
            <a:schemeClr val="accent4">
              <a:alpha val="14000"/>
            </a:schemeClr>
          </a:solidFill>
          <a:ln w="15875">
            <a:solidFill>
              <a:schemeClr val="accent4"/>
            </a:solidFill>
            <a:prstDash val="solid"/>
          </a:ln>
        </p:spPr>
      </p:sp>
      <p:pic>
        <p:nvPicPr>
          <p:cNvPr id="65" name="icon-59" descr="preencoded.png">    </p:cNvPr>
          <p:cNvPicPr>
            <a:picLocks noChangeAspect="1"/>
          </p:cNvPicPr>
          <p:nvPr/>
        </p:nvPicPr>
        <p:blipFill>
          <a:blip r:embed="rId14"/>
          <a:stretch>
            <a:fillRect/>
          </a:stretch>
        </p:blipFill>
        <p:spPr>
          <a:xfrm>
            <a:off x="9896551" y="5084064"/>
            <a:ext cx="292608" cy="292608"/>
          </a:xfrm>
          <a:prstGeom prst="rect">
            <a:avLst/>
          </a:prstGeom>
        </p:spPr>
      </p:pic>
      <p:sp>
        <p:nvSpPr>
          <p:cNvPr id="66" name="node-title-60"/>
          <p:cNvSpPr txBox="1"/>
          <p:nvPr/>
        </p:nvSpPr>
        <p:spPr>
          <a:xfrm>
            <a:off x="10280599" y="5056632"/>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Reviewer</a:t>
            </a:r>
            <a:endParaRPr lang="en-US" sz="1400" dirty="0"/>
          </a:p>
        </p:txBody>
      </p:sp>
      <p:sp>
        <p:nvSpPr>
          <p:cNvPr id="67" name="node-sub-61"/>
          <p:cNvSpPr txBox="1"/>
          <p:nvPr/>
        </p:nvSpPr>
        <p:spPr>
          <a:xfrm>
            <a:off x="9896551" y="5449824"/>
            <a:ext cx="1618488" cy="182880"/>
          </a:xfrm>
          <a:prstGeom prst="rect">
            <a:avLst/>
          </a:prstGeom>
          <a:noFill/>
          <a:ln/>
        </p:spPr>
        <p:txBody>
          <a:bodyPr wrap="square" lIns="0" tIns="0" rIns="0" bIns="0" rtlCol="0" anchor="t"/>
          <a:lstStyle/>
          <a:p>
            <a:pPr indent="0" marL="0">
              <a:buNone/>
            </a:pPr>
            <a:r>
              <a:rPr lang="en-US" sz="1050" dirty="0">
                <a:solidFill>
                  <a:schemeClr val="tx2"/>
                </a:solidFill>
              </a:rPr>
              <a:t>Any check flags</a:t>
            </a:r>
            <a:endParaRPr lang="en-US" sz="1050" dirty="0"/>
          </a:p>
        </p:txBody>
      </p:sp>
      <p:sp>
        <p:nvSpPr>
          <p:cNvPr id="68" name="arrow-62"/>
          <p:cNvSpPr/>
          <p:nvPr/>
        </p:nvSpPr>
        <p:spPr>
          <a:xfrm>
            <a:off x="2423160" y="4471416"/>
            <a:ext cx="430454" cy="0"/>
          </a:xfrm>
          <a:prstGeom prst="line">
            <a:avLst/>
          </a:prstGeom>
          <a:noFill/>
          <a:ln w="19050">
            <a:solidFill>
              <a:schemeClr val="tx2"/>
            </a:solidFill>
            <a:prstDash val="solid"/>
            <a:tailEnd type="triangle"/>
          </a:ln>
        </p:spPr>
      </p:sp>
      <p:sp>
        <p:nvSpPr>
          <p:cNvPr id="69" name="arrow-63"/>
          <p:cNvSpPr/>
          <p:nvPr/>
        </p:nvSpPr>
        <p:spPr>
          <a:xfrm>
            <a:off x="2423160" y="5312664"/>
            <a:ext cx="430454" cy="0"/>
          </a:xfrm>
          <a:prstGeom prst="line">
            <a:avLst/>
          </a:prstGeom>
          <a:noFill/>
          <a:ln w="19050">
            <a:solidFill>
              <a:schemeClr val="tx2"/>
            </a:solidFill>
            <a:prstDash val="solid"/>
            <a:tailEnd type="triangle"/>
          </a:ln>
        </p:spPr>
      </p:sp>
      <p:sp>
        <p:nvSpPr>
          <p:cNvPr id="70" name="arrow-64"/>
          <p:cNvSpPr/>
          <p:nvPr/>
        </p:nvSpPr>
        <p:spPr>
          <a:xfrm>
            <a:off x="4728134" y="4892040"/>
            <a:ext cx="430454" cy="0"/>
          </a:xfrm>
          <a:prstGeom prst="line">
            <a:avLst/>
          </a:prstGeom>
          <a:noFill/>
          <a:ln w="19050">
            <a:solidFill>
              <a:schemeClr val="tx2"/>
            </a:solidFill>
            <a:prstDash val="solid"/>
            <a:tailEnd type="triangle"/>
          </a:ln>
        </p:spPr>
      </p:sp>
      <p:sp>
        <p:nvSpPr>
          <p:cNvPr id="71" name="arrow-65"/>
          <p:cNvSpPr/>
          <p:nvPr/>
        </p:nvSpPr>
        <p:spPr>
          <a:xfrm>
            <a:off x="7033108" y="4892040"/>
            <a:ext cx="430454" cy="0"/>
          </a:xfrm>
          <a:prstGeom prst="line">
            <a:avLst/>
          </a:prstGeom>
          <a:noFill/>
          <a:ln w="19050">
            <a:solidFill>
              <a:schemeClr val="tx2"/>
            </a:solidFill>
            <a:prstDash val="solid"/>
            <a:tailEnd type="triangle"/>
          </a:ln>
        </p:spPr>
      </p:sp>
      <p:sp>
        <p:nvSpPr>
          <p:cNvPr id="72" name="arrow-66"/>
          <p:cNvSpPr/>
          <p:nvPr/>
        </p:nvSpPr>
        <p:spPr>
          <a:xfrm>
            <a:off x="9338081" y="4471416"/>
            <a:ext cx="430454" cy="0"/>
          </a:xfrm>
          <a:prstGeom prst="line">
            <a:avLst/>
          </a:prstGeom>
          <a:noFill/>
          <a:ln w="19050">
            <a:solidFill>
              <a:schemeClr val="accent3"/>
            </a:solidFill>
            <a:prstDash val="solid"/>
            <a:tailEnd type="triangle"/>
          </a:ln>
        </p:spPr>
      </p:sp>
      <p:sp>
        <p:nvSpPr>
          <p:cNvPr id="73" name="arrow-67"/>
          <p:cNvSpPr/>
          <p:nvPr/>
        </p:nvSpPr>
        <p:spPr>
          <a:xfrm>
            <a:off x="9338081" y="5312664"/>
            <a:ext cx="430454" cy="0"/>
          </a:xfrm>
          <a:prstGeom prst="line">
            <a:avLst/>
          </a:prstGeom>
          <a:noFill/>
          <a:ln w="19050">
            <a:solidFill>
              <a:schemeClr val="accent4"/>
            </a:solidFill>
            <a:prstDash val="solid"/>
            <a:tailEnd type="triangle"/>
          </a:ln>
        </p:spPr>
      </p:sp>
      <p:sp>
        <p:nvSpPr>
          <p:cNvPr id="74" name="legend-key-68"/>
          <p:cNvSpPr/>
          <p:nvPr/>
        </p:nvSpPr>
        <p:spPr>
          <a:xfrm>
            <a:off x="548640" y="5998464"/>
            <a:ext cx="292608" cy="201168"/>
          </a:xfrm>
          <a:prstGeom prst="roundRect">
            <a:avLst>
              <a:gd name="adj" fmla="val 22727"/>
            </a:avLst>
          </a:prstGeom>
          <a:solidFill>
            <a:schemeClr val="tx1"/>
          </a:solidFill>
          <a:ln/>
        </p:spPr>
      </p:sp>
      <p:sp>
        <p:nvSpPr>
          <p:cNvPr id="75" name="legend-text-69"/>
          <p:cNvSpPr txBox="1"/>
          <p:nvPr/>
        </p:nvSpPr>
        <p:spPr>
          <a:xfrm>
            <a:off x="93268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AI step (model call)</a:t>
            </a:r>
            <a:endParaRPr lang="en-US" sz="1100" dirty="0"/>
          </a:p>
        </p:txBody>
      </p:sp>
      <p:sp>
        <p:nvSpPr>
          <p:cNvPr id="76" name="legend-key-70"/>
          <p:cNvSpPr/>
          <p:nvPr/>
        </p:nvSpPr>
        <p:spPr>
          <a:xfrm>
            <a:off x="2788920" y="5998464"/>
            <a:ext cx="292608" cy="201168"/>
          </a:xfrm>
          <a:prstGeom prst="roundRect">
            <a:avLst>
              <a:gd name="adj" fmla="val 22727"/>
            </a:avLst>
          </a:prstGeom>
          <a:solidFill>
            <a:schemeClr val="bg1"/>
          </a:solidFill>
          <a:ln w="15875">
            <a:solidFill>
              <a:schemeClr val="tx2"/>
            </a:solidFill>
            <a:prstDash val="dash"/>
          </a:ln>
        </p:spPr>
      </p:sp>
      <p:sp>
        <p:nvSpPr>
          <p:cNvPr id="77" name="legend-text-71"/>
          <p:cNvSpPr txBox="1"/>
          <p:nvPr/>
        </p:nvSpPr>
        <p:spPr>
          <a:xfrm>
            <a:off x="317296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Plain code, no AI</a:t>
            </a:r>
            <a:endParaRPr lang="en-US" sz="1100" dirty="0"/>
          </a:p>
        </p:txBody>
      </p:sp>
      <p:sp>
        <p:nvSpPr>
          <p:cNvPr id="78" name="legend-key-72"/>
          <p:cNvSpPr/>
          <p:nvPr/>
        </p:nvSpPr>
        <p:spPr>
          <a:xfrm>
            <a:off x="5029200" y="5998464"/>
            <a:ext cx="292608" cy="201168"/>
          </a:xfrm>
          <a:prstGeom prst="roundRect">
            <a:avLst>
              <a:gd name="adj" fmla="val 22727"/>
            </a:avLst>
          </a:prstGeom>
          <a:solidFill>
            <a:schemeClr val="accent4">
              <a:alpha val="14000"/>
            </a:schemeClr>
          </a:solidFill>
          <a:ln w="15875">
            <a:solidFill>
              <a:schemeClr val="accent4"/>
            </a:solidFill>
            <a:prstDash val="solid"/>
          </a:ln>
        </p:spPr>
      </p:sp>
      <p:sp>
        <p:nvSpPr>
          <p:cNvPr id="79" name="legend-text-73"/>
          <p:cNvSpPr txBox="1"/>
          <p:nvPr/>
        </p:nvSpPr>
        <p:spPr>
          <a:xfrm>
            <a:off x="541324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 person decides</a:t>
            </a:r>
            <a:endParaRPr lang="en-US" sz="1100" dirty="0"/>
          </a:p>
        </p:txBody>
      </p:sp>
      <p:sp>
        <p:nvSpPr>
          <p:cNvPr id="80" name="legend-key-74"/>
          <p:cNvSpPr/>
          <p:nvPr/>
        </p:nvSpPr>
        <p:spPr>
          <a:xfrm>
            <a:off x="7269480" y="5998464"/>
            <a:ext cx="292608" cy="201168"/>
          </a:xfrm>
          <a:prstGeom prst="roundRect">
            <a:avLst>
              <a:gd name="adj" fmla="val 22727"/>
            </a:avLst>
          </a:prstGeom>
          <a:solidFill>
            <a:schemeClr val="accent1"/>
          </a:solidFill>
          <a:ln/>
        </p:spPr>
      </p:sp>
      <p:sp>
        <p:nvSpPr>
          <p:cNvPr id="81" name="legend-text-75"/>
          <p:cNvSpPr txBox="1"/>
          <p:nvPr/>
        </p:nvSpPr>
        <p:spPr>
          <a:xfrm>
            <a:off x="765352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Rider's side</a:t>
            </a:r>
            <a:endParaRPr lang="en-US" sz="1100" dirty="0"/>
          </a:p>
        </p:txBody>
      </p:sp>
      <p:sp>
        <p:nvSpPr>
          <p:cNvPr id="82" name="legend-key-76"/>
          <p:cNvSpPr/>
          <p:nvPr/>
        </p:nvSpPr>
        <p:spPr>
          <a:xfrm>
            <a:off x="9509760" y="5998464"/>
            <a:ext cx="292608" cy="201168"/>
          </a:xfrm>
          <a:prstGeom prst="roundRect">
            <a:avLst>
              <a:gd name="adj" fmla="val 22727"/>
            </a:avLst>
          </a:prstGeom>
          <a:solidFill>
            <a:schemeClr val="accent2"/>
          </a:solidFill>
          <a:ln/>
        </p:spPr>
      </p:sp>
      <p:sp>
        <p:nvSpPr>
          <p:cNvPr id="83" name="legend-text-77"/>
          <p:cNvSpPr txBox="1"/>
          <p:nvPr/>
        </p:nvSpPr>
        <p:spPr>
          <a:xfrm>
            <a:off x="989380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Driver's side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Five agents, narrow permissions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Each agent sees only what its job needs. Boundaries are enforced in code, not asked for in a prompt.</a:t>
            </a:r>
            <a:endParaRPr lang="en-US" sz="1500" dirty="0"/>
          </a:p>
        </p:txBody>
      </p:sp>
      <p:graphicFrame>
        <p:nvGraphicFramePr>
          <p:cNvPr id="4" name="permissions-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65960"/>
                <a:gridCol w="2057400"/>
                <a:gridCol w="2331720"/>
                <a:gridCol w="1280160"/>
                <a:gridCol w="1325880"/>
                <a:gridCol w="2130552"/>
              </a:tblGrid>
              <a:tr h="457200">
                <a:tc>
                  <a:txBody>
                    <a:bodyPr/>
                    <a:lstStyle/>
                    <a:p>
                      <a:pPr indent="0" marL="0">
                        <a:buNone/>
                      </a:pPr>
                      <a:r>
                        <a:rPr lang="en-US" sz="1300" b="1" dirty="0">
                          <a:solidFill>
                            <a:schemeClr val="bg1"/>
                          </a:solidFill>
                          <a:latin typeface="Arial" pitchFamily="34" charset="0"/>
                          <a:ea typeface="Arial" pitchFamily="34" charset="-122"/>
                          <a:cs typeface="Arial" pitchFamily="34" charset="-120"/>
                        </a:rPr>
                        <a:t>Agent</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Arial" pitchFamily="34" charset="0"/>
                          <a:ea typeface="Arial" pitchFamily="34" charset="-122"/>
                          <a:cs typeface="Arial" pitchFamily="34" charset="-120"/>
                        </a:rPr>
                        <a:t>Works from</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Arial" pitchFamily="34" charset="0"/>
                          <a:ea typeface="Arial" pitchFamily="34" charset="-122"/>
                          <a:cs typeface="Arial" pitchFamily="34" charset="-120"/>
                        </a:rPr>
                        <a:t>Tools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Arial" pitchFamily="34" charset="0"/>
                          <a:ea typeface="Arial" pitchFamily="34" charset="-122"/>
                          <a:cs typeface="Arial" pitchFamily="34" charset="-120"/>
                        </a:rPr>
                        <a:t>Raw database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Arial" pitchFamily="34" charset="0"/>
                          <a:ea typeface="Arial" pitchFamily="34" charset="-122"/>
                          <a:cs typeface="Arial" pitchFamily="34" charset="-120"/>
                        </a:rPr>
                        <a:t>Complaint text</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Arial" pitchFamily="34" charset="0"/>
                          <a:ea typeface="Arial" pitchFamily="34" charset="-122"/>
                          <a:cs typeface="Arial" pitchFamily="34" charset="-120"/>
                        </a:rPr>
                        <a:t>Produces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tx1"/>
                    </a:solidFill>
                  </a:tcPr>
                </a:tc>
              </a:tr>
              <a:tr h="603504">
                <a:tc>
                  <a:txBody>
                    <a:bodyPr/>
                    <a:lstStyle/>
                    <a:p>
                      <a:pPr indent="0" marL="0">
                        <a:buNone/>
                      </a:pPr>
                      <a:r>
                        <a:rPr lang="en-US" sz="1300" dirty="0">
                          <a:solidFill>
                            <a:schemeClr val="tx1"/>
                          </a:solidFill>
                          <a:latin typeface="Arial" pitchFamily="34" charset="0"/>
                          <a:ea typeface="Arial" pitchFamily="34" charset="-122"/>
                          <a:cs typeface="Arial" pitchFamily="34" charset="-120"/>
                        </a:rPr>
                        <a:t>●  </a:t>
                      </a:r>
                      <a:pPr indent="0" marL="0">
                        <a:buNone/>
                      </a:pPr>
                      <a:r>
                        <a:rPr lang="en-US" sz="1300" b="1" dirty="0">
                          <a:solidFill>
                            <a:schemeClr val="tx1"/>
                          </a:solidFill>
                          <a:latin typeface="Arial" pitchFamily="34" charset="0"/>
                          <a:ea typeface="Arial" pitchFamily="34" charset="-122"/>
                          <a:cs typeface="Arial" pitchFamily="34" charset="-120"/>
                        </a:rPr>
                        <a:t>Triage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The person's own words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Kind of dispute, severity, safety flag</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latin typeface="Arial" pitchFamily="34" charset="0"/>
                          <a:ea typeface="Arial" pitchFamily="34" charset="-122"/>
                          <a:cs typeface="Arial" pitchFamily="34" charset="-120"/>
                        </a:rPr>
                        <a:t>●  </a:t>
                      </a:r>
                      <a:pPr indent="0" marL="0">
                        <a:buNone/>
                      </a:pPr>
                      <a:r>
                        <a:rPr lang="en-US" sz="1300" b="1" dirty="0">
                          <a:solidFill>
                            <a:schemeClr val="tx1"/>
                          </a:solidFill>
                          <a:latin typeface="Arial" pitchFamily="34" charset="0"/>
                          <a:ea typeface="Arial" pitchFamily="34" charset="-122"/>
                          <a:cs typeface="Arial" pitchFamily="34" charset="-120"/>
                        </a:rPr>
                        <a:t>Evidence Collection</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The trip records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Database query, policy search</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latin typeface="Arial" pitchFamily="34" charset="0"/>
                          <a:ea typeface="Arial" pitchFamily="34" charset="-122"/>
                          <a:cs typeface="Arial" pitchFamily="34" charset="-120"/>
                        </a:rPr>
                        <a:t>Only agent</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Case file: every item has a citable ID</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accent1"/>
                          </a:solidFill>
                          <a:latin typeface="Arial" pitchFamily="34" charset="0"/>
                          <a:ea typeface="Arial" pitchFamily="34" charset="-122"/>
                          <a:cs typeface="Arial" pitchFamily="34" charset="-120"/>
                        </a:rPr>
                        <a:t>●  </a:t>
                      </a:r>
                      <a:pPr indent="0" marL="0">
                        <a:buNone/>
                      </a:pPr>
                      <a:r>
                        <a:rPr lang="en-US" sz="1300" b="1" dirty="0">
                          <a:solidFill>
                            <a:schemeClr val="tx1"/>
                          </a:solidFill>
                          <a:latin typeface="Arial" pitchFamily="34" charset="0"/>
                          <a:ea typeface="Arial" pitchFamily="34" charset="-122"/>
                          <a:cs typeface="Arial" pitchFamily="34" charset="-120"/>
                        </a:rPr>
                        <a:t>Rider's advocate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Case file + both parties' words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Evidence lookup (case file only), policy search</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Argument citing evidence IDs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accent2"/>
                          </a:solidFill>
                          <a:latin typeface="Arial" pitchFamily="34" charset="0"/>
                          <a:ea typeface="Arial" pitchFamily="34" charset="-122"/>
                          <a:cs typeface="Arial" pitchFamily="34" charset="-120"/>
                        </a:rPr>
                        <a:t>●  </a:t>
                      </a:r>
                      <a:pPr indent="0" marL="0">
                        <a:buNone/>
                      </a:pPr>
                      <a:r>
                        <a:rPr lang="en-US" sz="1300" b="1" dirty="0">
                          <a:solidFill>
                            <a:schemeClr val="tx1"/>
                          </a:solidFill>
                          <a:latin typeface="Arial" pitchFamily="34" charset="0"/>
                          <a:ea typeface="Arial" pitchFamily="34" charset="-122"/>
                          <a:cs typeface="Arial" pitchFamily="34" charset="-120"/>
                        </a:rPr>
                        <a:t>Driver's advocate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Case file + both parties' words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Evidence lookup (case file only), policy search</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Argument citing evidence IDs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r>
              <a:tr h="603504">
                <a:tc>
                  <a:txBody>
                    <a:bodyPr/>
                    <a:lstStyle/>
                    <a:p>
                      <a:pPr indent="0" marL="0">
                        <a:buNone/>
                      </a:pPr>
                      <a:r>
                        <a:rPr lang="en-US" sz="1300" dirty="0">
                          <a:solidFill>
                            <a:schemeClr val="tx1"/>
                          </a:solidFill>
                          <a:latin typeface="Arial" pitchFamily="34" charset="0"/>
                          <a:ea typeface="Arial" pitchFamily="34" charset="-122"/>
                          <a:cs typeface="Arial" pitchFamily="34" charset="-120"/>
                        </a:rPr>
                        <a:t>●  </a:t>
                      </a:r>
                      <a:pPr indent="0" marL="0">
                        <a:buNone/>
                      </a:pPr>
                      <a:r>
                        <a:rPr lang="en-US" sz="1300" b="1" dirty="0">
                          <a:solidFill>
                            <a:schemeClr val="tx1"/>
                          </a:solidFill>
                          <a:latin typeface="Arial" pitchFamily="34" charset="0"/>
                          <a:ea typeface="Arial" pitchFamily="34" charset="-122"/>
                          <a:cs typeface="Arial" pitchFamily="34" charset="-120"/>
                        </a:rPr>
                        <a:t>Judge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Case file + both arguments</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Policy search, risk-bucket lookup, ask for a person</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latin typeface="Arial" pitchFamily="34" charset="0"/>
                          <a:ea typeface="Arial" pitchFamily="34" charset="-122"/>
                          <a:cs typeface="Arial" pitchFamily="34" charset="-120"/>
                        </a:rPr>
                        <a:t>Never</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Ruling, findings citing evidence, confidence</a:t>
                      </a:r>
                      <a:endParaRPr lang="en-US" sz="1300" dirty="0">
                        <a:latin typeface="Arial" charset="0"/>
                        <a:ea typeface="Arial" charset="0"/>
                        <a:cs typeface="Arial" charset="0"/>
                      </a:endParaRPr>
                    </a:p>
                  </a:txBody>
                  <a:tcPr marL="109728" marR="109728" marT="54864" marB="54864" anchor="ctr">
                    <a:lnL w="9525" cap="flat" cmpd="sng" algn="ctr">
                      <a:solidFill>
                        <a:srgbClr val="E8E8ED"/>
                      </a:solidFill>
                      <a:prstDash val="solid"/>
                      <a:round/>
                      <a:headEnd type="none" w="med" len="med"/>
                      <a:tailEnd type="none" w="med" len="med"/>
                    </a:lnL>
                    <a:lnR w="9525" cap="flat" cmpd="sng" algn="ctr">
                      <a:solidFill>
                        <a:srgbClr val="E8E8ED"/>
                      </a:solidFill>
                      <a:prstDash val="solid"/>
                      <a:round/>
                      <a:headEnd type="none" w="med" len="med"/>
                      <a:tailEnd type="none" w="med" len="med"/>
                    </a:lnR>
                    <a:lnT w="9525" cap="flat" cmpd="sng" algn="ctr">
                      <a:solidFill>
                        <a:srgbClr val="E8E8ED"/>
                      </a:solidFill>
                      <a:prstDash val="solid"/>
                      <a:round/>
                      <a:headEnd type="none" w="med" len="med"/>
                      <a:tailEnd type="none" w="med" len="med"/>
                    </a:lnT>
                    <a:lnB w="9525" cap="flat" cmpd="sng" algn="ctr">
                      <a:solidFill>
                        <a:srgbClr val="E8E8ED"/>
                      </a:solidFill>
                      <a:prstDash val="solid"/>
                      <a:round/>
                      <a:headEnd type="none" w="med" len="med"/>
                      <a:tailEnd type="none" w="med" len="med"/>
                    </a:lnB>
                    <a:solidFill>
                      <a:schemeClr val="bg1"/>
                    </a:solidFill>
                  </a:tcPr>
                </a:tc>
              </a:tr>
            </a:tbl>
          </a:graphicData>
        </a:graphic>
      </p:graphicFrame>
      <p:sp>
        <p:nvSpPr>
          <p:cNvPr id="5" name="vision-card"/>
          <p:cNvSpPr/>
          <p:nvPr/>
        </p:nvSpPr>
        <p:spPr>
          <a:xfrm>
            <a:off x="548640" y="5303520"/>
            <a:ext cx="11094415" cy="868680"/>
          </a:xfrm>
          <a:prstGeom prst="roundRect">
            <a:avLst>
              <a:gd name="adj" fmla="val 12632"/>
            </a:avLst>
          </a:prstGeom>
          <a:solidFill>
            <a:schemeClr val="bg1"/>
          </a:solidFill>
          <a:ln/>
          <a:effectLst>
            <a:outerShdw sx="100000" sy="100000" kx="0" ky="0" algn="bl" rotWithShape="0" blurRad="101600" dist="25400" dir="5400000">
              <a:srgbClr val="000000">
                <a:alpha val="8000"/>
              </a:srgbClr>
            </a:outerShdw>
          </a:effectLst>
        </p:spPr>
      </p:sp>
      <p:pic>
        <p:nvPicPr>
          <p:cNvPr id="6" name="vision-icon" descr="preencoded.png">    </p:cNvPr>
          <p:cNvPicPr>
            <a:picLocks noChangeAspect="1"/>
          </p:cNvPicPr>
          <p:nvPr/>
        </p:nvPicPr>
        <p:blipFill>
          <a:blip r:embed="rId1"/>
          <a:stretch>
            <a:fillRect/>
          </a:stretch>
        </p:blipFill>
        <p:spPr>
          <a:xfrm>
            <a:off x="777240" y="5550408"/>
            <a:ext cx="365760" cy="365760"/>
          </a:xfrm>
          <a:prstGeom prst="rect">
            <a:avLst/>
          </a:prstGeom>
        </p:spPr>
      </p:pic>
      <p:sp>
        <p:nvSpPr>
          <p:cNvPr id="7" name="vision-text"/>
          <p:cNvSpPr txBox="1"/>
          <p:nvPr/>
        </p:nvSpPr>
        <p:spPr>
          <a:xfrm>
            <a:off x="1325880" y="5394960"/>
            <a:ext cx="10088575" cy="685800"/>
          </a:xfrm>
          <a:prstGeom prst="rect">
            <a:avLst/>
          </a:prstGeom>
          <a:noFill/>
          <a:ln/>
        </p:spPr>
        <p:txBody>
          <a:bodyPr wrap="square" lIns="0" tIns="0" rIns="0" bIns="0" rtlCol="0" anchor="ctr"/>
          <a:lstStyle/>
          <a:p>
            <a:pPr indent="0" marL="0">
              <a:buNone/>
            </a:pPr>
            <a:r>
              <a:rPr lang="en-US" sz="1400" b="1" dirty="0">
                <a:solidFill>
                  <a:schemeClr val="tx1"/>
                </a:solidFill>
              </a:rPr>
              <a:t>Photo check (vision model):</a:t>
            </a:r>
            <a:pPr indent="0" marL="0">
              <a:buNone/>
            </a:pPr>
            <a:r>
              <a:rPr lang="en-US" sz="1400" dirty="0">
                <a:solidFill>
                  <a:schemeClr val="tx1"/>
                </a:solidFill>
              </a:rPr>
              <a:t> reports only what the photo shows (mess type, extent). Code maps that to Ryde's fee table ($40 / $120 / $200), so no model ever picks an amount.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Every finding cites evidence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claim that points at nothing in the case file is struck before anyone acts on it.</a:t>
            </a:r>
            <a:endParaRPr lang="en-US" sz="1500" dirty="0"/>
          </a:p>
        </p:txBody>
      </p:sp>
      <p:sp>
        <p:nvSpPr>
          <p:cNvPr id="4" name="records-card"/>
          <p:cNvSpPr/>
          <p:nvPr/>
        </p:nvSpPr>
        <p:spPr>
          <a:xfrm>
            <a:off x="548640" y="1783080"/>
            <a:ext cx="2103120" cy="2331720"/>
          </a:xfrm>
          <a:prstGeom prst="roundRect">
            <a:avLst>
              <a:gd name="adj" fmla="val 5217"/>
            </a:avLst>
          </a:prstGeom>
          <a:solidFill>
            <a:schemeClr val="bg1"/>
          </a:solidFill>
          <a:ln/>
          <a:effectLst>
            <a:outerShdw sx="100000" sy="100000" kx="0" ky="0" algn="bl" rotWithShape="0" blurRad="101600" dist="25400" dir="5400000">
              <a:srgbClr val="000000">
                <a:alpha val="8000"/>
              </a:srgbClr>
            </a:outerShdw>
          </a:effectLst>
        </p:spPr>
      </p:sp>
      <p:pic>
        <p:nvPicPr>
          <p:cNvPr id="5" name="records-icon" descr="preencoded.png">    </p:cNvPr>
          <p:cNvPicPr>
            <a:picLocks noChangeAspect="1"/>
          </p:cNvPicPr>
          <p:nvPr/>
        </p:nvPicPr>
        <p:blipFill>
          <a:blip r:embed="rId1"/>
          <a:stretch>
            <a:fillRect/>
          </a:stretch>
        </p:blipFill>
        <p:spPr>
          <a:xfrm>
            <a:off x="731520" y="1965960"/>
            <a:ext cx="347472" cy="347472"/>
          </a:xfrm>
          <a:prstGeom prst="rect">
            <a:avLst/>
          </a:prstGeom>
        </p:spPr>
      </p:pic>
      <p:sp>
        <p:nvSpPr>
          <p:cNvPr id="6" name="records-title"/>
          <p:cNvSpPr txBox="1"/>
          <p:nvPr/>
        </p:nvSpPr>
        <p:spPr>
          <a:xfrm>
            <a:off x="1188720" y="1965960"/>
            <a:ext cx="1371600" cy="347472"/>
          </a:xfrm>
          <a:prstGeom prst="rect">
            <a:avLst/>
          </a:prstGeom>
          <a:noFill/>
          <a:ln/>
        </p:spPr>
        <p:txBody>
          <a:bodyPr wrap="square" lIns="0" tIns="0" rIns="0" bIns="0" rtlCol="0" anchor="ctr"/>
          <a:lstStyle/>
          <a:p>
            <a:pPr indent="0" marL="0">
              <a:buNone/>
            </a:pPr>
            <a:r>
              <a:rPr lang="en-US" sz="1400" b="1" dirty="0">
                <a:solidFill>
                  <a:schemeClr val="tx1"/>
                </a:solidFill>
              </a:rPr>
              <a:t>Trip records</a:t>
            </a:r>
            <a:endParaRPr lang="en-US" sz="1400" dirty="0"/>
          </a:p>
        </p:txBody>
      </p:sp>
      <p:sp>
        <p:nvSpPr>
          <p:cNvPr id="7" name="records-body"/>
          <p:cNvSpPr txBox="1"/>
          <p:nvPr/>
        </p:nvSpPr>
        <p:spPr>
          <a:xfrm>
            <a:off x="731520" y="2468880"/>
            <a:ext cx="1783080" cy="1463040"/>
          </a:xfrm>
          <a:prstGeom prst="rect">
            <a:avLst/>
          </a:prstGeom>
          <a:noFill/>
          <a:ln/>
        </p:spPr>
        <p:txBody>
          <a:bodyPr wrap="square" lIns="0" tIns="0" rIns="0" bIns="0" rtlCol="0" anchor="t"/>
          <a:lstStyle/>
          <a:p>
            <a:pPr indent="0" marL="0">
              <a:buNone/>
            </a:pPr>
            <a:r>
              <a:rPr lang="en-US" sz="1200" dirty="0">
                <a:solidFill>
                  <a:schemeClr val="tx2"/>
                </a:solidFill>
              </a:rPr>
              <a:t>GPS trace, planned and driven route, fare, in-app messages, photos, both parties' dispute history</a:t>
            </a:r>
            <a:endParaRPr lang="en-US" sz="1200" dirty="0"/>
          </a:p>
        </p:txBody>
      </p:sp>
      <p:sp>
        <p:nvSpPr>
          <p:cNvPr id="8" name="arrow-78"/>
          <p:cNvSpPr/>
          <p:nvPr/>
        </p:nvSpPr>
        <p:spPr>
          <a:xfrm>
            <a:off x="2651760" y="2948940"/>
            <a:ext cx="411480" cy="0"/>
          </a:xfrm>
          <a:prstGeom prst="line">
            <a:avLst/>
          </a:prstGeom>
          <a:noFill/>
          <a:ln w="19050">
            <a:solidFill>
              <a:schemeClr val="tx2"/>
            </a:solidFill>
            <a:prstDash val="solid"/>
            <a:tailEnd type="triangle"/>
          </a:ln>
        </p:spPr>
      </p:sp>
      <p:sp>
        <p:nvSpPr>
          <p:cNvPr id="9" name="casefile-card"/>
          <p:cNvSpPr/>
          <p:nvPr/>
        </p:nvSpPr>
        <p:spPr>
          <a:xfrm>
            <a:off x="3063240" y="1783080"/>
            <a:ext cx="3474720" cy="2331720"/>
          </a:xfrm>
          <a:prstGeom prst="roundRect">
            <a:avLst>
              <a:gd name="adj" fmla="val 4706"/>
            </a:avLst>
          </a:prstGeom>
          <a:solidFill>
            <a:schemeClr val="bg1"/>
          </a:solidFill>
          <a:ln/>
          <a:effectLst>
            <a:outerShdw sx="100000" sy="100000" kx="0" ky="0" algn="bl" rotWithShape="0" blurRad="101600" dist="25400" dir="5400000">
              <a:srgbClr val="000000">
                <a:alpha val="8000"/>
              </a:srgbClr>
            </a:outerShdw>
          </a:effectLst>
        </p:spPr>
      </p:sp>
      <p:pic>
        <p:nvPicPr>
          <p:cNvPr id="10" name="casefile-icon" descr="preencoded.png">    </p:cNvPr>
          <p:cNvPicPr>
            <a:picLocks noChangeAspect="1"/>
          </p:cNvPicPr>
          <p:nvPr/>
        </p:nvPicPr>
        <p:blipFill>
          <a:blip r:embed="rId2"/>
          <a:stretch>
            <a:fillRect/>
          </a:stretch>
        </p:blipFill>
        <p:spPr>
          <a:xfrm>
            <a:off x="3246120" y="1965960"/>
            <a:ext cx="347472" cy="347472"/>
          </a:xfrm>
          <a:prstGeom prst="rect">
            <a:avLst/>
          </a:prstGeom>
        </p:spPr>
      </p:pic>
      <p:sp>
        <p:nvSpPr>
          <p:cNvPr id="11" name="casefile-title"/>
          <p:cNvSpPr txBox="1"/>
          <p:nvPr/>
        </p:nvSpPr>
        <p:spPr>
          <a:xfrm>
            <a:off x="3703320" y="1965960"/>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Case file, every item citable</a:t>
            </a:r>
            <a:endParaRPr lang="en-US" sz="1400" dirty="0"/>
          </a:p>
        </p:txBody>
      </p:sp>
      <p:sp>
        <p:nvSpPr>
          <p:cNvPr id="12" name="chip-79"/>
          <p:cNvSpPr/>
          <p:nvPr/>
        </p:nvSpPr>
        <p:spPr>
          <a:xfrm>
            <a:off x="3246120" y="2514600"/>
            <a:ext cx="771754" cy="292608"/>
          </a:xfrm>
          <a:prstGeom prst="roundRect">
            <a:avLst>
              <a:gd name="adj" fmla="val 18750"/>
            </a:avLst>
          </a:prstGeom>
          <a:solidFill>
            <a:schemeClr val="bg2"/>
          </a:solidFill>
          <a:ln w="9525">
            <a:solidFill>
              <a:schemeClr val="tx2"/>
            </a:solidFill>
            <a:prstDash val="solid"/>
          </a:ln>
        </p:spPr>
      </p:sp>
      <p:sp>
        <p:nvSpPr>
          <p:cNvPr id="13" name="chip-text-80"/>
          <p:cNvSpPr txBox="1"/>
          <p:nvPr/>
        </p:nvSpPr>
        <p:spPr>
          <a:xfrm>
            <a:off x="3246120" y="2514600"/>
            <a:ext cx="771754"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MSG-0459</a:t>
            </a:r>
            <a:endParaRPr lang="en-US" sz="1000" dirty="0"/>
          </a:p>
        </p:txBody>
      </p:sp>
      <p:sp>
        <p:nvSpPr>
          <p:cNvPr id="14" name="chip-81"/>
          <p:cNvSpPr/>
          <p:nvPr/>
        </p:nvSpPr>
        <p:spPr>
          <a:xfrm>
            <a:off x="4109314" y="2514600"/>
            <a:ext cx="695858" cy="292608"/>
          </a:xfrm>
          <a:prstGeom prst="roundRect">
            <a:avLst>
              <a:gd name="adj" fmla="val 18750"/>
            </a:avLst>
          </a:prstGeom>
          <a:solidFill>
            <a:schemeClr val="bg2"/>
          </a:solidFill>
          <a:ln w="9525">
            <a:solidFill>
              <a:schemeClr val="tx2"/>
            </a:solidFill>
            <a:prstDash val="solid"/>
          </a:ln>
        </p:spPr>
      </p:sp>
      <p:sp>
        <p:nvSpPr>
          <p:cNvPr id="15" name="chip-text-82"/>
          <p:cNvSpPr txBox="1"/>
          <p:nvPr/>
        </p:nvSpPr>
        <p:spPr>
          <a:xfrm>
            <a:off x="4109314" y="2514600"/>
            <a:ext cx="695858"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EV-0035</a:t>
            </a:r>
            <a:endParaRPr lang="en-US" sz="1000" dirty="0"/>
          </a:p>
        </p:txBody>
      </p:sp>
      <p:sp>
        <p:nvSpPr>
          <p:cNvPr id="16" name="chip-83"/>
          <p:cNvSpPr/>
          <p:nvPr/>
        </p:nvSpPr>
        <p:spPr>
          <a:xfrm>
            <a:off x="4896612" y="2514600"/>
            <a:ext cx="695858" cy="292608"/>
          </a:xfrm>
          <a:prstGeom prst="roundRect">
            <a:avLst>
              <a:gd name="adj" fmla="val 18750"/>
            </a:avLst>
          </a:prstGeom>
          <a:solidFill>
            <a:schemeClr val="bg2"/>
          </a:solidFill>
          <a:ln w="9525">
            <a:solidFill>
              <a:schemeClr val="tx2"/>
            </a:solidFill>
            <a:prstDash val="solid"/>
          </a:ln>
        </p:spPr>
      </p:sp>
      <p:sp>
        <p:nvSpPr>
          <p:cNvPr id="17" name="chip-text-84"/>
          <p:cNvSpPr txBox="1"/>
          <p:nvPr/>
        </p:nvSpPr>
        <p:spPr>
          <a:xfrm>
            <a:off x="4896612" y="2514600"/>
            <a:ext cx="695858"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PAYMENT</a:t>
            </a:r>
            <a:endParaRPr lang="en-US" sz="1000" dirty="0"/>
          </a:p>
        </p:txBody>
      </p:sp>
      <p:sp>
        <p:nvSpPr>
          <p:cNvPr id="18" name="chip-85"/>
          <p:cNvSpPr/>
          <p:nvPr/>
        </p:nvSpPr>
        <p:spPr>
          <a:xfrm>
            <a:off x="3246120" y="2898648"/>
            <a:ext cx="1378915" cy="292608"/>
          </a:xfrm>
          <a:prstGeom prst="roundRect">
            <a:avLst>
              <a:gd name="adj" fmla="val 18750"/>
            </a:avLst>
          </a:prstGeom>
          <a:solidFill>
            <a:schemeClr val="bg2"/>
          </a:solidFill>
          <a:ln w="9525">
            <a:solidFill>
              <a:schemeClr val="tx2"/>
            </a:solidFill>
            <a:prstDash val="solid"/>
          </a:ln>
        </p:spPr>
      </p:sp>
      <p:sp>
        <p:nvSpPr>
          <p:cNvPr id="19" name="chip-text-86"/>
          <p:cNvSpPr txBox="1"/>
          <p:nvPr/>
        </p:nvSpPr>
        <p:spPr>
          <a:xfrm>
            <a:off x="3246120" y="2898648"/>
            <a:ext cx="1378915"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ROUTE-COMPARISON</a:t>
            </a:r>
            <a:endParaRPr lang="en-US" sz="1000" dirty="0"/>
          </a:p>
        </p:txBody>
      </p:sp>
      <p:sp>
        <p:nvSpPr>
          <p:cNvPr id="20" name="chip-87"/>
          <p:cNvSpPr/>
          <p:nvPr/>
        </p:nvSpPr>
        <p:spPr>
          <a:xfrm>
            <a:off x="4716475" y="2898648"/>
            <a:ext cx="923544" cy="292608"/>
          </a:xfrm>
          <a:prstGeom prst="roundRect">
            <a:avLst>
              <a:gd name="adj" fmla="val 18750"/>
            </a:avLst>
          </a:prstGeom>
          <a:solidFill>
            <a:schemeClr val="bg2"/>
          </a:solidFill>
          <a:ln w="9525">
            <a:solidFill>
              <a:schemeClr val="tx2"/>
            </a:solidFill>
            <a:prstDash val="solid"/>
          </a:ln>
        </p:spPr>
      </p:sp>
      <p:sp>
        <p:nvSpPr>
          <p:cNvPr id="21" name="chip-text-88"/>
          <p:cNvSpPr txBox="1"/>
          <p:nvPr/>
        </p:nvSpPr>
        <p:spPr>
          <a:xfrm>
            <a:off x="4716475" y="2898648"/>
            <a:ext cx="923544"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TRAFFIC-01</a:t>
            </a:r>
            <a:endParaRPr lang="en-US" sz="1000" dirty="0"/>
          </a:p>
        </p:txBody>
      </p:sp>
      <p:sp>
        <p:nvSpPr>
          <p:cNvPr id="22" name="chip-89"/>
          <p:cNvSpPr/>
          <p:nvPr/>
        </p:nvSpPr>
        <p:spPr>
          <a:xfrm>
            <a:off x="3246120" y="3282696"/>
            <a:ext cx="1378915" cy="292608"/>
          </a:xfrm>
          <a:prstGeom prst="roundRect">
            <a:avLst>
              <a:gd name="adj" fmla="val 18750"/>
            </a:avLst>
          </a:prstGeom>
          <a:solidFill>
            <a:schemeClr val="bg2"/>
          </a:solidFill>
          <a:ln w="9525">
            <a:solidFill>
              <a:schemeClr val="tx2"/>
            </a:solidFill>
            <a:prstDash val="solid"/>
          </a:ln>
        </p:spPr>
      </p:sp>
      <p:sp>
        <p:nvSpPr>
          <p:cNvPr id="23" name="chip-text-90"/>
          <p:cNvSpPr txBox="1"/>
          <p:nvPr/>
        </p:nvSpPr>
        <p:spPr>
          <a:xfrm>
            <a:off x="3246120" y="3282696"/>
            <a:ext cx="1378915"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PICKUP-PROXIMITY</a:t>
            </a:r>
            <a:endParaRPr lang="en-US" sz="1000" dirty="0"/>
          </a:p>
        </p:txBody>
      </p:sp>
      <p:sp>
        <p:nvSpPr>
          <p:cNvPr id="24" name="chip-91"/>
          <p:cNvSpPr/>
          <p:nvPr/>
        </p:nvSpPr>
        <p:spPr>
          <a:xfrm>
            <a:off x="4716475" y="3282696"/>
            <a:ext cx="1530706" cy="292608"/>
          </a:xfrm>
          <a:prstGeom prst="roundRect">
            <a:avLst>
              <a:gd name="adj" fmla="val 18750"/>
            </a:avLst>
          </a:prstGeom>
          <a:solidFill>
            <a:schemeClr val="bg2"/>
          </a:solidFill>
          <a:ln w="9525">
            <a:solidFill>
              <a:schemeClr val="tx2"/>
            </a:solidFill>
            <a:prstDash val="solid"/>
          </a:ln>
        </p:spPr>
      </p:sp>
      <p:sp>
        <p:nvSpPr>
          <p:cNvPr id="25" name="chip-text-92"/>
          <p:cNvSpPr txBox="1"/>
          <p:nvPr/>
        </p:nvSpPr>
        <p:spPr>
          <a:xfrm>
            <a:off x="4716475" y="3282696"/>
            <a:ext cx="1530706" cy="292608"/>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PROFILE-COMPLAINER</a:t>
            </a:r>
            <a:endParaRPr lang="en-US" sz="1000" dirty="0"/>
          </a:p>
        </p:txBody>
      </p:sp>
      <p:sp>
        <p:nvSpPr>
          <p:cNvPr id="26" name="arrow-93"/>
          <p:cNvSpPr/>
          <p:nvPr/>
        </p:nvSpPr>
        <p:spPr>
          <a:xfrm>
            <a:off x="6537960" y="2948940"/>
            <a:ext cx="411480" cy="0"/>
          </a:xfrm>
          <a:prstGeom prst="line">
            <a:avLst/>
          </a:prstGeom>
          <a:noFill/>
          <a:ln w="19050">
            <a:solidFill>
              <a:schemeClr val="tx2"/>
            </a:solidFill>
            <a:prstDash val="solid"/>
            <a:tailEnd type="triangle"/>
          </a:ln>
        </p:spPr>
      </p:sp>
      <p:sp>
        <p:nvSpPr>
          <p:cNvPr id="27" name="node-94"/>
          <p:cNvSpPr/>
          <p:nvPr/>
        </p:nvSpPr>
        <p:spPr>
          <a:xfrm>
            <a:off x="6949440" y="1783080"/>
            <a:ext cx="2194560" cy="1005840"/>
          </a:xfrm>
          <a:prstGeom prst="roundRect">
            <a:avLst>
              <a:gd name="adj" fmla="val 9091"/>
            </a:avLst>
          </a:prstGeom>
          <a:solidFill>
            <a:schemeClr val="tx1"/>
          </a:solidFill>
          <a:ln/>
        </p:spPr>
      </p:sp>
      <p:pic>
        <p:nvPicPr>
          <p:cNvPr id="28" name="icon-95" descr="preencoded.png">    </p:cNvPr>
          <p:cNvPicPr>
            <a:picLocks noChangeAspect="1"/>
          </p:cNvPicPr>
          <p:nvPr/>
        </p:nvPicPr>
        <p:blipFill>
          <a:blip r:embed="rId3"/>
          <a:stretch>
            <a:fillRect/>
          </a:stretch>
        </p:blipFill>
        <p:spPr>
          <a:xfrm>
            <a:off x="7077456" y="1911096"/>
            <a:ext cx="292608" cy="292608"/>
          </a:xfrm>
          <a:prstGeom prst="rect">
            <a:avLst/>
          </a:prstGeom>
        </p:spPr>
      </p:pic>
      <p:sp>
        <p:nvSpPr>
          <p:cNvPr id="29" name="node-title-96"/>
          <p:cNvSpPr txBox="1"/>
          <p:nvPr/>
        </p:nvSpPr>
        <p:spPr>
          <a:xfrm>
            <a:off x="7461504" y="1883664"/>
            <a:ext cx="1554480" cy="347472"/>
          </a:xfrm>
          <a:prstGeom prst="rect">
            <a:avLst/>
          </a:prstGeom>
          <a:noFill/>
          <a:ln/>
        </p:spPr>
        <p:txBody>
          <a:bodyPr wrap="square" lIns="0" tIns="0" rIns="0" bIns="0" rtlCol="0" anchor="ctr"/>
          <a:lstStyle/>
          <a:p>
            <a:pPr indent="0" marL="0">
              <a:buNone/>
            </a:pPr>
            <a:r>
              <a:rPr lang="en-US" sz="1400" b="1" dirty="0">
                <a:solidFill>
                  <a:schemeClr val="bg1"/>
                </a:solidFill>
              </a:rPr>
              <a:t>Advocates, Judge</a:t>
            </a:r>
            <a:endParaRPr lang="en-US" sz="1400" dirty="0"/>
          </a:p>
        </p:txBody>
      </p:sp>
      <p:sp>
        <p:nvSpPr>
          <p:cNvPr id="30" name="node-sub-97"/>
          <p:cNvSpPr txBox="1"/>
          <p:nvPr/>
        </p:nvSpPr>
        <p:spPr>
          <a:xfrm>
            <a:off x="7077456" y="2276856"/>
            <a:ext cx="1938528" cy="475488"/>
          </a:xfrm>
          <a:prstGeom prst="rect">
            <a:avLst/>
          </a:prstGeom>
          <a:noFill/>
          <a:ln/>
        </p:spPr>
        <p:txBody>
          <a:bodyPr wrap="square" lIns="0" tIns="0" rIns="0" bIns="0" rtlCol="0" anchor="t"/>
          <a:lstStyle/>
          <a:p>
            <a:pPr indent="0" marL="0">
              <a:buNone/>
            </a:pPr>
            <a:r>
              <a:rPr lang="en-US" sz="1100" dirty="0">
                <a:solidFill>
                  <a:schemeClr val="bg2"/>
                </a:solidFill>
              </a:rPr>
              <a:t>Every factual claim names the IDs it rests on</a:t>
            </a:r>
            <a:endParaRPr lang="en-US" sz="1100" dirty="0"/>
          </a:p>
        </p:txBody>
      </p:sp>
      <p:sp>
        <p:nvSpPr>
          <p:cNvPr id="31" name="node-98"/>
          <p:cNvSpPr/>
          <p:nvPr/>
        </p:nvSpPr>
        <p:spPr>
          <a:xfrm>
            <a:off x="6949440" y="3108960"/>
            <a:ext cx="2194560" cy="1005840"/>
          </a:xfrm>
          <a:prstGeom prst="roundRect">
            <a:avLst>
              <a:gd name="adj" fmla="val 9091"/>
            </a:avLst>
          </a:prstGeom>
          <a:solidFill>
            <a:schemeClr val="bg1"/>
          </a:solidFill>
          <a:ln w="15875">
            <a:solidFill>
              <a:schemeClr val="tx2"/>
            </a:solidFill>
            <a:prstDash val="dash"/>
          </a:ln>
        </p:spPr>
      </p:sp>
      <p:pic>
        <p:nvPicPr>
          <p:cNvPr id="32" name="icon-99" descr="preencoded.png">    </p:cNvPr>
          <p:cNvPicPr>
            <a:picLocks noChangeAspect="1"/>
          </p:cNvPicPr>
          <p:nvPr/>
        </p:nvPicPr>
        <p:blipFill>
          <a:blip r:embed="rId4"/>
          <a:stretch>
            <a:fillRect/>
          </a:stretch>
        </p:blipFill>
        <p:spPr>
          <a:xfrm>
            <a:off x="7077456" y="3236976"/>
            <a:ext cx="292608" cy="292608"/>
          </a:xfrm>
          <a:prstGeom prst="rect">
            <a:avLst/>
          </a:prstGeom>
        </p:spPr>
      </p:pic>
      <p:sp>
        <p:nvSpPr>
          <p:cNvPr id="33" name="node-title-100"/>
          <p:cNvSpPr txBox="1"/>
          <p:nvPr/>
        </p:nvSpPr>
        <p:spPr>
          <a:xfrm>
            <a:off x="7461504" y="3209544"/>
            <a:ext cx="1554480" cy="347472"/>
          </a:xfrm>
          <a:prstGeom prst="rect">
            <a:avLst/>
          </a:prstGeom>
          <a:noFill/>
          <a:ln/>
        </p:spPr>
        <p:txBody>
          <a:bodyPr wrap="square" lIns="0" tIns="0" rIns="0" bIns="0" rtlCol="0" anchor="ctr"/>
          <a:lstStyle/>
          <a:p>
            <a:pPr indent="0" marL="0">
              <a:buNone/>
            </a:pPr>
            <a:r>
              <a:rPr lang="en-US" sz="1400" b="1" dirty="0">
                <a:solidFill>
                  <a:schemeClr val="tx1"/>
                </a:solidFill>
              </a:rPr>
              <a:t>Citation check</a:t>
            </a:r>
            <a:endParaRPr lang="en-US" sz="1400" dirty="0"/>
          </a:p>
        </p:txBody>
      </p:sp>
      <p:sp>
        <p:nvSpPr>
          <p:cNvPr id="34" name="node-sub-101"/>
          <p:cNvSpPr txBox="1"/>
          <p:nvPr/>
        </p:nvSpPr>
        <p:spPr>
          <a:xfrm>
            <a:off x="7077456" y="3602736"/>
            <a:ext cx="1938528" cy="475488"/>
          </a:xfrm>
          <a:prstGeom prst="rect">
            <a:avLst/>
          </a:prstGeom>
          <a:noFill/>
          <a:ln/>
        </p:spPr>
        <p:txBody>
          <a:bodyPr wrap="square" lIns="0" tIns="0" rIns="0" bIns="0" rtlCol="0" anchor="t"/>
          <a:lstStyle/>
          <a:p>
            <a:pPr indent="0" marL="0">
              <a:buNone/>
            </a:pPr>
            <a:r>
              <a:rPr lang="en-US" sz="1100" dirty="0">
                <a:solidFill>
                  <a:schemeClr val="tx2"/>
                </a:solidFill>
              </a:rPr>
              <a:t>An unknown ID: claim struck, case flagged</a:t>
            </a:r>
            <a:endParaRPr lang="en-US" sz="1100" dirty="0"/>
          </a:p>
        </p:txBody>
      </p:sp>
      <p:sp>
        <p:nvSpPr>
          <p:cNvPr id="35" name="arrow-102"/>
          <p:cNvSpPr/>
          <p:nvPr/>
        </p:nvSpPr>
        <p:spPr>
          <a:xfrm>
            <a:off x="8046720" y="2788920"/>
            <a:ext cx="0" cy="320040"/>
          </a:xfrm>
          <a:prstGeom prst="line">
            <a:avLst/>
          </a:prstGeom>
          <a:noFill/>
          <a:ln w="19050">
            <a:solidFill>
              <a:schemeClr val="tx2"/>
            </a:solidFill>
            <a:prstDash val="solid"/>
            <a:tailEnd type="triangle"/>
          </a:ln>
        </p:spPr>
      </p:sp>
      <p:sp>
        <p:nvSpPr>
          <p:cNvPr id="36" name="arrow-103"/>
          <p:cNvSpPr/>
          <p:nvPr/>
        </p:nvSpPr>
        <p:spPr>
          <a:xfrm>
            <a:off x="9144000" y="3611880"/>
            <a:ext cx="411480" cy="0"/>
          </a:xfrm>
          <a:prstGeom prst="line">
            <a:avLst/>
          </a:prstGeom>
          <a:noFill/>
          <a:ln w="19050">
            <a:solidFill>
              <a:schemeClr val="tx2"/>
            </a:solidFill>
            <a:prstDash val="solid"/>
            <a:tailEnd type="triangle"/>
          </a:ln>
        </p:spPr>
      </p:sp>
      <p:sp>
        <p:nvSpPr>
          <p:cNvPr id="37" name="ui-card"/>
          <p:cNvSpPr/>
          <p:nvPr/>
        </p:nvSpPr>
        <p:spPr>
          <a:xfrm>
            <a:off x="9555480" y="1783080"/>
            <a:ext cx="2087575" cy="2331720"/>
          </a:xfrm>
          <a:prstGeom prst="roundRect">
            <a:avLst>
              <a:gd name="adj" fmla="val 5256"/>
            </a:avLst>
          </a:prstGeom>
          <a:solidFill>
            <a:schemeClr val="bg1"/>
          </a:solidFill>
          <a:ln/>
          <a:effectLst>
            <a:outerShdw sx="100000" sy="100000" kx="0" ky="0" algn="bl" rotWithShape="0" blurRad="101600" dist="25400" dir="5400000">
              <a:srgbClr val="000000">
                <a:alpha val="8000"/>
              </a:srgbClr>
            </a:outerShdw>
          </a:effectLst>
        </p:spPr>
      </p:sp>
      <p:pic>
        <p:nvPicPr>
          <p:cNvPr id="38" name="ui-icon" descr="preencoded.png">    </p:cNvPr>
          <p:cNvPicPr>
            <a:picLocks noChangeAspect="1"/>
          </p:cNvPicPr>
          <p:nvPr/>
        </p:nvPicPr>
        <p:blipFill>
          <a:blip r:embed="rId5"/>
          <a:stretch>
            <a:fillRect/>
          </a:stretch>
        </p:blipFill>
        <p:spPr>
          <a:xfrm>
            <a:off x="9738360" y="1965960"/>
            <a:ext cx="347472" cy="347472"/>
          </a:xfrm>
          <a:prstGeom prst="rect">
            <a:avLst/>
          </a:prstGeom>
        </p:spPr>
      </p:pic>
      <p:sp>
        <p:nvSpPr>
          <p:cNvPr id="39" name="ui-title"/>
          <p:cNvSpPr txBox="1"/>
          <p:nvPr/>
        </p:nvSpPr>
        <p:spPr>
          <a:xfrm>
            <a:off x="10195560" y="1965960"/>
            <a:ext cx="1310335" cy="347472"/>
          </a:xfrm>
          <a:prstGeom prst="rect">
            <a:avLst/>
          </a:prstGeom>
          <a:noFill/>
          <a:ln/>
        </p:spPr>
        <p:txBody>
          <a:bodyPr wrap="square" lIns="0" tIns="0" rIns="0" bIns="0" rtlCol="0" anchor="ctr"/>
          <a:lstStyle/>
          <a:p>
            <a:pPr indent="0" marL="0">
              <a:buNone/>
            </a:pPr>
            <a:r>
              <a:rPr lang="en-US" sz="1400" b="1" dirty="0">
                <a:solidFill>
                  <a:schemeClr val="tx1"/>
                </a:solidFill>
              </a:rPr>
              <a:t>On screen</a:t>
            </a:r>
            <a:endParaRPr lang="en-US" sz="1400" dirty="0"/>
          </a:p>
        </p:txBody>
      </p:sp>
      <p:sp>
        <p:nvSpPr>
          <p:cNvPr id="40" name="ui-body"/>
          <p:cNvSpPr txBox="1"/>
          <p:nvPr/>
        </p:nvSpPr>
        <p:spPr>
          <a:xfrm>
            <a:off x="9738360" y="2468880"/>
            <a:ext cx="1721815" cy="1508760"/>
          </a:xfrm>
          <a:prstGeom prst="rect">
            <a:avLst/>
          </a:prstGeom>
          <a:noFill/>
          <a:ln/>
        </p:spPr>
        <p:txBody>
          <a:bodyPr wrap="square" lIns="0" tIns="0" rIns="0" bIns="0" rtlCol="0" anchor="t"/>
          <a:lstStyle/>
          <a:p>
            <a:pPr indent="0" marL="0">
              <a:buNone/>
            </a:pPr>
            <a:r>
              <a:rPr lang="en-US" sz="1200" dirty="0">
                <a:solidFill>
                  <a:schemeClr val="tx2"/>
                </a:solidFill>
              </a:rPr>
              <a:t>Each finding shows its citations. Hover previews the evidence; a click opens it: the message in context, the route on a map, the photo, the policy clause.</a:t>
            </a:r>
            <a:endParaRPr lang="en-US" sz="1200" dirty="0"/>
          </a:p>
        </p:txBody>
      </p:sp>
      <p:sp>
        <p:nvSpPr>
          <p:cNvPr id="41" name="computed-title"/>
          <p:cNvSpPr txBox="1"/>
          <p:nvPr/>
        </p:nvSpPr>
        <p:spPr>
          <a:xfrm>
            <a:off x="548640" y="4434840"/>
            <a:ext cx="5486400" cy="320040"/>
          </a:xfrm>
          <a:prstGeom prst="rect">
            <a:avLst/>
          </a:prstGeom>
          <a:noFill/>
          <a:ln/>
        </p:spPr>
        <p:txBody>
          <a:bodyPr wrap="square" lIns="0" tIns="0" rIns="0" bIns="0" rtlCol="0" anchor="ctr"/>
          <a:lstStyle/>
          <a:p>
            <a:pPr indent="0" marL="0">
              <a:buNone/>
            </a:pPr>
            <a:r>
              <a:rPr lang="en-US" sz="1600" b="1" dirty="0">
                <a:solidFill>
                  <a:schemeClr val="tx1"/>
                </a:solidFill>
              </a:rPr>
              <a:t>Computed in code, never by a model</a:t>
            </a:r>
            <a:endParaRPr lang="en-US" sz="1600" dirty="0"/>
          </a:p>
        </p:txBody>
      </p:sp>
      <p:sp>
        <p:nvSpPr>
          <p:cNvPr id="42" name="computed-route"/>
          <p:cNvSpPr/>
          <p:nvPr/>
        </p:nvSpPr>
        <p:spPr>
          <a:xfrm>
            <a:off x="548640" y="4892040"/>
            <a:ext cx="2567864" cy="1143000"/>
          </a:xfrm>
          <a:prstGeom prst="roundRect">
            <a:avLst>
              <a:gd name="adj" fmla="val 9600"/>
            </a:avLst>
          </a:prstGeom>
          <a:solidFill>
            <a:schemeClr val="bg1"/>
          </a:solidFill>
          <a:ln/>
          <a:effectLst>
            <a:outerShdw sx="100000" sy="100000" kx="0" ky="0" algn="bl" rotWithShape="0" blurRad="101600" dist="25400" dir="5400000">
              <a:srgbClr val="000000">
                <a:alpha val="8000"/>
              </a:srgbClr>
            </a:outerShdw>
          </a:effectLst>
        </p:spPr>
      </p:sp>
      <p:pic>
        <p:nvPicPr>
          <p:cNvPr id="43" name="computed-route-icon" descr="preencoded.png">    </p:cNvPr>
          <p:cNvPicPr>
            <a:picLocks noChangeAspect="1"/>
          </p:cNvPicPr>
          <p:nvPr/>
        </p:nvPicPr>
        <p:blipFill>
          <a:blip r:embed="rId6"/>
          <a:stretch>
            <a:fillRect/>
          </a:stretch>
        </p:blipFill>
        <p:spPr>
          <a:xfrm>
            <a:off x="731520" y="5056632"/>
            <a:ext cx="310896" cy="310896"/>
          </a:xfrm>
          <a:prstGeom prst="rect">
            <a:avLst/>
          </a:prstGeom>
        </p:spPr>
      </p:pic>
      <p:sp>
        <p:nvSpPr>
          <p:cNvPr id="44" name="computed-route-title"/>
          <p:cNvSpPr txBox="1"/>
          <p:nvPr/>
        </p:nvSpPr>
        <p:spPr>
          <a:xfrm>
            <a:off x="1143000" y="5056632"/>
            <a:ext cx="1836344" cy="310896"/>
          </a:xfrm>
          <a:prstGeom prst="rect">
            <a:avLst/>
          </a:prstGeom>
          <a:noFill/>
          <a:ln/>
        </p:spPr>
        <p:txBody>
          <a:bodyPr wrap="square" lIns="0" tIns="0" rIns="0" bIns="0" rtlCol="0" anchor="ctr"/>
          <a:lstStyle/>
          <a:p>
            <a:pPr indent="0" marL="0">
              <a:buNone/>
            </a:pPr>
            <a:r>
              <a:rPr lang="en-US" sz="1400" b="1" dirty="0">
                <a:solidFill>
                  <a:schemeClr val="tx1"/>
                </a:solidFill>
              </a:rPr>
              <a:t>Detour</a:t>
            </a:r>
            <a:endParaRPr lang="en-US" sz="1400" dirty="0"/>
          </a:p>
        </p:txBody>
      </p:sp>
      <p:sp>
        <p:nvSpPr>
          <p:cNvPr id="45" name="computed-route-body"/>
          <p:cNvSpPr txBox="1"/>
          <p:nvPr/>
        </p:nvSpPr>
        <p:spPr>
          <a:xfrm>
            <a:off x="731520" y="5422392"/>
            <a:ext cx="2202104" cy="548640"/>
          </a:xfrm>
          <a:prstGeom prst="rect">
            <a:avLst/>
          </a:prstGeom>
          <a:noFill/>
          <a:ln/>
        </p:spPr>
        <p:txBody>
          <a:bodyPr wrap="square" lIns="0" tIns="0" rIns="0" bIns="0" rtlCol="0" anchor="t"/>
          <a:lstStyle/>
          <a:p>
            <a:pPr indent="0" marL="0">
              <a:buNone/>
            </a:pPr>
            <a:r>
              <a:rPr lang="en-US" sz="1150" dirty="0">
                <a:solidFill>
                  <a:schemeClr val="tx2"/>
                </a:solidFill>
              </a:rPr>
              <a:t>Driven vs fastest route, % extra, refund by policy tier</a:t>
            </a:r>
            <a:endParaRPr lang="en-US" sz="1150" dirty="0"/>
          </a:p>
        </p:txBody>
      </p:sp>
      <p:sp>
        <p:nvSpPr>
          <p:cNvPr id="46" name="computed-pin"/>
          <p:cNvSpPr/>
          <p:nvPr/>
        </p:nvSpPr>
        <p:spPr>
          <a:xfrm>
            <a:off x="3390824" y="4892040"/>
            <a:ext cx="2567864" cy="1143000"/>
          </a:xfrm>
          <a:prstGeom prst="roundRect">
            <a:avLst>
              <a:gd name="adj" fmla="val 9600"/>
            </a:avLst>
          </a:prstGeom>
          <a:solidFill>
            <a:schemeClr val="bg1"/>
          </a:solidFill>
          <a:ln/>
          <a:effectLst>
            <a:outerShdw sx="100000" sy="100000" kx="0" ky="0" algn="bl" rotWithShape="0" blurRad="101600" dist="25400" dir="5400000">
              <a:srgbClr val="000000">
                <a:alpha val="8000"/>
              </a:srgbClr>
            </a:outerShdw>
          </a:effectLst>
        </p:spPr>
      </p:sp>
      <p:pic>
        <p:nvPicPr>
          <p:cNvPr id="47" name="computed-pin-icon" descr="preencoded.png">    </p:cNvPr>
          <p:cNvPicPr>
            <a:picLocks noChangeAspect="1"/>
          </p:cNvPicPr>
          <p:nvPr/>
        </p:nvPicPr>
        <p:blipFill>
          <a:blip r:embed="rId7"/>
          <a:stretch>
            <a:fillRect/>
          </a:stretch>
        </p:blipFill>
        <p:spPr>
          <a:xfrm>
            <a:off x="3573704" y="5056632"/>
            <a:ext cx="310896" cy="310896"/>
          </a:xfrm>
          <a:prstGeom prst="rect">
            <a:avLst/>
          </a:prstGeom>
        </p:spPr>
      </p:pic>
      <p:sp>
        <p:nvSpPr>
          <p:cNvPr id="48" name="computed-pin-title"/>
          <p:cNvSpPr txBox="1"/>
          <p:nvPr/>
        </p:nvSpPr>
        <p:spPr>
          <a:xfrm>
            <a:off x="3985184" y="5056632"/>
            <a:ext cx="1836344" cy="310896"/>
          </a:xfrm>
          <a:prstGeom prst="rect">
            <a:avLst/>
          </a:prstGeom>
          <a:noFill/>
          <a:ln/>
        </p:spPr>
        <p:txBody>
          <a:bodyPr wrap="square" lIns="0" tIns="0" rIns="0" bIns="0" rtlCol="0" anchor="ctr"/>
          <a:lstStyle/>
          <a:p>
            <a:pPr indent="0" marL="0">
              <a:buNone/>
            </a:pPr>
            <a:r>
              <a:rPr lang="en-US" sz="1400" b="1" dirty="0">
                <a:solidFill>
                  <a:schemeClr val="tx1"/>
                </a:solidFill>
              </a:rPr>
              <a:t>Arrival</a:t>
            </a:r>
            <a:endParaRPr lang="en-US" sz="1400" dirty="0"/>
          </a:p>
        </p:txBody>
      </p:sp>
      <p:sp>
        <p:nvSpPr>
          <p:cNvPr id="49" name="computed-pin-body"/>
          <p:cNvSpPr txBox="1"/>
          <p:nvPr/>
        </p:nvSpPr>
        <p:spPr>
          <a:xfrm>
            <a:off x="3573704" y="5422392"/>
            <a:ext cx="2202104" cy="548640"/>
          </a:xfrm>
          <a:prstGeom prst="rect">
            <a:avLst/>
          </a:prstGeom>
          <a:noFill/>
          <a:ln/>
        </p:spPr>
        <p:txBody>
          <a:bodyPr wrap="square" lIns="0" tIns="0" rIns="0" bIns="0" rtlCol="0" anchor="t"/>
          <a:lstStyle/>
          <a:p>
            <a:pPr indent="0" marL="0">
              <a:buNone/>
            </a:pPr>
            <a:r>
              <a:rPr lang="en-US" sz="1150" dirty="0">
                <a:solidFill>
                  <a:schemeClr val="tx2"/>
                </a:solidFill>
              </a:rPr>
              <a:t>Driver's closest approach to the pickup vs the 100 m radius</a:t>
            </a:r>
            <a:endParaRPr lang="en-US" sz="1150" dirty="0"/>
          </a:p>
        </p:txBody>
      </p:sp>
      <p:sp>
        <p:nvSpPr>
          <p:cNvPr id="50" name="computed-traffic"/>
          <p:cNvSpPr/>
          <p:nvPr/>
        </p:nvSpPr>
        <p:spPr>
          <a:xfrm>
            <a:off x="6233008" y="4892040"/>
            <a:ext cx="2567864" cy="1143000"/>
          </a:xfrm>
          <a:prstGeom prst="roundRect">
            <a:avLst>
              <a:gd name="adj" fmla="val 9600"/>
            </a:avLst>
          </a:prstGeom>
          <a:solidFill>
            <a:schemeClr val="bg1"/>
          </a:solidFill>
          <a:ln/>
          <a:effectLst>
            <a:outerShdw sx="100000" sy="100000" kx="0" ky="0" algn="bl" rotWithShape="0" blurRad="101600" dist="25400" dir="5400000">
              <a:srgbClr val="000000">
                <a:alpha val="8000"/>
              </a:srgbClr>
            </a:outerShdw>
          </a:effectLst>
        </p:spPr>
      </p:sp>
      <p:pic>
        <p:nvPicPr>
          <p:cNvPr id="51" name="computed-traffic-icon" descr="preencoded.png">    </p:cNvPr>
          <p:cNvPicPr>
            <a:picLocks noChangeAspect="1"/>
          </p:cNvPicPr>
          <p:nvPr/>
        </p:nvPicPr>
        <p:blipFill>
          <a:blip r:embed="rId8"/>
          <a:stretch>
            <a:fillRect/>
          </a:stretch>
        </p:blipFill>
        <p:spPr>
          <a:xfrm>
            <a:off x="6415888" y="5056632"/>
            <a:ext cx="310896" cy="310896"/>
          </a:xfrm>
          <a:prstGeom prst="rect">
            <a:avLst/>
          </a:prstGeom>
        </p:spPr>
      </p:pic>
      <p:sp>
        <p:nvSpPr>
          <p:cNvPr id="52" name="computed-traffic-title"/>
          <p:cNvSpPr txBox="1"/>
          <p:nvPr/>
        </p:nvSpPr>
        <p:spPr>
          <a:xfrm>
            <a:off x="6827368" y="5056632"/>
            <a:ext cx="1836344" cy="310896"/>
          </a:xfrm>
          <a:prstGeom prst="rect">
            <a:avLst/>
          </a:prstGeom>
          <a:noFill/>
          <a:ln/>
        </p:spPr>
        <p:txBody>
          <a:bodyPr wrap="square" lIns="0" tIns="0" rIns="0" bIns="0" rtlCol="0" anchor="ctr"/>
          <a:lstStyle/>
          <a:p>
            <a:pPr indent="0" marL="0">
              <a:buNone/>
            </a:pPr>
            <a:r>
              <a:rPr lang="en-US" sz="1400" b="1" dirty="0">
                <a:solidFill>
                  <a:schemeClr val="tx1"/>
                </a:solidFill>
              </a:rPr>
              <a:t>Traffic</a:t>
            </a:r>
            <a:endParaRPr lang="en-US" sz="1400" dirty="0"/>
          </a:p>
        </p:txBody>
      </p:sp>
      <p:sp>
        <p:nvSpPr>
          <p:cNvPr id="53" name="computed-traffic-body"/>
          <p:cNvSpPr txBox="1"/>
          <p:nvPr/>
        </p:nvSpPr>
        <p:spPr>
          <a:xfrm>
            <a:off x="6415888" y="5422392"/>
            <a:ext cx="2202104" cy="548640"/>
          </a:xfrm>
          <a:prstGeom prst="rect">
            <a:avLst/>
          </a:prstGeom>
          <a:noFill/>
          <a:ln/>
        </p:spPr>
        <p:txBody>
          <a:bodyPr wrap="square" lIns="0" tIns="0" rIns="0" bIns="0" rtlCol="0" anchor="t"/>
          <a:lstStyle/>
          <a:p>
            <a:pPr indent="0" marL="0">
              <a:buNone/>
            </a:pPr>
            <a:r>
              <a:rPr lang="en-US" sz="1150" dirty="0">
                <a:solidFill>
                  <a:schemeClr val="tx2"/>
                </a:solidFill>
              </a:rPr>
              <a:t>Is a recorded incident within 2 km of the route, during the trip?</a:t>
            </a:r>
            <a:endParaRPr lang="en-US" sz="1150" dirty="0"/>
          </a:p>
        </p:txBody>
      </p:sp>
      <p:sp>
        <p:nvSpPr>
          <p:cNvPr id="54" name="computed-fee"/>
          <p:cNvSpPr/>
          <p:nvPr/>
        </p:nvSpPr>
        <p:spPr>
          <a:xfrm>
            <a:off x="9075191" y="4892040"/>
            <a:ext cx="2567864" cy="1143000"/>
          </a:xfrm>
          <a:prstGeom prst="roundRect">
            <a:avLst>
              <a:gd name="adj" fmla="val 9600"/>
            </a:avLst>
          </a:prstGeom>
          <a:solidFill>
            <a:schemeClr val="bg1"/>
          </a:solidFill>
          <a:ln/>
          <a:effectLst>
            <a:outerShdw sx="100000" sy="100000" kx="0" ky="0" algn="bl" rotWithShape="0" blurRad="101600" dist="25400" dir="5400000">
              <a:srgbClr val="000000">
                <a:alpha val="8000"/>
              </a:srgbClr>
            </a:outerShdw>
          </a:effectLst>
        </p:spPr>
      </p:sp>
      <p:pic>
        <p:nvPicPr>
          <p:cNvPr id="55" name="computed-fee-icon" descr="preencoded.png">    </p:cNvPr>
          <p:cNvPicPr>
            <a:picLocks noChangeAspect="1"/>
          </p:cNvPicPr>
          <p:nvPr/>
        </p:nvPicPr>
        <p:blipFill>
          <a:blip r:embed="rId9"/>
          <a:stretch>
            <a:fillRect/>
          </a:stretch>
        </p:blipFill>
        <p:spPr>
          <a:xfrm>
            <a:off x="9258071" y="5056632"/>
            <a:ext cx="310896" cy="310896"/>
          </a:xfrm>
          <a:prstGeom prst="rect">
            <a:avLst/>
          </a:prstGeom>
        </p:spPr>
      </p:pic>
      <p:sp>
        <p:nvSpPr>
          <p:cNvPr id="56" name="computed-fee-title"/>
          <p:cNvSpPr txBox="1"/>
          <p:nvPr/>
        </p:nvSpPr>
        <p:spPr>
          <a:xfrm>
            <a:off x="9669551" y="5056632"/>
            <a:ext cx="1836344" cy="310896"/>
          </a:xfrm>
          <a:prstGeom prst="rect">
            <a:avLst/>
          </a:prstGeom>
          <a:noFill/>
          <a:ln/>
        </p:spPr>
        <p:txBody>
          <a:bodyPr wrap="square" lIns="0" tIns="0" rIns="0" bIns="0" rtlCol="0" anchor="ctr"/>
          <a:lstStyle/>
          <a:p>
            <a:pPr indent="0" marL="0">
              <a:buNone/>
            </a:pPr>
            <a:r>
              <a:rPr lang="en-US" sz="1400" b="1" dirty="0">
                <a:solidFill>
                  <a:schemeClr val="tx1"/>
                </a:solidFill>
              </a:rPr>
              <a:t>Amounts</a:t>
            </a:r>
            <a:endParaRPr lang="en-US" sz="1400" dirty="0"/>
          </a:p>
        </p:txBody>
      </p:sp>
      <p:sp>
        <p:nvSpPr>
          <p:cNvPr id="57" name="computed-fee-body"/>
          <p:cNvSpPr txBox="1"/>
          <p:nvPr/>
        </p:nvSpPr>
        <p:spPr>
          <a:xfrm>
            <a:off x="9258071" y="5422392"/>
            <a:ext cx="2202104" cy="548640"/>
          </a:xfrm>
          <a:prstGeom prst="rect">
            <a:avLst/>
          </a:prstGeom>
          <a:noFill/>
          <a:ln/>
        </p:spPr>
        <p:txBody>
          <a:bodyPr wrap="square" lIns="0" tIns="0" rIns="0" bIns="0" rtlCol="0" anchor="t"/>
          <a:lstStyle/>
          <a:p>
            <a:pPr indent="0" marL="0">
              <a:buNone/>
            </a:pPr>
            <a:r>
              <a:rPr lang="en-US" sz="1150" dirty="0">
                <a:solidFill>
                  <a:schemeClr val="tx2"/>
                </a:solidFill>
              </a:rPr>
              <a:t>The $4.50 fee, refund formula and $40/$120/$200 cleaning tiers</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When a person decides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These checks run on every case, whatever the Judge says. Any one of them sends the case to a reviewer.</a:t>
            </a:r>
            <a:endParaRPr lang="en-US" sz="1500" dirty="0"/>
          </a:p>
        </p:txBody>
      </p:sp>
      <p:sp>
        <p:nvSpPr>
          <p:cNvPr id="4" name="trigger-0"/>
          <p:cNvSpPr/>
          <p:nvPr/>
        </p:nvSpPr>
        <p:spPr>
          <a:xfrm>
            <a:off x="548640" y="1737360"/>
            <a:ext cx="457200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5" name="trigger-0-icon" descr="preencoded.png">    </p:cNvPr>
          <p:cNvPicPr>
            <a:picLocks noChangeAspect="1"/>
          </p:cNvPicPr>
          <p:nvPr/>
        </p:nvPicPr>
        <p:blipFill>
          <a:blip r:embed="rId1"/>
          <a:stretch>
            <a:fillRect/>
          </a:stretch>
        </p:blipFill>
        <p:spPr>
          <a:xfrm>
            <a:off x="731520" y="1920240"/>
            <a:ext cx="347472" cy="347472"/>
          </a:xfrm>
          <a:prstGeom prst="rect">
            <a:avLst/>
          </a:prstGeom>
        </p:spPr>
      </p:pic>
      <p:sp>
        <p:nvSpPr>
          <p:cNvPr id="6" name="trigger-0-text"/>
          <p:cNvSpPr txBox="1"/>
          <p:nvPr/>
        </p:nvSpPr>
        <p:spPr>
          <a:xfrm>
            <a:off x="1234440" y="1792224"/>
            <a:ext cx="3703320" cy="603504"/>
          </a:xfrm>
          <a:prstGeom prst="rect">
            <a:avLst/>
          </a:prstGeom>
          <a:noFill/>
          <a:ln/>
        </p:spPr>
        <p:txBody>
          <a:bodyPr wrap="square" lIns="0" tIns="0" rIns="0" bIns="0" rtlCol="0" anchor="ctr"/>
          <a:lstStyle/>
          <a:p>
            <a:pPr indent="0" marL="0">
              <a:buNone/>
            </a:pPr>
            <a:r>
              <a:rPr lang="en-US" sz="1400" b="1" dirty="0">
                <a:solidFill>
                  <a:schemeClr val="tx1"/>
                </a:solidFill>
              </a:rPr>
              <a:t>Safety report</a:t>
            </a:r>
            <a:endParaRPr lang="en-US" sz="1400" dirty="0"/>
          </a:p>
          <a:p>
            <a:pPr indent="0" marL="0">
              <a:buNone/>
            </a:pPr>
            <a:r>
              <a:rPr lang="en-US" sz="1200" dirty="0">
                <a:solidFill>
                  <a:schemeClr val="tx2"/>
                </a:solidFill>
              </a:rPr>
              <a:t>Flagged at triage: no agent hears the case at all</a:t>
            </a:r>
            <a:endParaRPr lang="en-US" sz="1400" dirty="0"/>
          </a:p>
        </p:txBody>
      </p:sp>
      <p:sp>
        <p:nvSpPr>
          <p:cNvPr id="7" name="arrow-104"/>
          <p:cNvSpPr/>
          <p:nvPr/>
        </p:nvSpPr>
        <p:spPr>
          <a:xfrm>
            <a:off x="5120640" y="2093976"/>
            <a:ext cx="502920" cy="0"/>
          </a:xfrm>
          <a:prstGeom prst="line">
            <a:avLst/>
          </a:prstGeom>
          <a:noFill/>
          <a:ln w="19050">
            <a:solidFill>
              <a:schemeClr val="tx2"/>
            </a:solidFill>
            <a:prstDash val="solid"/>
            <a:tailEnd type="none"/>
          </a:ln>
        </p:spPr>
      </p:sp>
      <p:sp>
        <p:nvSpPr>
          <p:cNvPr id="8" name="trigger-1"/>
          <p:cNvSpPr/>
          <p:nvPr/>
        </p:nvSpPr>
        <p:spPr>
          <a:xfrm>
            <a:off x="548640" y="2578608"/>
            <a:ext cx="457200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9" name="trigger-1-icon" descr="preencoded.png">    </p:cNvPr>
          <p:cNvPicPr>
            <a:picLocks noChangeAspect="1"/>
          </p:cNvPicPr>
          <p:nvPr/>
        </p:nvPicPr>
        <p:blipFill>
          <a:blip r:embed="rId2"/>
          <a:stretch>
            <a:fillRect/>
          </a:stretch>
        </p:blipFill>
        <p:spPr>
          <a:xfrm>
            <a:off x="731520" y="2761488"/>
            <a:ext cx="347472" cy="347472"/>
          </a:xfrm>
          <a:prstGeom prst="rect">
            <a:avLst/>
          </a:prstGeom>
        </p:spPr>
      </p:pic>
      <p:sp>
        <p:nvSpPr>
          <p:cNvPr id="10" name="trigger-1-text"/>
          <p:cNvSpPr txBox="1"/>
          <p:nvPr/>
        </p:nvSpPr>
        <p:spPr>
          <a:xfrm>
            <a:off x="1234440" y="2633472"/>
            <a:ext cx="3703320" cy="603504"/>
          </a:xfrm>
          <a:prstGeom prst="rect">
            <a:avLst/>
          </a:prstGeom>
          <a:noFill/>
          <a:ln/>
        </p:spPr>
        <p:txBody>
          <a:bodyPr wrap="square" lIns="0" tIns="0" rIns="0" bIns="0" rtlCol="0" anchor="ctr"/>
          <a:lstStyle/>
          <a:p>
            <a:pPr indent="0" marL="0">
              <a:buNone/>
            </a:pPr>
            <a:r>
              <a:rPr lang="en-US" sz="1400" b="1" dirty="0">
                <a:solidFill>
                  <a:schemeClr val="tx1"/>
                </a:solidFill>
              </a:rPr>
              <a:t>Low confidence</a:t>
            </a:r>
            <a:endParaRPr lang="en-US" sz="1400" dirty="0"/>
          </a:p>
          <a:p>
            <a:pPr indent="0" marL="0">
              <a:buNone/>
            </a:pPr>
            <a:r>
              <a:rPr lang="en-US" sz="1200" dirty="0">
                <a:solidFill>
                  <a:schemeClr val="tx2"/>
                </a:solidFill>
              </a:rPr>
              <a:t>The Judge's confidence is under 0.60</a:t>
            </a:r>
            <a:endParaRPr lang="en-US" sz="1400" dirty="0"/>
          </a:p>
        </p:txBody>
      </p:sp>
      <p:sp>
        <p:nvSpPr>
          <p:cNvPr id="11" name="arrow-105"/>
          <p:cNvSpPr/>
          <p:nvPr/>
        </p:nvSpPr>
        <p:spPr>
          <a:xfrm>
            <a:off x="5120640" y="2935224"/>
            <a:ext cx="502920" cy="0"/>
          </a:xfrm>
          <a:prstGeom prst="line">
            <a:avLst/>
          </a:prstGeom>
          <a:noFill/>
          <a:ln w="19050">
            <a:solidFill>
              <a:schemeClr val="tx2"/>
            </a:solidFill>
            <a:prstDash val="solid"/>
            <a:tailEnd type="none"/>
          </a:ln>
        </p:spPr>
      </p:sp>
      <p:sp>
        <p:nvSpPr>
          <p:cNvPr id="12" name="trigger-2"/>
          <p:cNvSpPr/>
          <p:nvPr/>
        </p:nvSpPr>
        <p:spPr>
          <a:xfrm>
            <a:off x="548640" y="3419856"/>
            <a:ext cx="457200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3" name="trigger-2-icon" descr="preencoded.png">    </p:cNvPr>
          <p:cNvPicPr>
            <a:picLocks noChangeAspect="1"/>
          </p:cNvPicPr>
          <p:nvPr/>
        </p:nvPicPr>
        <p:blipFill>
          <a:blip r:embed="rId3"/>
          <a:stretch>
            <a:fillRect/>
          </a:stretch>
        </p:blipFill>
        <p:spPr>
          <a:xfrm>
            <a:off x="731520" y="3602736"/>
            <a:ext cx="347472" cy="347472"/>
          </a:xfrm>
          <a:prstGeom prst="rect">
            <a:avLst/>
          </a:prstGeom>
        </p:spPr>
      </p:pic>
      <p:sp>
        <p:nvSpPr>
          <p:cNvPr id="14" name="trigger-2-text"/>
          <p:cNvSpPr txBox="1"/>
          <p:nvPr/>
        </p:nvSpPr>
        <p:spPr>
          <a:xfrm>
            <a:off x="1234440" y="3474720"/>
            <a:ext cx="3703320" cy="603504"/>
          </a:xfrm>
          <a:prstGeom prst="rect">
            <a:avLst/>
          </a:prstGeom>
          <a:noFill/>
          <a:ln/>
        </p:spPr>
        <p:txBody>
          <a:bodyPr wrap="square" lIns="0" tIns="0" rIns="0" bIns="0" rtlCol="0" anchor="ctr"/>
          <a:lstStyle/>
          <a:p>
            <a:pPr indent="0" marL="0">
              <a:buNone/>
            </a:pPr>
            <a:r>
              <a:rPr lang="en-US" sz="1400" b="1" dirty="0">
                <a:solidFill>
                  <a:schemeClr val="tx1"/>
                </a:solidFill>
              </a:rPr>
              <a:t>Risk bucket</a:t>
            </a:r>
            <a:endParaRPr lang="en-US" sz="1400" dirty="0"/>
          </a:p>
          <a:p>
            <a:pPr indent="0" marL="0">
              <a:buNone/>
            </a:pPr>
            <a:r>
              <a:rPr lang="en-US" sz="1200" dirty="0">
                <a:solidFill>
                  <a:schemeClr val="tx2"/>
                </a:solidFill>
              </a:rPr>
              <a:t>Repeat filer (3+ disputes in 30 days), or a fee of $120 or more</a:t>
            </a:r>
            <a:endParaRPr lang="en-US" sz="1400" dirty="0"/>
          </a:p>
        </p:txBody>
      </p:sp>
      <p:sp>
        <p:nvSpPr>
          <p:cNvPr id="15" name="arrow-106"/>
          <p:cNvSpPr/>
          <p:nvPr/>
        </p:nvSpPr>
        <p:spPr>
          <a:xfrm>
            <a:off x="5120640" y="3776472"/>
            <a:ext cx="502920" cy="0"/>
          </a:xfrm>
          <a:prstGeom prst="line">
            <a:avLst/>
          </a:prstGeom>
          <a:noFill/>
          <a:ln w="19050">
            <a:solidFill>
              <a:schemeClr val="tx2"/>
            </a:solidFill>
            <a:prstDash val="solid"/>
            <a:tailEnd type="none"/>
          </a:ln>
        </p:spPr>
      </p:sp>
      <p:sp>
        <p:nvSpPr>
          <p:cNvPr id="16" name="trigger-3"/>
          <p:cNvSpPr/>
          <p:nvPr/>
        </p:nvSpPr>
        <p:spPr>
          <a:xfrm>
            <a:off x="548640" y="4261104"/>
            <a:ext cx="457200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7" name="trigger-3-icon" descr="preencoded.png">    </p:cNvPr>
          <p:cNvPicPr>
            <a:picLocks noChangeAspect="1"/>
          </p:cNvPicPr>
          <p:nvPr/>
        </p:nvPicPr>
        <p:blipFill>
          <a:blip r:embed="rId4"/>
          <a:stretch>
            <a:fillRect/>
          </a:stretch>
        </p:blipFill>
        <p:spPr>
          <a:xfrm>
            <a:off x="731520" y="4443984"/>
            <a:ext cx="347472" cy="347472"/>
          </a:xfrm>
          <a:prstGeom prst="rect">
            <a:avLst/>
          </a:prstGeom>
        </p:spPr>
      </p:pic>
      <p:sp>
        <p:nvSpPr>
          <p:cNvPr id="18" name="trigger-3-text"/>
          <p:cNvSpPr txBox="1"/>
          <p:nvPr/>
        </p:nvSpPr>
        <p:spPr>
          <a:xfrm>
            <a:off x="1234440" y="4315968"/>
            <a:ext cx="3703320" cy="603504"/>
          </a:xfrm>
          <a:prstGeom prst="rect">
            <a:avLst/>
          </a:prstGeom>
          <a:noFill/>
          <a:ln/>
        </p:spPr>
        <p:txBody>
          <a:bodyPr wrap="square" lIns="0" tIns="0" rIns="0" bIns="0" rtlCol="0" anchor="ctr"/>
          <a:lstStyle/>
          <a:p>
            <a:pPr indent="0" marL="0">
              <a:buNone/>
            </a:pPr>
            <a:r>
              <a:rPr lang="en-US" sz="1400" b="1" dirty="0">
                <a:solidFill>
                  <a:schemeClr val="tx1"/>
                </a:solidFill>
              </a:rPr>
              <a:t>The Judge asks</a:t>
            </a:r>
            <a:endParaRPr lang="en-US" sz="1400" dirty="0"/>
          </a:p>
          <a:p>
            <a:pPr indent="0" marL="0">
              <a:buNone/>
            </a:pPr>
            <a:r>
              <a:rPr lang="en-US" sz="1200" dirty="0">
                <a:solidFill>
                  <a:schemeClr val="tx2"/>
                </a:solidFill>
              </a:rPr>
              <a:t>The Judge requests a person (a signal, never a substitute for the checks)</a:t>
            </a:r>
            <a:endParaRPr lang="en-US" sz="1400" dirty="0"/>
          </a:p>
        </p:txBody>
      </p:sp>
      <p:sp>
        <p:nvSpPr>
          <p:cNvPr id="19" name="arrow-107"/>
          <p:cNvSpPr/>
          <p:nvPr/>
        </p:nvSpPr>
        <p:spPr>
          <a:xfrm>
            <a:off x="5120640" y="4617720"/>
            <a:ext cx="502920" cy="0"/>
          </a:xfrm>
          <a:prstGeom prst="line">
            <a:avLst/>
          </a:prstGeom>
          <a:noFill/>
          <a:ln w="19050">
            <a:solidFill>
              <a:schemeClr val="tx2"/>
            </a:solidFill>
            <a:prstDash val="solid"/>
            <a:tailEnd type="none"/>
          </a:ln>
        </p:spPr>
      </p:sp>
      <p:sp>
        <p:nvSpPr>
          <p:cNvPr id="20" name="trigger-4"/>
          <p:cNvSpPr/>
          <p:nvPr/>
        </p:nvSpPr>
        <p:spPr>
          <a:xfrm>
            <a:off x="548640" y="5102352"/>
            <a:ext cx="457200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21" name="trigger-4-icon" descr="preencoded.png">    </p:cNvPr>
          <p:cNvPicPr>
            <a:picLocks noChangeAspect="1"/>
          </p:cNvPicPr>
          <p:nvPr/>
        </p:nvPicPr>
        <p:blipFill>
          <a:blip r:embed="rId5"/>
          <a:stretch>
            <a:fillRect/>
          </a:stretch>
        </p:blipFill>
        <p:spPr>
          <a:xfrm>
            <a:off x="731520" y="5285232"/>
            <a:ext cx="347472" cy="347472"/>
          </a:xfrm>
          <a:prstGeom prst="rect">
            <a:avLst/>
          </a:prstGeom>
        </p:spPr>
      </p:pic>
      <p:sp>
        <p:nvSpPr>
          <p:cNvPr id="22" name="trigger-4-text"/>
          <p:cNvSpPr txBox="1"/>
          <p:nvPr/>
        </p:nvSpPr>
        <p:spPr>
          <a:xfrm>
            <a:off x="1234440" y="5157216"/>
            <a:ext cx="3703320" cy="603504"/>
          </a:xfrm>
          <a:prstGeom prst="rect">
            <a:avLst/>
          </a:prstGeom>
          <a:noFill/>
          <a:ln/>
        </p:spPr>
        <p:txBody>
          <a:bodyPr wrap="square" lIns="0" tIns="0" rIns="0" bIns="0" rtlCol="0" anchor="ctr"/>
          <a:lstStyle/>
          <a:p>
            <a:pPr indent="0" marL="0">
              <a:buNone/>
            </a:pPr>
            <a:r>
              <a:rPr lang="en-US" sz="1400" b="1" dirty="0">
                <a:solidFill>
                  <a:schemeClr val="tx1"/>
                </a:solidFill>
              </a:rPr>
              <a:t>Compliance veto</a:t>
            </a:r>
            <a:endParaRPr lang="en-US" sz="1400" dirty="0"/>
          </a:p>
          <a:p>
            <a:pPr indent="0" marL="0">
              <a:buNone/>
            </a:pPr>
            <a:r>
              <a:rPr lang="en-US" sz="1200" dirty="0">
                <a:solidFill>
                  <a:schemeClr val="tx2"/>
                </a:solidFill>
              </a:rPr>
              <a:t>The remedy breaks a policy cap or rule</a:t>
            </a:r>
            <a:endParaRPr lang="en-US" sz="1400" dirty="0"/>
          </a:p>
        </p:txBody>
      </p:sp>
      <p:sp>
        <p:nvSpPr>
          <p:cNvPr id="23" name="arrow-108"/>
          <p:cNvSpPr/>
          <p:nvPr/>
        </p:nvSpPr>
        <p:spPr>
          <a:xfrm>
            <a:off x="5120640" y="5458968"/>
            <a:ext cx="502920" cy="0"/>
          </a:xfrm>
          <a:prstGeom prst="line">
            <a:avLst/>
          </a:prstGeom>
          <a:noFill/>
          <a:ln w="19050">
            <a:solidFill>
              <a:schemeClr val="tx2"/>
            </a:solidFill>
            <a:prstDash val="solid"/>
            <a:tailEnd type="none"/>
          </a:ln>
        </p:spPr>
      </p:sp>
      <p:sp>
        <p:nvSpPr>
          <p:cNvPr id="24" name="arrow-109"/>
          <p:cNvSpPr/>
          <p:nvPr/>
        </p:nvSpPr>
        <p:spPr>
          <a:xfrm>
            <a:off x="5623560" y="2093976"/>
            <a:ext cx="0" cy="3364992"/>
          </a:xfrm>
          <a:prstGeom prst="line">
            <a:avLst/>
          </a:prstGeom>
          <a:noFill/>
          <a:ln w="19050">
            <a:solidFill>
              <a:schemeClr val="tx2"/>
            </a:solidFill>
            <a:prstDash val="solid"/>
            <a:tailEnd type="none"/>
          </a:ln>
        </p:spPr>
      </p:sp>
      <p:sp>
        <p:nvSpPr>
          <p:cNvPr id="25" name="or-gate"/>
          <p:cNvSpPr/>
          <p:nvPr/>
        </p:nvSpPr>
        <p:spPr>
          <a:xfrm>
            <a:off x="5349240" y="3502152"/>
            <a:ext cx="548640" cy="548640"/>
          </a:xfrm>
          <a:prstGeom prst="ellipse">
            <a:avLst/>
          </a:prstGeom>
          <a:solidFill>
            <a:schemeClr val="tx1"/>
          </a:solidFill>
          <a:ln/>
        </p:spPr>
      </p:sp>
      <p:sp>
        <p:nvSpPr>
          <p:cNvPr id="26" name="or-label"/>
          <p:cNvSpPr txBox="1"/>
          <p:nvPr/>
        </p:nvSpPr>
        <p:spPr>
          <a:xfrm>
            <a:off x="5349240" y="3502152"/>
            <a:ext cx="548640" cy="548640"/>
          </a:xfrm>
          <a:prstGeom prst="rect">
            <a:avLst/>
          </a:prstGeom>
          <a:noFill/>
          <a:ln/>
        </p:spPr>
        <p:txBody>
          <a:bodyPr wrap="square" lIns="0" tIns="0" rIns="0" bIns="0" rtlCol="0" anchor="ctr"/>
          <a:lstStyle/>
          <a:p>
            <a:pPr algn="ctr" indent="0" marL="0">
              <a:buNone/>
            </a:pPr>
            <a:r>
              <a:rPr lang="en-US" sz="1200" b="1" dirty="0">
                <a:solidFill>
                  <a:schemeClr val="bg1"/>
                </a:solidFill>
              </a:rPr>
              <a:t>OR</a:t>
            </a:r>
            <a:endParaRPr lang="en-US" sz="1200" dirty="0"/>
          </a:p>
        </p:txBody>
      </p:sp>
      <p:sp>
        <p:nvSpPr>
          <p:cNvPr id="27" name="arrow-110"/>
          <p:cNvSpPr/>
          <p:nvPr/>
        </p:nvSpPr>
        <p:spPr>
          <a:xfrm>
            <a:off x="5897880" y="3776472"/>
            <a:ext cx="594360" cy="0"/>
          </a:xfrm>
          <a:prstGeom prst="line">
            <a:avLst/>
          </a:prstGeom>
          <a:noFill/>
          <a:ln w="19050">
            <a:solidFill>
              <a:schemeClr val="tx2"/>
            </a:solidFill>
            <a:prstDash val="solid"/>
            <a:tailEnd type="triangle"/>
          </a:ln>
        </p:spPr>
      </p:sp>
      <p:sp>
        <p:nvSpPr>
          <p:cNvPr id="28" name="reviewer-card"/>
          <p:cNvSpPr/>
          <p:nvPr/>
        </p:nvSpPr>
        <p:spPr>
          <a:xfrm>
            <a:off x="6492240" y="1737360"/>
            <a:ext cx="5150815" cy="2788920"/>
          </a:xfrm>
          <a:prstGeom prst="roundRect">
            <a:avLst>
              <a:gd name="adj" fmla="val 3934"/>
            </a:avLst>
          </a:prstGeom>
          <a:solidFill>
            <a:schemeClr val="accent4">
              <a:alpha val="12000"/>
            </a:schemeClr>
          </a:solidFill>
          <a:ln w="15875">
            <a:solidFill>
              <a:schemeClr val="accent4"/>
            </a:solidFill>
            <a:prstDash val="solid"/>
          </a:ln>
        </p:spPr>
      </p:sp>
      <p:pic>
        <p:nvPicPr>
          <p:cNvPr id="29" name="reviewer-icon" descr="preencoded.png">    </p:cNvPr>
          <p:cNvPicPr>
            <a:picLocks noChangeAspect="1"/>
          </p:cNvPicPr>
          <p:nvPr/>
        </p:nvPicPr>
        <p:blipFill>
          <a:blip r:embed="rId6"/>
          <a:stretch>
            <a:fillRect/>
          </a:stretch>
        </p:blipFill>
        <p:spPr>
          <a:xfrm>
            <a:off x="6720840" y="1920240"/>
            <a:ext cx="384048" cy="384048"/>
          </a:xfrm>
          <a:prstGeom prst="rect">
            <a:avLst/>
          </a:prstGeom>
        </p:spPr>
      </p:pic>
      <p:sp>
        <p:nvSpPr>
          <p:cNvPr id="30" name="reviewer-title"/>
          <p:cNvSpPr txBox="1"/>
          <p:nvPr/>
        </p:nvSpPr>
        <p:spPr>
          <a:xfrm>
            <a:off x="7223760" y="1920240"/>
            <a:ext cx="4236415" cy="384048"/>
          </a:xfrm>
          <a:prstGeom prst="rect">
            <a:avLst/>
          </a:prstGeom>
          <a:noFill/>
          <a:ln/>
        </p:spPr>
        <p:txBody>
          <a:bodyPr wrap="square" lIns="0" tIns="0" rIns="0" bIns="0" rtlCol="0" anchor="ctr"/>
          <a:lstStyle/>
          <a:p>
            <a:pPr indent="0" marL="0">
              <a:buNone/>
            </a:pPr>
            <a:r>
              <a:rPr lang="en-US" sz="1600" b="1" dirty="0">
                <a:solidFill>
                  <a:schemeClr val="tx1"/>
                </a:solidFill>
              </a:rPr>
              <a:t>Support console (a person)</a:t>
            </a:r>
            <a:endParaRPr lang="en-US" sz="1600" dirty="0"/>
          </a:p>
        </p:txBody>
      </p:sp>
      <p:sp>
        <p:nvSpPr>
          <p:cNvPr id="31" name="reviewer-body"/>
          <p:cNvSpPr txBox="1"/>
          <p:nvPr/>
        </p:nvSpPr>
        <p:spPr>
          <a:xfrm>
            <a:off x="6720840" y="2423160"/>
            <a:ext cx="4693615"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Safety reports first, then the rest by age</a:t>
            </a:r>
            <a:endParaRPr lang="en-US" sz="1300" dirty="0"/>
          </a:p>
          <a:p>
            <a:pPr marL="342900" indent="-342900">
              <a:spcAft>
                <a:spcPts val="600"/>
              </a:spcAft>
              <a:buSzPct val="100000"/>
              <a:buChar char="•"/>
            </a:pPr>
            <a:r>
              <a:rPr lang="en-US" sz="1300" dirty="0">
                <a:solidFill>
                  <a:schemeClr val="tx1"/>
                </a:solidFill>
              </a:rPr>
              <a:t>Evidence first; the AI recommendation stays hidden until asked for, so it can't anchor the reviewer</a:t>
            </a:r>
            <a:endParaRPr lang="en-US" sz="1300" dirty="0"/>
          </a:p>
          <a:p>
            <a:pPr marL="342900" indent="-342900">
              <a:spcAft>
                <a:spcPts val="600"/>
              </a:spcAft>
              <a:buSzPct val="100000"/>
              <a:buChar char="•"/>
            </a:pPr>
            <a:r>
              <a:rPr lang="en-US" sz="1300" dirty="0">
                <a:solidFill>
                  <a:schemeClr val="tx1"/>
                </a:solidFill>
              </a:rPr>
              <a:t>Approve, or change the outcome and amount with a reason; both are kept, never overwritten</a:t>
            </a:r>
            <a:endParaRPr lang="en-US" sz="1300" dirty="0"/>
          </a:p>
          <a:p>
            <a:pPr marL="342900" indent="-342900">
              <a:spcAft>
                <a:spcPts val="600"/>
              </a:spcAft>
              <a:buSzPct val="100000"/>
              <a:buChar char="•"/>
            </a:pPr>
            <a:r>
              <a:rPr lang="en-US" sz="1300" dirty="0">
                <a:solidFill>
                  <a:schemeClr val="tx1"/>
                </a:solidFill>
              </a:rPr>
              <a:t>For safety reports: gather the case file in code, with no recommendation at all</a:t>
            </a:r>
            <a:endParaRPr lang="en-US" sz="1300" dirty="0"/>
          </a:p>
        </p:txBody>
      </p:sp>
      <p:sp>
        <p:nvSpPr>
          <p:cNvPr id="32" name="stands-card"/>
          <p:cNvSpPr/>
          <p:nvPr/>
        </p:nvSpPr>
        <p:spPr>
          <a:xfrm>
            <a:off x="6492240" y="4800600"/>
            <a:ext cx="5150815" cy="1051560"/>
          </a:xfrm>
          <a:prstGeom prst="roundRect">
            <a:avLst>
              <a:gd name="adj" fmla="val 10435"/>
            </a:avLst>
          </a:prstGeom>
          <a:solidFill>
            <a:schemeClr val="accent3">
              <a:alpha val="12000"/>
            </a:schemeClr>
          </a:solidFill>
          <a:ln w="15875">
            <a:solidFill>
              <a:schemeClr val="accent3"/>
            </a:solidFill>
            <a:prstDash val="solid"/>
          </a:ln>
        </p:spPr>
      </p:sp>
      <p:pic>
        <p:nvPicPr>
          <p:cNvPr id="33" name="stands-icon" descr="preencoded.png">    </p:cNvPr>
          <p:cNvPicPr>
            <a:picLocks noChangeAspect="1"/>
          </p:cNvPicPr>
          <p:nvPr/>
        </p:nvPicPr>
        <p:blipFill>
          <a:blip r:embed="rId7"/>
          <a:stretch>
            <a:fillRect/>
          </a:stretch>
        </p:blipFill>
        <p:spPr>
          <a:xfrm>
            <a:off x="6720840" y="4983480"/>
            <a:ext cx="384048" cy="384048"/>
          </a:xfrm>
          <a:prstGeom prst="rect">
            <a:avLst/>
          </a:prstGeom>
        </p:spPr>
      </p:pic>
      <p:sp>
        <p:nvSpPr>
          <p:cNvPr id="34" name="stands-text"/>
          <p:cNvSpPr txBox="1"/>
          <p:nvPr/>
        </p:nvSpPr>
        <p:spPr>
          <a:xfrm>
            <a:off x="7223760" y="4864608"/>
            <a:ext cx="4236415" cy="914400"/>
          </a:xfrm>
          <a:prstGeom prst="rect">
            <a:avLst/>
          </a:prstGeom>
          <a:noFill/>
          <a:ln/>
        </p:spPr>
        <p:txBody>
          <a:bodyPr wrap="square" lIns="0" tIns="0" rIns="0" bIns="0" rtlCol="0" anchor="ctr"/>
          <a:lstStyle/>
          <a:p>
            <a:pPr indent="0" marL="0">
              <a:buNone/>
            </a:pPr>
            <a:r>
              <a:rPr lang="en-US" sz="1400" b="1" dirty="0">
                <a:solidFill>
                  <a:schemeClr val="tx1"/>
                </a:solidFill>
              </a:rPr>
              <a:t>None fire: the ruling stands</a:t>
            </a:r>
            <a:endParaRPr lang="en-US" sz="1400" dirty="0"/>
          </a:p>
          <a:p>
            <a:pPr indent="0" marL="0">
              <a:buNone/>
            </a:pPr>
            <a:r>
              <a:rPr lang="en-US" sz="1200" dirty="0">
                <a:solidFill>
                  <a:schemeClr val="tx2"/>
                </a:solidFill>
              </a:rPr>
              <a:t>Applied automatically; both parties see the same facts and rule, from their side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Technical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React client, one FastAPI service and one Postgres. The domain layer keeps model calls, plain-code rules and tools apart.</a:t>
            </a:r>
            <a:endParaRPr lang="en-US" sz="1500" dirty="0"/>
          </a:p>
        </p:txBody>
      </p:sp>
      <p:sp>
        <p:nvSpPr>
          <p:cNvPr id="4" name="layer-client"/>
          <p:cNvSpPr/>
          <p:nvPr/>
        </p:nvSpPr>
        <p:spPr>
          <a:xfrm>
            <a:off x="548640" y="1627632"/>
            <a:ext cx="11094415" cy="841248"/>
          </a:xfrm>
          <a:prstGeom prst="roundRect">
            <a:avLst>
              <a:gd name="adj" fmla="val 10870"/>
            </a:avLst>
          </a:prstGeom>
          <a:solidFill>
            <a:schemeClr val="bg1"/>
          </a:solidFill>
          <a:ln w="6350">
            <a:solidFill>
              <a:schemeClr val="tx2">
                <a:alpha val="30000"/>
              </a:schemeClr>
            </a:solidFill>
            <a:prstDash val="solid"/>
          </a:ln>
        </p:spPr>
      </p:sp>
      <p:sp>
        <p:nvSpPr>
          <p:cNvPr id="5" name="layer-client-label"/>
          <p:cNvSpPr txBox="1"/>
          <p:nvPr/>
        </p:nvSpPr>
        <p:spPr>
          <a:xfrm>
            <a:off x="685800" y="1719072"/>
            <a:ext cx="1280160" cy="658368"/>
          </a:xfrm>
          <a:prstGeom prst="rect">
            <a:avLst/>
          </a:prstGeom>
          <a:noFill/>
          <a:ln/>
        </p:spPr>
        <p:txBody>
          <a:bodyPr wrap="square" lIns="0" tIns="0" rIns="0" bIns="0" rtlCol="0" anchor="ctr"/>
          <a:lstStyle/>
          <a:p>
            <a:pPr indent="0" marL="0">
              <a:buNone/>
            </a:pPr>
            <a:r>
              <a:rPr lang="en-US" sz="1250" b="1" dirty="0">
                <a:solidFill>
                  <a:schemeClr val="tx1"/>
                </a:solidFill>
              </a:rPr>
              <a:t>Client</a:t>
            </a:r>
            <a:endParaRPr lang="en-US" sz="1250" dirty="0"/>
          </a:p>
          <a:p>
            <a:pPr indent="0" marL="0">
              <a:buNone/>
            </a:pPr>
            <a:r>
              <a:rPr lang="en-US" sz="1000" dirty="0">
                <a:solidFill>
                  <a:schemeClr val="tx2"/>
                </a:solidFill>
              </a:rPr>
              <a:t>Vercel, static</a:t>
            </a:r>
            <a:endParaRPr lang="en-US" sz="1250" dirty="0"/>
          </a:p>
        </p:txBody>
      </p:sp>
      <p:sp>
        <p:nvSpPr>
          <p:cNvPr id="6" name="comp-111"/>
          <p:cNvSpPr/>
          <p:nvPr/>
        </p:nvSpPr>
        <p:spPr>
          <a:xfrm>
            <a:off x="2103120" y="1700784"/>
            <a:ext cx="2279828" cy="694944"/>
          </a:xfrm>
          <a:prstGeom prst="roundRect">
            <a:avLst>
              <a:gd name="adj" fmla="val 9211"/>
            </a:avLst>
          </a:prstGeom>
          <a:solidFill>
            <a:schemeClr val="bg2"/>
          </a:solidFill>
          <a:ln/>
        </p:spPr>
      </p:sp>
      <p:sp>
        <p:nvSpPr>
          <p:cNvPr id="7" name="comp-title-112"/>
          <p:cNvSpPr txBox="1"/>
          <p:nvPr/>
        </p:nvSpPr>
        <p:spPr>
          <a:xfrm>
            <a:off x="2212848" y="1764792"/>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React 19 + Vite + TS</a:t>
            </a:r>
            <a:endParaRPr lang="en-US" sz="1200" dirty="0"/>
          </a:p>
        </p:txBody>
      </p:sp>
      <p:sp>
        <p:nvSpPr>
          <p:cNvPr id="8" name="comp-detail-113"/>
          <p:cNvSpPr txBox="1"/>
          <p:nvPr/>
        </p:nvSpPr>
        <p:spPr>
          <a:xfrm>
            <a:off x="2212848" y="2029968"/>
            <a:ext cx="2060372" cy="310896"/>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role routes: /rider</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/driver /support /trace</a:t>
            </a:r>
            <a:endParaRPr lang="en-US" sz="1000" dirty="0"/>
          </a:p>
        </p:txBody>
      </p:sp>
      <p:sp>
        <p:nvSpPr>
          <p:cNvPr id="9" name="comp-114"/>
          <p:cNvSpPr/>
          <p:nvPr/>
        </p:nvSpPr>
        <p:spPr>
          <a:xfrm>
            <a:off x="4492676" y="1700784"/>
            <a:ext cx="2279828" cy="694944"/>
          </a:xfrm>
          <a:prstGeom prst="roundRect">
            <a:avLst>
              <a:gd name="adj" fmla="val 9211"/>
            </a:avLst>
          </a:prstGeom>
          <a:solidFill>
            <a:schemeClr val="bg2"/>
          </a:solidFill>
          <a:ln/>
        </p:spPr>
      </p:sp>
      <p:sp>
        <p:nvSpPr>
          <p:cNvPr id="10" name="comp-title-115"/>
          <p:cNvSpPr txBox="1"/>
          <p:nvPr/>
        </p:nvSpPr>
        <p:spPr>
          <a:xfrm>
            <a:off x="4602404" y="1764792"/>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useLiveCase()</a:t>
            </a:r>
            <a:endParaRPr lang="en-US" sz="1200" dirty="0"/>
          </a:p>
        </p:txBody>
      </p:sp>
      <p:sp>
        <p:nvSpPr>
          <p:cNvPr id="11" name="comp-detail-116"/>
          <p:cNvSpPr txBox="1"/>
          <p:nvPr/>
        </p:nvSpPr>
        <p:spPr>
          <a:xfrm>
            <a:off x="4602404" y="2029968"/>
            <a:ext cx="2060372" cy="310896"/>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EventSource + replay;</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resumes by Last-Event-ID</a:t>
            </a:r>
            <a:endParaRPr lang="en-US" sz="1000" dirty="0"/>
          </a:p>
        </p:txBody>
      </p:sp>
      <p:sp>
        <p:nvSpPr>
          <p:cNvPr id="12" name="comp-117"/>
          <p:cNvSpPr/>
          <p:nvPr/>
        </p:nvSpPr>
        <p:spPr>
          <a:xfrm>
            <a:off x="6882232" y="1700784"/>
            <a:ext cx="2279828" cy="694944"/>
          </a:xfrm>
          <a:prstGeom prst="roundRect">
            <a:avLst>
              <a:gd name="adj" fmla="val 9211"/>
            </a:avLst>
          </a:prstGeom>
          <a:solidFill>
            <a:schemeClr val="bg2"/>
          </a:solidFill>
          <a:ln/>
        </p:spPr>
      </p:sp>
      <p:sp>
        <p:nvSpPr>
          <p:cNvPr id="13" name="comp-title-118"/>
          <p:cNvSpPr txBox="1"/>
          <p:nvPr/>
        </p:nvSpPr>
        <p:spPr>
          <a:xfrm>
            <a:off x="6991960" y="1764792"/>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Evidence drawer</a:t>
            </a:r>
            <a:endParaRPr lang="en-US" sz="1200" dirty="0"/>
          </a:p>
        </p:txBody>
      </p:sp>
      <p:sp>
        <p:nvSpPr>
          <p:cNvPr id="14" name="comp-detail-119"/>
          <p:cNvSpPr txBox="1"/>
          <p:nvPr/>
        </p:nvSpPr>
        <p:spPr>
          <a:xfrm>
            <a:off x="6991960" y="2029968"/>
            <a:ext cx="2060372" cy="310896"/>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&lt;Cite ref="EV-0035"&gt;</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opens the cited item</a:t>
            </a:r>
            <a:endParaRPr lang="en-US" sz="1000" dirty="0"/>
          </a:p>
        </p:txBody>
      </p:sp>
      <p:sp>
        <p:nvSpPr>
          <p:cNvPr id="15" name="comp-120"/>
          <p:cNvSpPr/>
          <p:nvPr/>
        </p:nvSpPr>
        <p:spPr>
          <a:xfrm>
            <a:off x="9271787" y="1700784"/>
            <a:ext cx="2279828" cy="694944"/>
          </a:xfrm>
          <a:prstGeom prst="roundRect">
            <a:avLst>
              <a:gd name="adj" fmla="val 9211"/>
            </a:avLst>
          </a:prstGeom>
          <a:solidFill>
            <a:schemeClr val="bg2"/>
          </a:solidFill>
          <a:ln/>
        </p:spPr>
      </p:sp>
      <p:sp>
        <p:nvSpPr>
          <p:cNvPr id="16" name="comp-title-121"/>
          <p:cNvSpPr txBox="1"/>
          <p:nvPr/>
        </p:nvSpPr>
        <p:spPr>
          <a:xfrm>
            <a:off x="9381515" y="1764792"/>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Leaflet maps</a:t>
            </a:r>
            <a:endParaRPr lang="en-US" sz="1200" dirty="0"/>
          </a:p>
        </p:txBody>
      </p:sp>
      <p:sp>
        <p:nvSpPr>
          <p:cNvPr id="17" name="comp-detail-122"/>
          <p:cNvSpPr txBox="1"/>
          <p:nvPr/>
        </p:nvSpPr>
        <p:spPr>
          <a:xfrm>
            <a:off x="9381515" y="2029968"/>
            <a:ext cx="2060372" cy="310896"/>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OneMap grey tiles;</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GeoJSON routes, GPS</a:t>
            </a:r>
            <a:endParaRPr lang="en-US" sz="1000" dirty="0"/>
          </a:p>
        </p:txBody>
      </p:sp>
      <p:sp>
        <p:nvSpPr>
          <p:cNvPr id="18" name="arrow-123"/>
          <p:cNvSpPr/>
          <p:nvPr/>
        </p:nvSpPr>
        <p:spPr>
          <a:xfrm>
            <a:off x="5504578" y="2468880"/>
            <a:ext cx="0" cy="256032"/>
          </a:xfrm>
          <a:prstGeom prst="line">
            <a:avLst/>
          </a:prstGeom>
          <a:noFill/>
          <a:ln w="19050">
            <a:solidFill>
              <a:schemeClr val="tx2"/>
            </a:solidFill>
            <a:prstDash val="solid"/>
            <a:tailEnd type="triangle"/>
          </a:ln>
        </p:spPr>
      </p:sp>
      <p:sp>
        <p:nvSpPr>
          <p:cNvPr id="19" name="arrow-124"/>
          <p:cNvSpPr/>
          <p:nvPr/>
        </p:nvSpPr>
        <p:spPr>
          <a:xfrm flipV="1">
            <a:off x="7961187" y="2468880"/>
            <a:ext cx="0" cy="256032"/>
          </a:xfrm>
          <a:prstGeom prst="line">
            <a:avLst/>
          </a:prstGeom>
          <a:noFill/>
          <a:ln w="19050">
            <a:solidFill>
              <a:schemeClr val="tx2"/>
            </a:solidFill>
            <a:prstDash val="solid"/>
            <a:tailEnd type="triangle"/>
          </a:ln>
        </p:spPr>
      </p:sp>
      <p:sp>
        <p:nvSpPr>
          <p:cNvPr id="20" name="rest-label"/>
          <p:cNvSpPr txBox="1"/>
          <p:nvPr/>
        </p:nvSpPr>
        <p:spPr>
          <a:xfrm>
            <a:off x="1572658" y="2487168"/>
            <a:ext cx="3840480" cy="219456"/>
          </a:xfrm>
          <a:prstGeom prst="rect">
            <a:avLst/>
          </a:prstGeom>
          <a:noFill/>
          <a:ln/>
        </p:spPr>
        <p:txBody>
          <a:bodyPr wrap="square" lIns="0" tIns="0" rIns="0" bIns="0" rtlCol="0" anchor="ctr"/>
          <a:lstStyle/>
          <a:p>
            <a:pPr algn="r" indent="0" marL="0">
              <a:buNone/>
            </a:pPr>
            <a:r>
              <a:rPr lang="en-US" sz="1000" i="1" dirty="0">
                <a:solidFill>
                  <a:schemeClr val="tx2"/>
                </a:solidFill>
              </a:rPr>
              <a:t>REST · JSON:  POST /cases, /response, /l2/…/ratify</a:t>
            </a:r>
            <a:endParaRPr lang="en-US" sz="1000" dirty="0"/>
          </a:p>
        </p:txBody>
      </p:sp>
      <p:sp>
        <p:nvSpPr>
          <p:cNvPr id="21" name="sse-label"/>
          <p:cNvSpPr txBox="1"/>
          <p:nvPr/>
        </p:nvSpPr>
        <p:spPr>
          <a:xfrm>
            <a:off x="8052627" y="2487168"/>
            <a:ext cx="3017520" cy="219456"/>
          </a:xfrm>
          <a:prstGeom prst="rect">
            <a:avLst/>
          </a:prstGeom>
          <a:noFill/>
          <a:ln/>
        </p:spPr>
        <p:txBody>
          <a:bodyPr wrap="square" lIns="0" tIns="0" rIns="0" bIns="0" rtlCol="0" anchor="ctr"/>
          <a:lstStyle/>
          <a:p>
            <a:pPr indent="0" marL="0">
              <a:buNone/>
            </a:pPr>
            <a:r>
              <a:rPr lang="en-US" sz="1000" i="1" dirty="0">
                <a:solidFill>
                  <a:schemeClr val="tx2"/>
                </a:solidFill>
              </a:rPr>
              <a:t>SSE:  /events/cases/{id}, /events/l2</a:t>
            </a:r>
            <a:endParaRPr lang="en-US" sz="1000" dirty="0"/>
          </a:p>
        </p:txBody>
      </p:sp>
      <p:sp>
        <p:nvSpPr>
          <p:cNvPr id="22" name="layer-api"/>
          <p:cNvSpPr/>
          <p:nvPr/>
        </p:nvSpPr>
        <p:spPr>
          <a:xfrm>
            <a:off x="548640" y="2724912"/>
            <a:ext cx="11094415" cy="566928"/>
          </a:xfrm>
          <a:prstGeom prst="roundRect">
            <a:avLst>
              <a:gd name="adj" fmla="val 16129"/>
            </a:avLst>
          </a:prstGeom>
          <a:solidFill>
            <a:schemeClr val="bg1"/>
          </a:solidFill>
          <a:ln w="6350">
            <a:solidFill>
              <a:schemeClr val="tx2">
                <a:alpha val="30000"/>
              </a:schemeClr>
            </a:solidFill>
            <a:prstDash val="solid"/>
          </a:ln>
        </p:spPr>
      </p:sp>
      <p:sp>
        <p:nvSpPr>
          <p:cNvPr id="23" name="layer-api-label"/>
          <p:cNvSpPr txBox="1"/>
          <p:nvPr/>
        </p:nvSpPr>
        <p:spPr>
          <a:xfrm>
            <a:off x="685800" y="2816352"/>
            <a:ext cx="1280160" cy="384048"/>
          </a:xfrm>
          <a:prstGeom prst="rect">
            <a:avLst/>
          </a:prstGeom>
          <a:noFill/>
          <a:ln/>
        </p:spPr>
        <p:txBody>
          <a:bodyPr wrap="square" lIns="0" tIns="0" rIns="0" bIns="0" rtlCol="0" anchor="ctr"/>
          <a:lstStyle/>
          <a:p>
            <a:pPr indent="0" marL="0">
              <a:buNone/>
            </a:pPr>
            <a:r>
              <a:rPr lang="en-US" sz="1250" b="1" dirty="0">
                <a:solidFill>
                  <a:schemeClr val="tx1"/>
                </a:solidFill>
              </a:rPr>
              <a:t>API</a:t>
            </a:r>
            <a:endParaRPr lang="en-US" sz="1250" dirty="0"/>
          </a:p>
          <a:p>
            <a:pPr indent="0" marL="0">
              <a:buNone/>
            </a:pPr>
            <a:r>
              <a:rPr lang="en-US" sz="1000" dirty="0">
                <a:solidFill>
                  <a:schemeClr val="tx2"/>
                </a:solidFill>
              </a:rPr>
              <a:t>FastAPI · uvicorn · Render</a:t>
            </a:r>
            <a:endParaRPr lang="en-US" sz="1250" dirty="0"/>
          </a:p>
        </p:txBody>
      </p:sp>
      <p:sp>
        <p:nvSpPr>
          <p:cNvPr id="24" name="router-0"/>
          <p:cNvSpPr/>
          <p:nvPr/>
        </p:nvSpPr>
        <p:spPr>
          <a:xfrm>
            <a:off x="2103120" y="2843784"/>
            <a:ext cx="1271408" cy="329184"/>
          </a:xfrm>
          <a:prstGeom prst="roundRect">
            <a:avLst>
              <a:gd name="adj" fmla="val 16667"/>
            </a:avLst>
          </a:prstGeom>
          <a:solidFill>
            <a:schemeClr val="bg2"/>
          </a:solidFill>
          <a:ln/>
        </p:spPr>
      </p:sp>
      <p:sp>
        <p:nvSpPr>
          <p:cNvPr id="25" name="router-0-text"/>
          <p:cNvSpPr txBox="1"/>
          <p:nvPr/>
        </p:nvSpPr>
        <p:spPr>
          <a:xfrm>
            <a:off x="2103120"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cases</a:t>
            </a:r>
            <a:endParaRPr lang="en-US" sz="1100" dirty="0"/>
          </a:p>
        </p:txBody>
      </p:sp>
      <p:sp>
        <p:nvSpPr>
          <p:cNvPr id="26" name="router-1"/>
          <p:cNvSpPr/>
          <p:nvPr/>
        </p:nvSpPr>
        <p:spPr>
          <a:xfrm>
            <a:off x="3465968" y="2843784"/>
            <a:ext cx="1271408" cy="329184"/>
          </a:xfrm>
          <a:prstGeom prst="roundRect">
            <a:avLst>
              <a:gd name="adj" fmla="val 16667"/>
            </a:avLst>
          </a:prstGeom>
          <a:solidFill>
            <a:schemeClr val="bg2"/>
          </a:solidFill>
          <a:ln/>
        </p:spPr>
      </p:sp>
      <p:sp>
        <p:nvSpPr>
          <p:cNvPr id="27" name="router-1-text"/>
          <p:cNvSpPr txBox="1"/>
          <p:nvPr/>
        </p:nvSpPr>
        <p:spPr>
          <a:xfrm>
            <a:off x="3465968"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decisions</a:t>
            </a:r>
            <a:endParaRPr lang="en-US" sz="1100" dirty="0"/>
          </a:p>
        </p:txBody>
      </p:sp>
      <p:sp>
        <p:nvSpPr>
          <p:cNvPr id="28" name="router-2"/>
          <p:cNvSpPr/>
          <p:nvPr/>
        </p:nvSpPr>
        <p:spPr>
          <a:xfrm>
            <a:off x="4828816" y="2843784"/>
            <a:ext cx="1271408" cy="329184"/>
          </a:xfrm>
          <a:prstGeom prst="roundRect">
            <a:avLst>
              <a:gd name="adj" fmla="val 16667"/>
            </a:avLst>
          </a:prstGeom>
          <a:solidFill>
            <a:schemeClr val="bg2"/>
          </a:solidFill>
          <a:ln/>
        </p:spPr>
      </p:sp>
      <p:sp>
        <p:nvSpPr>
          <p:cNvPr id="29" name="router-2-text"/>
          <p:cNvSpPr txBox="1"/>
          <p:nvPr/>
        </p:nvSpPr>
        <p:spPr>
          <a:xfrm>
            <a:off x="4828816"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l2</a:t>
            </a:r>
            <a:endParaRPr lang="en-US" sz="1100" dirty="0"/>
          </a:p>
        </p:txBody>
      </p:sp>
      <p:sp>
        <p:nvSpPr>
          <p:cNvPr id="30" name="router-3"/>
          <p:cNvSpPr/>
          <p:nvPr/>
        </p:nvSpPr>
        <p:spPr>
          <a:xfrm>
            <a:off x="6191664" y="2843784"/>
            <a:ext cx="1271408" cy="329184"/>
          </a:xfrm>
          <a:prstGeom prst="roundRect">
            <a:avLst>
              <a:gd name="adj" fmla="val 16667"/>
            </a:avLst>
          </a:prstGeom>
          <a:solidFill>
            <a:schemeClr val="bg2"/>
          </a:solidFill>
          <a:ln/>
        </p:spPr>
      </p:sp>
      <p:sp>
        <p:nvSpPr>
          <p:cNvPr id="31" name="router-3-text"/>
          <p:cNvSpPr txBox="1"/>
          <p:nvPr/>
        </p:nvSpPr>
        <p:spPr>
          <a:xfrm>
            <a:off x="6191664"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events (SSE)</a:t>
            </a:r>
            <a:endParaRPr lang="en-US" sz="1100" dirty="0"/>
          </a:p>
        </p:txBody>
      </p:sp>
      <p:sp>
        <p:nvSpPr>
          <p:cNvPr id="32" name="router-4"/>
          <p:cNvSpPr/>
          <p:nvPr/>
        </p:nvSpPr>
        <p:spPr>
          <a:xfrm>
            <a:off x="7554512" y="2843784"/>
            <a:ext cx="1271408" cy="329184"/>
          </a:xfrm>
          <a:prstGeom prst="roundRect">
            <a:avLst>
              <a:gd name="adj" fmla="val 16667"/>
            </a:avLst>
          </a:prstGeom>
          <a:solidFill>
            <a:schemeClr val="bg2"/>
          </a:solidFill>
          <a:ln/>
        </p:spPr>
      </p:sp>
      <p:sp>
        <p:nvSpPr>
          <p:cNvPr id="33" name="router-4-text"/>
          <p:cNvSpPr txBox="1"/>
          <p:nvPr/>
        </p:nvSpPr>
        <p:spPr>
          <a:xfrm>
            <a:off x="7554512"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evidence</a:t>
            </a:r>
            <a:endParaRPr lang="en-US" sz="1100" dirty="0"/>
          </a:p>
        </p:txBody>
      </p:sp>
      <p:sp>
        <p:nvSpPr>
          <p:cNvPr id="34" name="router-5"/>
          <p:cNvSpPr/>
          <p:nvPr/>
        </p:nvSpPr>
        <p:spPr>
          <a:xfrm>
            <a:off x="8917359" y="2843784"/>
            <a:ext cx="1271408" cy="329184"/>
          </a:xfrm>
          <a:prstGeom prst="roundRect">
            <a:avLst>
              <a:gd name="adj" fmla="val 16667"/>
            </a:avLst>
          </a:prstGeom>
          <a:solidFill>
            <a:schemeClr val="bg2"/>
          </a:solidFill>
          <a:ln/>
        </p:spPr>
      </p:sp>
      <p:sp>
        <p:nvSpPr>
          <p:cNvPr id="35" name="router-5-text"/>
          <p:cNvSpPr txBox="1"/>
          <p:nvPr/>
        </p:nvSpPr>
        <p:spPr>
          <a:xfrm>
            <a:off x="8917359"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demo</a:t>
            </a:r>
            <a:endParaRPr lang="en-US" sz="1100" dirty="0"/>
          </a:p>
        </p:txBody>
      </p:sp>
      <p:sp>
        <p:nvSpPr>
          <p:cNvPr id="36" name="router-6"/>
          <p:cNvSpPr/>
          <p:nvPr/>
        </p:nvSpPr>
        <p:spPr>
          <a:xfrm>
            <a:off x="10280207" y="2843784"/>
            <a:ext cx="1271408" cy="329184"/>
          </a:xfrm>
          <a:prstGeom prst="roundRect">
            <a:avLst>
              <a:gd name="adj" fmla="val 16667"/>
            </a:avLst>
          </a:prstGeom>
          <a:solidFill>
            <a:schemeClr val="bg2"/>
          </a:solidFill>
          <a:ln/>
        </p:spPr>
      </p:sp>
      <p:sp>
        <p:nvSpPr>
          <p:cNvPr id="37" name="router-6-text"/>
          <p:cNvSpPr txBox="1"/>
          <p:nvPr/>
        </p:nvSpPr>
        <p:spPr>
          <a:xfrm>
            <a:off x="10280207" y="2843784"/>
            <a:ext cx="1271408"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golden</a:t>
            </a:r>
            <a:endParaRPr lang="en-US" sz="1100" dirty="0"/>
          </a:p>
        </p:txBody>
      </p:sp>
      <p:sp>
        <p:nvSpPr>
          <p:cNvPr id="38" name="arrow-125"/>
          <p:cNvSpPr/>
          <p:nvPr/>
        </p:nvSpPr>
        <p:spPr>
          <a:xfrm>
            <a:off x="6827368" y="3291840"/>
            <a:ext cx="0" cy="164592"/>
          </a:xfrm>
          <a:prstGeom prst="line">
            <a:avLst/>
          </a:prstGeom>
          <a:noFill/>
          <a:ln w="19050">
            <a:solidFill>
              <a:schemeClr val="tx2"/>
            </a:solidFill>
            <a:prstDash val="solid"/>
            <a:tailEnd type="triangle"/>
          </a:ln>
        </p:spPr>
      </p:sp>
      <p:sp>
        <p:nvSpPr>
          <p:cNvPr id="39" name="layer-domain"/>
          <p:cNvSpPr/>
          <p:nvPr/>
        </p:nvSpPr>
        <p:spPr>
          <a:xfrm>
            <a:off x="548640" y="3456432"/>
            <a:ext cx="11094415" cy="1298448"/>
          </a:xfrm>
          <a:prstGeom prst="roundRect">
            <a:avLst>
              <a:gd name="adj" fmla="val 7042"/>
            </a:avLst>
          </a:prstGeom>
          <a:solidFill>
            <a:schemeClr val="bg1"/>
          </a:solidFill>
          <a:ln w="6350">
            <a:solidFill>
              <a:schemeClr val="tx2">
                <a:alpha val="30000"/>
              </a:schemeClr>
            </a:solidFill>
            <a:prstDash val="solid"/>
          </a:ln>
        </p:spPr>
      </p:sp>
      <p:sp>
        <p:nvSpPr>
          <p:cNvPr id="40" name="layer-domain-label"/>
          <p:cNvSpPr txBox="1"/>
          <p:nvPr/>
        </p:nvSpPr>
        <p:spPr>
          <a:xfrm>
            <a:off x="685800" y="3547872"/>
            <a:ext cx="1280160" cy="1115568"/>
          </a:xfrm>
          <a:prstGeom prst="rect">
            <a:avLst/>
          </a:prstGeom>
          <a:noFill/>
          <a:ln/>
        </p:spPr>
        <p:txBody>
          <a:bodyPr wrap="square" lIns="0" tIns="0" rIns="0" bIns="0" rtlCol="0" anchor="ctr"/>
          <a:lstStyle/>
          <a:p>
            <a:pPr indent="0" marL="0">
              <a:buNone/>
            </a:pPr>
            <a:r>
              <a:rPr lang="en-US" sz="1250" b="1" dirty="0">
                <a:solidFill>
                  <a:schemeClr val="tx1"/>
                </a:solidFill>
              </a:rPr>
              <a:t>Domain</a:t>
            </a:r>
            <a:endParaRPr lang="en-US" sz="1250" dirty="0"/>
          </a:p>
          <a:p>
            <a:pPr indent="0" marL="0">
              <a:buNone/>
            </a:pPr>
            <a:r>
              <a:rPr lang="en-US" sz="1000" dirty="0">
                <a:solidFill>
                  <a:schemeClr val="tx2"/>
                </a:solidFill>
              </a:rPr>
              <a:t>Python 3.11, async</a:t>
            </a:r>
            <a:endParaRPr lang="en-US" sz="1250" dirty="0"/>
          </a:p>
        </p:txBody>
      </p:sp>
      <p:sp>
        <p:nvSpPr>
          <p:cNvPr id="41" name="comp-126"/>
          <p:cNvSpPr/>
          <p:nvPr/>
        </p:nvSpPr>
        <p:spPr>
          <a:xfrm>
            <a:off x="2103120" y="3538728"/>
            <a:ext cx="2279828" cy="1133856"/>
          </a:xfrm>
          <a:prstGeom prst="roundRect">
            <a:avLst>
              <a:gd name="adj" fmla="val 5645"/>
            </a:avLst>
          </a:prstGeom>
          <a:solidFill>
            <a:schemeClr val="bg1"/>
          </a:solidFill>
          <a:ln w="12700">
            <a:solidFill>
              <a:schemeClr val="tx2"/>
            </a:solidFill>
            <a:prstDash val="dash"/>
          </a:ln>
        </p:spPr>
      </p:sp>
      <p:sp>
        <p:nvSpPr>
          <p:cNvPr id="42" name="comp-title-127"/>
          <p:cNvSpPr txBox="1"/>
          <p:nvPr/>
        </p:nvSpPr>
        <p:spPr>
          <a:xfrm>
            <a:off x="2212848" y="3602736"/>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Orchestrator</a:t>
            </a:r>
            <a:endParaRPr lang="en-US" sz="1200" dirty="0"/>
          </a:p>
        </p:txBody>
      </p:sp>
      <p:sp>
        <p:nvSpPr>
          <p:cNvPr id="43" name="comp-detail-128"/>
          <p:cNvSpPr txBox="1"/>
          <p:nvPr/>
        </p:nvSpPr>
        <p:spPr>
          <a:xfrm>
            <a:off x="2212848" y="3867912"/>
            <a:ext cx="2060372"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state_machine  pipeline</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adjudication   l2_review</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party_outcome</a:t>
            </a:r>
            <a:endParaRPr lang="en-US" sz="1000" dirty="0"/>
          </a:p>
        </p:txBody>
      </p:sp>
      <p:sp>
        <p:nvSpPr>
          <p:cNvPr id="44" name="comp-129"/>
          <p:cNvSpPr/>
          <p:nvPr/>
        </p:nvSpPr>
        <p:spPr>
          <a:xfrm>
            <a:off x="4492676" y="3538728"/>
            <a:ext cx="2279828" cy="1133856"/>
          </a:xfrm>
          <a:prstGeom prst="roundRect">
            <a:avLst>
              <a:gd name="adj" fmla="val 5645"/>
            </a:avLst>
          </a:prstGeom>
          <a:solidFill>
            <a:schemeClr val="tx1"/>
          </a:solidFill>
          <a:ln/>
        </p:spPr>
      </p:sp>
      <p:sp>
        <p:nvSpPr>
          <p:cNvPr id="45" name="comp-title-130"/>
          <p:cNvSpPr txBox="1"/>
          <p:nvPr/>
        </p:nvSpPr>
        <p:spPr>
          <a:xfrm>
            <a:off x="4602404" y="3602736"/>
            <a:ext cx="2060372" cy="246888"/>
          </a:xfrm>
          <a:prstGeom prst="rect">
            <a:avLst/>
          </a:prstGeom>
          <a:noFill/>
          <a:ln/>
        </p:spPr>
        <p:txBody>
          <a:bodyPr wrap="square" lIns="0" tIns="0" rIns="0" bIns="0" rtlCol="0" anchor="ctr"/>
          <a:lstStyle/>
          <a:p>
            <a:pPr indent="0" marL="0">
              <a:buNone/>
            </a:pPr>
            <a:r>
              <a:rPr lang="en-US" sz="1200" b="1" dirty="0">
                <a:solidFill>
                  <a:schemeClr val="bg1"/>
                </a:solidFill>
              </a:rPr>
              <a:t>5 agents · pydantic-ai</a:t>
            </a:r>
            <a:endParaRPr lang="en-US" sz="1200" dirty="0"/>
          </a:p>
        </p:txBody>
      </p:sp>
      <p:sp>
        <p:nvSpPr>
          <p:cNvPr id="46" name="comp-detail-131"/>
          <p:cNvSpPr txBox="1"/>
          <p:nvPr/>
        </p:nvSpPr>
        <p:spPr>
          <a:xfrm>
            <a:off x="4602404" y="3867912"/>
            <a:ext cx="2060372" cy="749808"/>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triage  evidence_collection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rider/driver advocate  judge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typed output + validators</a:t>
            </a:r>
            <a:endParaRPr lang="en-US" sz="1000" dirty="0"/>
          </a:p>
        </p:txBody>
      </p:sp>
      <p:sp>
        <p:nvSpPr>
          <p:cNvPr id="47" name="comp-132"/>
          <p:cNvSpPr/>
          <p:nvPr/>
        </p:nvSpPr>
        <p:spPr>
          <a:xfrm>
            <a:off x="6882232" y="3538728"/>
            <a:ext cx="2279828" cy="1133856"/>
          </a:xfrm>
          <a:prstGeom prst="roundRect">
            <a:avLst>
              <a:gd name="adj" fmla="val 5645"/>
            </a:avLst>
          </a:prstGeom>
          <a:solidFill>
            <a:schemeClr val="bg1"/>
          </a:solidFill>
          <a:ln w="12700">
            <a:solidFill>
              <a:schemeClr val="tx2"/>
            </a:solidFill>
            <a:prstDash val="dash"/>
          </a:ln>
        </p:spPr>
      </p:sp>
      <p:sp>
        <p:nvSpPr>
          <p:cNvPr id="48" name="comp-title-133"/>
          <p:cNvSpPr txBox="1"/>
          <p:nvPr/>
        </p:nvSpPr>
        <p:spPr>
          <a:xfrm>
            <a:off x="6991960" y="3602736"/>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Rules · no AI</a:t>
            </a:r>
            <a:endParaRPr lang="en-US" sz="1200" dirty="0"/>
          </a:p>
        </p:txBody>
      </p:sp>
      <p:sp>
        <p:nvSpPr>
          <p:cNvPr id="49" name="comp-detail-134"/>
          <p:cNvSpPr txBox="1"/>
          <p:nvPr/>
        </p:nvSpPr>
        <p:spPr>
          <a:xfrm>
            <a:off x="6991960" y="3867912"/>
            <a:ext cx="2060372"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prevention (6 rules)</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escalation (bucket table)</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compliance  policy_math</a:t>
            </a:r>
            <a:endParaRPr lang="en-US" sz="1000" dirty="0"/>
          </a:p>
        </p:txBody>
      </p:sp>
      <p:sp>
        <p:nvSpPr>
          <p:cNvPr id="50" name="comp-135"/>
          <p:cNvSpPr/>
          <p:nvPr/>
        </p:nvSpPr>
        <p:spPr>
          <a:xfrm>
            <a:off x="9271787" y="3538728"/>
            <a:ext cx="2279828" cy="1133856"/>
          </a:xfrm>
          <a:prstGeom prst="roundRect">
            <a:avLst>
              <a:gd name="adj" fmla="val 5645"/>
            </a:avLst>
          </a:prstGeom>
          <a:solidFill>
            <a:schemeClr val="bg2"/>
          </a:solidFill>
          <a:ln/>
        </p:spPr>
      </p:sp>
      <p:sp>
        <p:nvSpPr>
          <p:cNvPr id="51" name="comp-title-136"/>
          <p:cNvSpPr txBox="1"/>
          <p:nvPr/>
        </p:nvSpPr>
        <p:spPr>
          <a:xfrm>
            <a:off x="9381515" y="3602736"/>
            <a:ext cx="2060372" cy="246888"/>
          </a:xfrm>
          <a:prstGeom prst="rect">
            <a:avLst/>
          </a:prstGeom>
          <a:noFill/>
          <a:ln/>
        </p:spPr>
        <p:txBody>
          <a:bodyPr wrap="square" lIns="0" tIns="0" rIns="0" bIns="0" rtlCol="0" anchor="ctr"/>
          <a:lstStyle/>
          <a:p>
            <a:pPr indent="0" marL="0">
              <a:buNone/>
            </a:pPr>
            <a:r>
              <a:rPr lang="en-US" sz="1200" b="1" dirty="0">
                <a:solidFill>
                  <a:schemeClr val="tx1"/>
                </a:solidFill>
              </a:rPr>
              <a:t>Tools</a:t>
            </a:r>
            <a:endParaRPr lang="en-US" sz="1200" dirty="0"/>
          </a:p>
        </p:txBody>
      </p:sp>
      <p:sp>
        <p:nvSpPr>
          <p:cNvPr id="52" name="comp-detail-137"/>
          <p:cNvSpPr txBox="1"/>
          <p:nvPr/>
        </p:nvSpPr>
        <p:spPr>
          <a:xfrm>
            <a:off x="9381515" y="3867912"/>
            <a:ext cx="2060372"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evidence_lookup  policy_rag</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(BM25)  image_analysis</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object_storage (S3)</a:t>
            </a:r>
            <a:endParaRPr lang="en-US" sz="1000" dirty="0"/>
          </a:p>
        </p:txBody>
      </p:sp>
      <p:sp>
        <p:nvSpPr>
          <p:cNvPr id="53" name="arrow-138"/>
          <p:cNvSpPr/>
          <p:nvPr/>
        </p:nvSpPr>
        <p:spPr>
          <a:xfrm>
            <a:off x="6827368" y="4754880"/>
            <a:ext cx="0" cy="164592"/>
          </a:xfrm>
          <a:prstGeom prst="line">
            <a:avLst/>
          </a:prstGeom>
          <a:noFill/>
          <a:ln w="19050">
            <a:solidFill>
              <a:schemeClr val="tx2"/>
            </a:solidFill>
            <a:prstDash val="solid"/>
            <a:tailEnd type="triangle"/>
          </a:ln>
        </p:spPr>
      </p:sp>
      <p:sp>
        <p:nvSpPr>
          <p:cNvPr id="54" name="layer-data"/>
          <p:cNvSpPr/>
          <p:nvPr/>
        </p:nvSpPr>
        <p:spPr>
          <a:xfrm>
            <a:off x="548640" y="4919472"/>
            <a:ext cx="11094415" cy="1298448"/>
          </a:xfrm>
          <a:prstGeom prst="roundRect">
            <a:avLst>
              <a:gd name="adj" fmla="val 7042"/>
            </a:avLst>
          </a:prstGeom>
          <a:solidFill>
            <a:schemeClr val="bg1"/>
          </a:solidFill>
          <a:ln w="6350">
            <a:solidFill>
              <a:schemeClr val="tx2">
                <a:alpha val="30000"/>
              </a:schemeClr>
            </a:solidFill>
            <a:prstDash val="solid"/>
          </a:ln>
        </p:spPr>
      </p:sp>
      <p:sp>
        <p:nvSpPr>
          <p:cNvPr id="55" name="layer-data-label"/>
          <p:cNvSpPr txBox="1"/>
          <p:nvPr/>
        </p:nvSpPr>
        <p:spPr>
          <a:xfrm>
            <a:off x="685800" y="5010912"/>
            <a:ext cx="1280160" cy="1115568"/>
          </a:xfrm>
          <a:prstGeom prst="rect">
            <a:avLst/>
          </a:prstGeom>
          <a:noFill/>
          <a:ln/>
        </p:spPr>
        <p:txBody>
          <a:bodyPr wrap="square" lIns="0" tIns="0" rIns="0" bIns="0" rtlCol="0" anchor="ctr"/>
          <a:lstStyle/>
          <a:p>
            <a:pPr indent="0" marL="0">
              <a:buNone/>
            </a:pPr>
            <a:r>
              <a:rPr lang="en-US" sz="1250" b="1" dirty="0">
                <a:solidFill>
                  <a:schemeClr val="tx1"/>
                </a:solidFill>
              </a:rPr>
              <a:t>Data and services</a:t>
            </a:r>
            <a:endParaRPr lang="en-US" sz="1250" dirty="0"/>
          </a:p>
          <a:p>
            <a:pPr indent="0" marL="0">
              <a:buNone/>
            </a:pPr>
            <a:r>
              <a:rPr lang="en-US" sz="1000" dirty="0">
                <a:solidFill>
                  <a:schemeClr val="tx2"/>
                </a:solidFill>
              </a:rPr>
              <a:t>managed, external</a:t>
            </a:r>
            <a:endParaRPr lang="en-US" sz="1250" dirty="0"/>
          </a:p>
        </p:txBody>
      </p:sp>
      <p:sp>
        <p:nvSpPr>
          <p:cNvPr id="56" name="comp-139"/>
          <p:cNvSpPr/>
          <p:nvPr/>
        </p:nvSpPr>
        <p:spPr>
          <a:xfrm>
            <a:off x="2103120" y="5001768"/>
            <a:ext cx="2350557" cy="1133856"/>
          </a:xfrm>
          <a:prstGeom prst="roundRect">
            <a:avLst>
              <a:gd name="adj" fmla="val 5645"/>
            </a:avLst>
          </a:prstGeom>
          <a:solidFill>
            <a:schemeClr val="bg2"/>
          </a:solidFill>
          <a:ln/>
        </p:spPr>
      </p:sp>
      <p:sp>
        <p:nvSpPr>
          <p:cNvPr id="57" name="comp-title-140"/>
          <p:cNvSpPr txBox="1"/>
          <p:nvPr/>
        </p:nvSpPr>
        <p:spPr>
          <a:xfrm>
            <a:off x="2212848" y="5065776"/>
            <a:ext cx="2131101" cy="246888"/>
          </a:xfrm>
          <a:prstGeom prst="rect">
            <a:avLst/>
          </a:prstGeom>
          <a:noFill/>
          <a:ln/>
        </p:spPr>
        <p:txBody>
          <a:bodyPr wrap="square" lIns="0" tIns="0" rIns="0" bIns="0" rtlCol="0" anchor="ctr"/>
          <a:lstStyle/>
          <a:p>
            <a:pPr indent="0" marL="0">
              <a:buNone/>
            </a:pPr>
            <a:r>
              <a:rPr lang="en-US" sz="1200" b="1" dirty="0">
                <a:solidFill>
                  <a:schemeClr val="tx1"/>
                </a:solidFill>
              </a:rPr>
              <a:t>Neon Postgres</a:t>
            </a:r>
            <a:endParaRPr lang="en-US" sz="1200" dirty="0"/>
          </a:p>
        </p:txBody>
      </p:sp>
      <p:sp>
        <p:nvSpPr>
          <p:cNvPr id="58" name="comp-detail-141"/>
          <p:cNvSpPr txBox="1"/>
          <p:nvPr/>
        </p:nvSpPr>
        <p:spPr>
          <a:xfrm>
            <a:off x="2212848" y="5330952"/>
            <a:ext cx="2131101"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cases trips decisions</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trace_events (NOTIFY)</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llm_usage golden_cases …</a:t>
            </a:r>
            <a:endParaRPr lang="en-US" sz="1000" dirty="0"/>
          </a:p>
        </p:txBody>
      </p:sp>
      <p:sp>
        <p:nvSpPr>
          <p:cNvPr id="59" name="comp-142"/>
          <p:cNvSpPr/>
          <p:nvPr/>
        </p:nvSpPr>
        <p:spPr>
          <a:xfrm>
            <a:off x="4563405" y="5001768"/>
            <a:ext cx="1664757" cy="1133856"/>
          </a:xfrm>
          <a:prstGeom prst="roundRect">
            <a:avLst>
              <a:gd name="adj" fmla="val 5645"/>
            </a:avLst>
          </a:prstGeom>
          <a:solidFill>
            <a:schemeClr val="bg2"/>
          </a:solidFill>
          <a:ln/>
        </p:spPr>
      </p:sp>
      <p:sp>
        <p:nvSpPr>
          <p:cNvPr id="60" name="comp-title-143"/>
          <p:cNvSpPr txBox="1"/>
          <p:nvPr/>
        </p:nvSpPr>
        <p:spPr>
          <a:xfrm>
            <a:off x="4673133" y="5065776"/>
            <a:ext cx="1445301" cy="246888"/>
          </a:xfrm>
          <a:prstGeom prst="rect">
            <a:avLst/>
          </a:prstGeom>
          <a:noFill/>
          <a:ln/>
        </p:spPr>
        <p:txBody>
          <a:bodyPr wrap="square" lIns="0" tIns="0" rIns="0" bIns="0" rtlCol="0" anchor="ctr"/>
          <a:lstStyle/>
          <a:p>
            <a:pPr indent="0" marL="0">
              <a:buNone/>
            </a:pPr>
            <a:r>
              <a:rPr lang="en-US" sz="1200" b="1" dirty="0">
                <a:solidFill>
                  <a:schemeClr val="tx1"/>
                </a:solidFill>
              </a:rPr>
              <a:t>Object storage</a:t>
            </a:r>
            <a:endParaRPr lang="en-US" sz="1200" dirty="0"/>
          </a:p>
        </p:txBody>
      </p:sp>
      <p:sp>
        <p:nvSpPr>
          <p:cNvPr id="61" name="comp-detail-144"/>
          <p:cNvSpPr txBox="1"/>
          <p:nvPr/>
        </p:nvSpPr>
        <p:spPr>
          <a:xfrm>
            <a:off x="4673133" y="5330952"/>
            <a:ext cx="1445301"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Neon, S3 API</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photos; presigned</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URLs</a:t>
            </a:r>
            <a:endParaRPr lang="en-US" sz="1000" dirty="0"/>
          </a:p>
        </p:txBody>
      </p:sp>
      <p:sp>
        <p:nvSpPr>
          <p:cNvPr id="62" name="comp-145"/>
          <p:cNvSpPr/>
          <p:nvPr/>
        </p:nvSpPr>
        <p:spPr>
          <a:xfrm>
            <a:off x="6337889" y="5001768"/>
            <a:ext cx="1939077" cy="1133856"/>
          </a:xfrm>
          <a:prstGeom prst="roundRect">
            <a:avLst>
              <a:gd name="adj" fmla="val 5645"/>
            </a:avLst>
          </a:prstGeom>
          <a:solidFill>
            <a:schemeClr val="bg2"/>
          </a:solidFill>
          <a:ln/>
        </p:spPr>
      </p:sp>
      <p:sp>
        <p:nvSpPr>
          <p:cNvPr id="63" name="comp-title-146"/>
          <p:cNvSpPr txBox="1"/>
          <p:nvPr/>
        </p:nvSpPr>
        <p:spPr>
          <a:xfrm>
            <a:off x="6447617" y="5065776"/>
            <a:ext cx="1719621" cy="246888"/>
          </a:xfrm>
          <a:prstGeom prst="rect">
            <a:avLst/>
          </a:prstGeom>
          <a:noFill/>
          <a:ln/>
        </p:spPr>
        <p:txBody>
          <a:bodyPr wrap="square" lIns="0" tIns="0" rIns="0" bIns="0" rtlCol="0" anchor="ctr"/>
          <a:lstStyle/>
          <a:p>
            <a:pPr indent="0" marL="0">
              <a:buNone/>
            </a:pPr>
            <a:r>
              <a:rPr lang="en-US" sz="1200" b="1" dirty="0">
                <a:solidFill>
                  <a:schemeClr val="tx1"/>
                </a:solidFill>
              </a:rPr>
              <a:t>DeepInfra</a:t>
            </a:r>
            <a:endParaRPr lang="en-US" sz="1200" dirty="0"/>
          </a:p>
        </p:txBody>
      </p:sp>
      <p:sp>
        <p:nvSpPr>
          <p:cNvPr id="64" name="comp-detail-147"/>
          <p:cNvSpPr txBox="1"/>
          <p:nvPr/>
        </p:nvSpPr>
        <p:spPr>
          <a:xfrm>
            <a:off x="6447617" y="5330952"/>
            <a:ext cx="1719621"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OpenAI-compatible</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Qwen3-235B</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Qwen3.6-27B · Gemma 4</a:t>
            </a:r>
            <a:endParaRPr lang="en-US" sz="1000" dirty="0"/>
          </a:p>
        </p:txBody>
      </p:sp>
      <p:sp>
        <p:nvSpPr>
          <p:cNvPr id="65" name="comp-148"/>
          <p:cNvSpPr/>
          <p:nvPr/>
        </p:nvSpPr>
        <p:spPr>
          <a:xfrm>
            <a:off x="8386694" y="5001768"/>
            <a:ext cx="1527597" cy="1133856"/>
          </a:xfrm>
          <a:prstGeom prst="roundRect">
            <a:avLst>
              <a:gd name="adj" fmla="val 5645"/>
            </a:avLst>
          </a:prstGeom>
          <a:solidFill>
            <a:schemeClr val="bg2"/>
          </a:solidFill>
          <a:ln/>
        </p:spPr>
      </p:sp>
      <p:sp>
        <p:nvSpPr>
          <p:cNvPr id="66" name="comp-title-149"/>
          <p:cNvSpPr txBox="1"/>
          <p:nvPr/>
        </p:nvSpPr>
        <p:spPr>
          <a:xfrm>
            <a:off x="8496422" y="5065776"/>
            <a:ext cx="1308141" cy="246888"/>
          </a:xfrm>
          <a:prstGeom prst="rect">
            <a:avLst/>
          </a:prstGeom>
          <a:noFill/>
          <a:ln/>
        </p:spPr>
        <p:txBody>
          <a:bodyPr wrap="square" lIns="0" tIns="0" rIns="0" bIns="0" rtlCol="0" anchor="ctr"/>
          <a:lstStyle/>
          <a:p>
            <a:pPr indent="0" marL="0">
              <a:buNone/>
            </a:pPr>
            <a:r>
              <a:rPr lang="en-US" sz="1200" b="1" dirty="0">
                <a:solidFill>
                  <a:schemeClr val="tx1"/>
                </a:solidFill>
              </a:rPr>
              <a:t>Logfire</a:t>
            </a:r>
            <a:endParaRPr lang="en-US" sz="1200" dirty="0"/>
          </a:p>
        </p:txBody>
      </p:sp>
      <p:sp>
        <p:nvSpPr>
          <p:cNvPr id="67" name="comp-detail-150"/>
          <p:cNvSpPr txBox="1"/>
          <p:nvPr/>
        </p:nvSpPr>
        <p:spPr>
          <a:xfrm>
            <a:off x="8496422" y="5330952"/>
            <a:ext cx="1308141"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OpenTelemetry</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spans per agent</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run, tool call</a:t>
            </a:r>
            <a:endParaRPr lang="en-US" sz="1000" dirty="0"/>
          </a:p>
        </p:txBody>
      </p:sp>
      <p:sp>
        <p:nvSpPr>
          <p:cNvPr id="68" name="comp-151"/>
          <p:cNvSpPr/>
          <p:nvPr/>
        </p:nvSpPr>
        <p:spPr>
          <a:xfrm>
            <a:off x="10024019" y="5001768"/>
            <a:ext cx="1527597" cy="1133856"/>
          </a:xfrm>
          <a:prstGeom prst="roundRect">
            <a:avLst>
              <a:gd name="adj" fmla="val 5645"/>
            </a:avLst>
          </a:prstGeom>
          <a:solidFill>
            <a:schemeClr val="bg2"/>
          </a:solidFill>
          <a:ln/>
        </p:spPr>
      </p:sp>
      <p:sp>
        <p:nvSpPr>
          <p:cNvPr id="69" name="comp-title-152"/>
          <p:cNvSpPr txBox="1"/>
          <p:nvPr/>
        </p:nvSpPr>
        <p:spPr>
          <a:xfrm>
            <a:off x="10133747" y="5065776"/>
            <a:ext cx="1308141" cy="246888"/>
          </a:xfrm>
          <a:prstGeom prst="rect">
            <a:avLst/>
          </a:prstGeom>
          <a:noFill/>
          <a:ln/>
        </p:spPr>
        <p:txBody>
          <a:bodyPr wrap="square" lIns="0" tIns="0" rIns="0" bIns="0" rtlCol="0" anchor="ctr"/>
          <a:lstStyle/>
          <a:p>
            <a:pPr indent="0" marL="0">
              <a:buNone/>
            </a:pPr>
            <a:r>
              <a:rPr lang="en-US" sz="1200" b="1" dirty="0">
                <a:solidFill>
                  <a:schemeClr val="tx1"/>
                </a:solidFill>
              </a:rPr>
              <a:t>OneMap (SG)</a:t>
            </a:r>
            <a:endParaRPr lang="en-US" sz="1200" dirty="0"/>
          </a:p>
        </p:txBody>
      </p:sp>
      <p:sp>
        <p:nvSpPr>
          <p:cNvPr id="70" name="comp-detail-153"/>
          <p:cNvSpPr txBox="1"/>
          <p:nvPr/>
        </p:nvSpPr>
        <p:spPr>
          <a:xfrm>
            <a:off x="10133747" y="5330952"/>
            <a:ext cx="1308141" cy="749808"/>
          </a:xfrm>
          <a:prstGeom prst="rect">
            <a:avLst/>
          </a:prstGeom>
          <a:noFill/>
          <a:ln/>
        </p:spPr>
        <p:txBody>
          <a:bodyPr wrap="square" lIns="0" tIns="0" rIns="0" bIns="0" rtlCol="0" anchor="t"/>
          <a:lstStyle/>
          <a:p>
            <a:pPr indent="0" marL="0">
              <a:buNone/>
            </a:pPr>
            <a:r>
              <a:rPr lang="en-US" sz="1000" dirty="0">
                <a:solidFill>
                  <a:schemeClr val="tx2"/>
                </a:solidFill>
                <a:latin typeface="Courier New" pitchFamily="34" charset="0"/>
                <a:ea typeface="Courier New" pitchFamily="34" charset="-122"/>
                <a:cs typeface="Courier New" pitchFamily="34" charset="-120"/>
              </a:rPr>
              <a:t>road routes for</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the dataset;</a:t>
            </a:r>
            <a:endParaRPr lang="en-US" sz="1000" dirty="0"/>
          </a:p>
          <a:p>
            <a:pPr indent="0" marL="0">
              <a:buNone/>
            </a:pPr>
            <a:r>
              <a:rPr lang="en-US" sz="1000" dirty="0">
                <a:solidFill>
                  <a:schemeClr val="tx2"/>
                </a:solidFill>
                <a:latin typeface="Courier New" pitchFamily="34" charset="0"/>
                <a:ea typeface="Courier New" pitchFamily="34" charset="-122"/>
                <a:cs typeface="Courier New" pitchFamily="34" charset="-120"/>
              </a:rPr>
              <a:t>map tiles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Case lifecycle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Every case is a state machine; only the transitions below are allowed. Each one is written to the trace and pushed to the screen.</a:t>
            </a:r>
            <a:endParaRPr lang="en-US" sz="1500" dirty="0"/>
          </a:p>
        </p:txBody>
      </p:sp>
      <p:sp>
        <p:nvSpPr>
          <p:cNvPr id="4" name="state-154"/>
          <p:cNvSpPr/>
          <p:nvPr/>
        </p:nvSpPr>
        <p:spPr>
          <a:xfrm>
            <a:off x="548640" y="1783080"/>
            <a:ext cx="1627632" cy="960120"/>
          </a:xfrm>
          <a:prstGeom prst="roundRect">
            <a:avLst>
              <a:gd name="adj" fmla="val 7619"/>
            </a:avLst>
          </a:prstGeom>
          <a:solidFill>
            <a:schemeClr val="bg1"/>
          </a:solidFill>
          <a:ln w="15875">
            <a:solidFill>
              <a:schemeClr val="tx1"/>
            </a:solidFill>
            <a:prstDash val="solid"/>
          </a:ln>
        </p:spPr>
      </p:sp>
      <p:sp>
        <p:nvSpPr>
          <p:cNvPr id="5" name="state-name-155"/>
          <p:cNvSpPr txBox="1"/>
          <p:nvPr/>
        </p:nvSpPr>
        <p:spPr>
          <a:xfrm>
            <a:off x="640080" y="185623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opened</a:t>
            </a:r>
            <a:endParaRPr lang="en-US" sz="1050" dirty="0"/>
          </a:p>
        </p:txBody>
      </p:sp>
      <p:sp>
        <p:nvSpPr>
          <p:cNvPr id="6" name="state-sub-156"/>
          <p:cNvSpPr txBox="1"/>
          <p:nvPr/>
        </p:nvSpPr>
        <p:spPr>
          <a:xfrm>
            <a:off x="640080" y="2148840"/>
            <a:ext cx="1444752" cy="539496"/>
          </a:xfrm>
          <a:prstGeom prst="rect">
            <a:avLst/>
          </a:prstGeom>
          <a:noFill/>
          <a:ln/>
        </p:spPr>
        <p:txBody>
          <a:bodyPr wrap="square" lIns="0" tIns="0" rIns="0" bIns="0" rtlCol="0" anchor="t"/>
          <a:lstStyle/>
          <a:p>
            <a:pPr indent="0" marL="0">
              <a:buNone/>
            </a:pPr>
            <a:r>
              <a:rPr lang="en-US" sz="1050" dirty="0">
                <a:solidFill>
                  <a:schemeClr val="tx2"/>
                </a:solidFill>
              </a:rPr>
              <a:t>POST /cases accepted (202)</a:t>
            </a:r>
            <a:endParaRPr lang="en-US" sz="1050" dirty="0"/>
          </a:p>
        </p:txBody>
      </p:sp>
      <p:sp>
        <p:nvSpPr>
          <p:cNvPr id="7" name="state-157"/>
          <p:cNvSpPr/>
          <p:nvPr/>
        </p:nvSpPr>
        <p:spPr>
          <a:xfrm>
            <a:off x="2441997" y="1783080"/>
            <a:ext cx="1627632" cy="960120"/>
          </a:xfrm>
          <a:prstGeom prst="roundRect">
            <a:avLst>
              <a:gd name="adj" fmla="val 7619"/>
            </a:avLst>
          </a:prstGeom>
          <a:solidFill>
            <a:schemeClr val="bg1"/>
          </a:solidFill>
          <a:ln w="15875">
            <a:solidFill>
              <a:schemeClr val="tx1"/>
            </a:solidFill>
            <a:prstDash val="solid"/>
          </a:ln>
        </p:spPr>
      </p:sp>
      <p:sp>
        <p:nvSpPr>
          <p:cNvPr id="8" name="state-name-158"/>
          <p:cNvSpPr txBox="1"/>
          <p:nvPr/>
        </p:nvSpPr>
        <p:spPr>
          <a:xfrm>
            <a:off x="2533437" y="185623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triage</a:t>
            </a:r>
            <a:endParaRPr lang="en-US" sz="1050" dirty="0"/>
          </a:p>
        </p:txBody>
      </p:sp>
      <p:sp>
        <p:nvSpPr>
          <p:cNvPr id="9" name="state-sub-159"/>
          <p:cNvSpPr txBox="1"/>
          <p:nvPr/>
        </p:nvSpPr>
        <p:spPr>
          <a:xfrm>
            <a:off x="2533437" y="2148840"/>
            <a:ext cx="1444752" cy="539496"/>
          </a:xfrm>
          <a:prstGeom prst="rect">
            <a:avLst/>
          </a:prstGeom>
          <a:noFill/>
          <a:ln/>
        </p:spPr>
        <p:txBody>
          <a:bodyPr wrap="square" lIns="0" tIns="0" rIns="0" bIns="0" rtlCol="0" anchor="t"/>
          <a:lstStyle/>
          <a:p>
            <a:pPr indent="0" marL="0">
              <a:buNone/>
            </a:pPr>
            <a:r>
              <a:rPr lang="en-US" sz="1050" dirty="0">
                <a:solidFill>
                  <a:schemeClr val="tx2"/>
                </a:solidFill>
              </a:rPr>
              <a:t>Triage agent reads the report</a:t>
            </a:r>
            <a:endParaRPr lang="en-US" sz="1050" dirty="0"/>
          </a:p>
        </p:txBody>
      </p:sp>
      <p:sp>
        <p:nvSpPr>
          <p:cNvPr id="10" name="state-160"/>
          <p:cNvSpPr/>
          <p:nvPr/>
        </p:nvSpPr>
        <p:spPr>
          <a:xfrm>
            <a:off x="4335353" y="1783080"/>
            <a:ext cx="1627632" cy="960120"/>
          </a:xfrm>
          <a:prstGeom prst="roundRect">
            <a:avLst>
              <a:gd name="adj" fmla="val 7619"/>
            </a:avLst>
          </a:prstGeom>
          <a:solidFill>
            <a:schemeClr val="bg1"/>
          </a:solidFill>
          <a:ln w="15875">
            <a:solidFill>
              <a:schemeClr val="tx1"/>
            </a:solidFill>
            <a:prstDash val="solid"/>
          </a:ln>
        </p:spPr>
      </p:sp>
      <p:sp>
        <p:nvSpPr>
          <p:cNvPr id="11" name="state-name-161"/>
          <p:cNvSpPr txBox="1"/>
          <p:nvPr/>
        </p:nvSpPr>
        <p:spPr>
          <a:xfrm>
            <a:off x="4426793" y="185623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assembling</a:t>
            </a:r>
            <a:endParaRPr lang="en-US" sz="1050" dirty="0"/>
          </a:p>
        </p:txBody>
      </p:sp>
      <p:sp>
        <p:nvSpPr>
          <p:cNvPr id="12" name="state-sub-162"/>
          <p:cNvSpPr txBox="1"/>
          <p:nvPr/>
        </p:nvSpPr>
        <p:spPr>
          <a:xfrm>
            <a:off x="4426793" y="2148840"/>
            <a:ext cx="1444752" cy="539496"/>
          </a:xfrm>
          <a:prstGeom prst="rect">
            <a:avLst/>
          </a:prstGeom>
          <a:noFill/>
          <a:ln/>
        </p:spPr>
        <p:txBody>
          <a:bodyPr wrap="square" lIns="0" tIns="0" rIns="0" bIns="0" rtlCol="0" anchor="t"/>
          <a:lstStyle/>
          <a:p>
            <a:pPr indent="0" marL="0">
              <a:buNone/>
            </a:pPr>
            <a:r>
              <a:rPr lang="en-US" sz="1050" dirty="0">
                <a:solidFill>
                  <a:schemeClr val="tx2"/>
                </a:solidFill>
              </a:rPr>
              <a:t>Rules passed; Evidence agent builds the case file</a:t>
            </a:r>
            <a:endParaRPr lang="en-US" sz="1050" dirty="0"/>
          </a:p>
        </p:txBody>
      </p:sp>
      <p:sp>
        <p:nvSpPr>
          <p:cNvPr id="13" name="state-163"/>
          <p:cNvSpPr/>
          <p:nvPr/>
        </p:nvSpPr>
        <p:spPr>
          <a:xfrm>
            <a:off x="6228710" y="1783080"/>
            <a:ext cx="1627632" cy="960120"/>
          </a:xfrm>
          <a:prstGeom prst="roundRect">
            <a:avLst>
              <a:gd name="adj" fmla="val 7619"/>
            </a:avLst>
          </a:prstGeom>
          <a:solidFill>
            <a:schemeClr val="bg1"/>
          </a:solidFill>
          <a:ln w="15875">
            <a:solidFill>
              <a:schemeClr val="tx1"/>
            </a:solidFill>
            <a:prstDash val="solid"/>
          </a:ln>
        </p:spPr>
      </p:sp>
      <p:sp>
        <p:nvSpPr>
          <p:cNvPr id="14" name="state-name-164"/>
          <p:cNvSpPr txBox="1"/>
          <p:nvPr/>
        </p:nvSpPr>
        <p:spPr>
          <a:xfrm>
            <a:off x="6320150" y="185623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awaiting_response</a:t>
            </a:r>
            <a:endParaRPr lang="en-US" sz="1050" dirty="0"/>
          </a:p>
        </p:txBody>
      </p:sp>
      <p:sp>
        <p:nvSpPr>
          <p:cNvPr id="15" name="state-sub-165"/>
          <p:cNvSpPr txBox="1"/>
          <p:nvPr/>
        </p:nvSpPr>
        <p:spPr>
          <a:xfrm>
            <a:off x="6320150" y="2148840"/>
            <a:ext cx="1444752" cy="539496"/>
          </a:xfrm>
          <a:prstGeom prst="rect">
            <a:avLst/>
          </a:prstGeom>
          <a:noFill/>
          <a:ln/>
        </p:spPr>
        <p:txBody>
          <a:bodyPr wrap="square" lIns="0" tIns="0" rIns="0" bIns="0" rtlCol="0" anchor="t"/>
          <a:lstStyle/>
          <a:p>
            <a:pPr indent="0" marL="0">
              <a:buNone/>
            </a:pPr>
            <a:r>
              <a:rPr lang="en-US" sz="1050" dirty="0">
                <a:solidFill>
                  <a:schemeClr val="tx2"/>
                </a:solidFill>
              </a:rPr>
              <a:t>The other party is invited to reply</a:t>
            </a:r>
            <a:endParaRPr lang="en-US" sz="1050" dirty="0"/>
          </a:p>
        </p:txBody>
      </p:sp>
      <p:sp>
        <p:nvSpPr>
          <p:cNvPr id="16" name="state-166"/>
          <p:cNvSpPr/>
          <p:nvPr/>
        </p:nvSpPr>
        <p:spPr>
          <a:xfrm>
            <a:off x="8122067" y="1783080"/>
            <a:ext cx="1627632" cy="960120"/>
          </a:xfrm>
          <a:prstGeom prst="roundRect">
            <a:avLst>
              <a:gd name="adj" fmla="val 7619"/>
            </a:avLst>
          </a:prstGeom>
          <a:solidFill>
            <a:schemeClr val="bg1"/>
          </a:solidFill>
          <a:ln w="15875">
            <a:solidFill>
              <a:schemeClr val="tx1"/>
            </a:solidFill>
            <a:prstDash val="solid"/>
          </a:ln>
        </p:spPr>
      </p:sp>
      <p:sp>
        <p:nvSpPr>
          <p:cNvPr id="17" name="state-name-167"/>
          <p:cNvSpPr txBox="1"/>
          <p:nvPr/>
        </p:nvSpPr>
        <p:spPr>
          <a:xfrm>
            <a:off x="8213507" y="185623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adjudicating</a:t>
            </a:r>
            <a:endParaRPr lang="en-US" sz="1050" dirty="0"/>
          </a:p>
        </p:txBody>
      </p:sp>
      <p:sp>
        <p:nvSpPr>
          <p:cNvPr id="18" name="state-sub-168"/>
          <p:cNvSpPr txBox="1"/>
          <p:nvPr/>
        </p:nvSpPr>
        <p:spPr>
          <a:xfrm>
            <a:off x="8213507" y="2148840"/>
            <a:ext cx="1444752" cy="539496"/>
          </a:xfrm>
          <a:prstGeom prst="rect">
            <a:avLst/>
          </a:prstGeom>
          <a:noFill/>
          <a:ln/>
        </p:spPr>
        <p:txBody>
          <a:bodyPr wrap="square" lIns="0" tIns="0" rIns="0" bIns="0" rtlCol="0" anchor="t"/>
          <a:lstStyle/>
          <a:p>
            <a:pPr indent="0" marL="0">
              <a:buNone/>
            </a:pPr>
            <a:r>
              <a:rPr lang="en-US" sz="1050" dirty="0">
                <a:solidFill>
                  <a:schemeClr val="tx2"/>
                </a:solidFill>
              </a:rPr>
              <a:t>Reply, or decide on the records: advocates, Judge</a:t>
            </a:r>
            <a:endParaRPr lang="en-US" sz="1050" dirty="0"/>
          </a:p>
        </p:txBody>
      </p:sp>
      <p:sp>
        <p:nvSpPr>
          <p:cNvPr id="19" name="state-169"/>
          <p:cNvSpPr/>
          <p:nvPr/>
        </p:nvSpPr>
        <p:spPr>
          <a:xfrm>
            <a:off x="10015423" y="1783080"/>
            <a:ext cx="1627632" cy="960120"/>
          </a:xfrm>
          <a:prstGeom prst="roundRect">
            <a:avLst>
              <a:gd name="adj" fmla="val 7619"/>
            </a:avLst>
          </a:prstGeom>
          <a:solidFill>
            <a:schemeClr val="accent3">
              <a:alpha val="14000"/>
            </a:schemeClr>
          </a:solidFill>
          <a:ln w="19050">
            <a:solidFill>
              <a:schemeClr val="accent3"/>
            </a:solidFill>
            <a:prstDash val="solid"/>
          </a:ln>
        </p:spPr>
      </p:sp>
      <p:sp>
        <p:nvSpPr>
          <p:cNvPr id="20" name="state-name-170"/>
          <p:cNvSpPr txBox="1"/>
          <p:nvPr/>
        </p:nvSpPr>
        <p:spPr>
          <a:xfrm>
            <a:off x="10106863" y="185623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decided</a:t>
            </a:r>
            <a:endParaRPr lang="en-US" sz="1050" dirty="0"/>
          </a:p>
        </p:txBody>
      </p:sp>
      <p:sp>
        <p:nvSpPr>
          <p:cNvPr id="21" name="state-sub-171"/>
          <p:cNvSpPr txBox="1"/>
          <p:nvPr/>
        </p:nvSpPr>
        <p:spPr>
          <a:xfrm>
            <a:off x="10106863" y="2148840"/>
            <a:ext cx="1444752" cy="539496"/>
          </a:xfrm>
          <a:prstGeom prst="rect">
            <a:avLst/>
          </a:prstGeom>
          <a:noFill/>
          <a:ln/>
        </p:spPr>
        <p:txBody>
          <a:bodyPr wrap="square" lIns="0" tIns="0" rIns="0" bIns="0" rtlCol="0" anchor="t"/>
          <a:lstStyle/>
          <a:p>
            <a:pPr indent="0" marL="0">
              <a:buNone/>
            </a:pPr>
            <a:r>
              <a:rPr lang="en-US" sz="1050" dirty="0">
                <a:solidFill>
                  <a:schemeClr val="tx2"/>
                </a:solidFill>
              </a:rPr>
              <a:t>Final. Checks passed, or a reviewer decided</a:t>
            </a:r>
            <a:endParaRPr lang="en-US" sz="1050" dirty="0"/>
          </a:p>
        </p:txBody>
      </p:sp>
      <p:sp>
        <p:nvSpPr>
          <p:cNvPr id="22" name="arrow-172"/>
          <p:cNvSpPr/>
          <p:nvPr/>
        </p:nvSpPr>
        <p:spPr>
          <a:xfrm>
            <a:off x="2176272" y="2263140"/>
            <a:ext cx="265725" cy="0"/>
          </a:xfrm>
          <a:prstGeom prst="line">
            <a:avLst/>
          </a:prstGeom>
          <a:noFill/>
          <a:ln w="19050">
            <a:solidFill>
              <a:schemeClr val="tx2"/>
            </a:solidFill>
            <a:prstDash val="solid"/>
            <a:tailEnd type="triangle"/>
          </a:ln>
        </p:spPr>
      </p:sp>
      <p:sp>
        <p:nvSpPr>
          <p:cNvPr id="23" name="arrow-173"/>
          <p:cNvSpPr/>
          <p:nvPr/>
        </p:nvSpPr>
        <p:spPr>
          <a:xfrm>
            <a:off x="4069629" y="2263140"/>
            <a:ext cx="265725" cy="0"/>
          </a:xfrm>
          <a:prstGeom prst="line">
            <a:avLst/>
          </a:prstGeom>
          <a:noFill/>
          <a:ln w="19050">
            <a:solidFill>
              <a:schemeClr val="tx2"/>
            </a:solidFill>
            <a:prstDash val="solid"/>
            <a:tailEnd type="triangle"/>
          </a:ln>
        </p:spPr>
      </p:sp>
      <p:sp>
        <p:nvSpPr>
          <p:cNvPr id="24" name="arrow-174"/>
          <p:cNvSpPr/>
          <p:nvPr/>
        </p:nvSpPr>
        <p:spPr>
          <a:xfrm>
            <a:off x="5962985" y="2263140"/>
            <a:ext cx="265725" cy="0"/>
          </a:xfrm>
          <a:prstGeom prst="line">
            <a:avLst/>
          </a:prstGeom>
          <a:noFill/>
          <a:ln w="19050">
            <a:solidFill>
              <a:schemeClr val="tx2"/>
            </a:solidFill>
            <a:prstDash val="solid"/>
            <a:tailEnd type="triangle"/>
          </a:ln>
        </p:spPr>
      </p:sp>
      <p:sp>
        <p:nvSpPr>
          <p:cNvPr id="25" name="arrow-175"/>
          <p:cNvSpPr/>
          <p:nvPr/>
        </p:nvSpPr>
        <p:spPr>
          <a:xfrm>
            <a:off x="7856342" y="2263140"/>
            <a:ext cx="265725" cy="0"/>
          </a:xfrm>
          <a:prstGeom prst="line">
            <a:avLst/>
          </a:prstGeom>
          <a:noFill/>
          <a:ln w="19050">
            <a:solidFill>
              <a:schemeClr val="tx2"/>
            </a:solidFill>
            <a:prstDash val="solid"/>
            <a:tailEnd type="triangle"/>
          </a:ln>
        </p:spPr>
      </p:sp>
      <p:sp>
        <p:nvSpPr>
          <p:cNvPr id="26" name="arrow-176"/>
          <p:cNvSpPr/>
          <p:nvPr/>
        </p:nvSpPr>
        <p:spPr>
          <a:xfrm>
            <a:off x="9749699" y="2263140"/>
            <a:ext cx="265725" cy="0"/>
          </a:xfrm>
          <a:prstGeom prst="line">
            <a:avLst/>
          </a:prstGeom>
          <a:noFill/>
          <a:ln w="19050">
            <a:solidFill>
              <a:schemeClr val="tx2"/>
            </a:solidFill>
            <a:prstDash val="solid"/>
            <a:tailEnd type="triangle"/>
          </a:ln>
        </p:spPr>
      </p:sp>
      <p:sp>
        <p:nvSpPr>
          <p:cNvPr id="27" name="state-177"/>
          <p:cNvSpPr/>
          <p:nvPr/>
        </p:nvSpPr>
        <p:spPr>
          <a:xfrm>
            <a:off x="1801917" y="3429000"/>
            <a:ext cx="1627632" cy="914400"/>
          </a:xfrm>
          <a:prstGeom prst="roundRect">
            <a:avLst>
              <a:gd name="adj" fmla="val 8000"/>
            </a:avLst>
          </a:prstGeom>
          <a:solidFill>
            <a:schemeClr val="accent4">
              <a:alpha val="14000"/>
            </a:schemeClr>
          </a:solidFill>
          <a:ln w="19050">
            <a:solidFill>
              <a:schemeClr val="accent4"/>
            </a:solidFill>
            <a:prstDash val="solid"/>
          </a:ln>
        </p:spPr>
      </p:sp>
      <p:sp>
        <p:nvSpPr>
          <p:cNvPr id="28" name="state-name-178"/>
          <p:cNvSpPr txBox="1"/>
          <p:nvPr/>
        </p:nvSpPr>
        <p:spPr>
          <a:xfrm>
            <a:off x="1893357" y="350215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safety_bypassed</a:t>
            </a:r>
            <a:endParaRPr lang="en-US" sz="1050" dirty="0"/>
          </a:p>
        </p:txBody>
      </p:sp>
      <p:sp>
        <p:nvSpPr>
          <p:cNvPr id="29" name="state-sub-179"/>
          <p:cNvSpPr txBox="1"/>
          <p:nvPr/>
        </p:nvSpPr>
        <p:spPr>
          <a:xfrm>
            <a:off x="1893357" y="3794760"/>
            <a:ext cx="1444752" cy="493776"/>
          </a:xfrm>
          <a:prstGeom prst="rect">
            <a:avLst/>
          </a:prstGeom>
          <a:noFill/>
          <a:ln/>
        </p:spPr>
        <p:txBody>
          <a:bodyPr wrap="square" lIns="0" tIns="0" rIns="0" bIns="0" rtlCol="0" anchor="t"/>
          <a:lstStyle/>
          <a:p>
            <a:pPr indent="0" marL="0">
              <a:buNone/>
            </a:pPr>
            <a:r>
              <a:rPr lang="en-US" sz="1050" dirty="0">
                <a:solidFill>
                  <a:schemeClr val="tx2"/>
                </a:solidFill>
              </a:rPr>
              <a:t>Safety flag: no agent hears it</a:t>
            </a:r>
            <a:endParaRPr lang="en-US" sz="1050" dirty="0"/>
          </a:p>
        </p:txBody>
      </p:sp>
      <p:sp>
        <p:nvSpPr>
          <p:cNvPr id="30" name="state-180"/>
          <p:cNvSpPr/>
          <p:nvPr/>
        </p:nvSpPr>
        <p:spPr>
          <a:xfrm>
            <a:off x="4335353" y="3429000"/>
            <a:ext cx="2651760" cy="914400"/>
          </a:xfrm>
          <a:prstGeom prst="roundRect">
            <a:avLst>
              <a:gd name="adj" fmla="val 8000"/>
            </a:avLst>
          </a:prstGeom>
          <a:solidFill>
            <a:schemeClr val="bg2"/>
          </a:solidFill>
          <a:ln w="15875">
            <a:solidFill>
              <a:schemeClr val="tx2"/>
            </a:solidFill>
            <a:prstDash val="dash"/>
          </a:ln>
        </p:spPr>
      </p:sp>
      <p:sp>
        <p:nvSpPr>
          <p:cNvPr id="31" name="state-name-181"/>
          <p:cNvSpPr txBox="1"/>
          <p:nvPr/>
        </p:nvSpPr>
        <p:spPr>
          <a:xfrm>
            <a:off x="4426793" y="3502152"/>
            <a:ext cx="2468880"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declined_insufficient_evidence</a:t>
            </a:r>
            <a:endParaRPr lang="en-US" sz="1050" dirty="0"/>
          </a:p>
        </p:txBody>
      </p:sp>
      <p:sp>
        <p:nvSpPr>
          <p:cNvPr id="32" name="state-sub-182"/>
          <p:cNvSpPr txBox="1"/>
          <p:nvPr/>
        </p:nvSpPr>
        <p:spPr>
          <a:xfrm>
            <a:off x="4426793" y="3794760"/>
            <a:ext cx="2468880" cy="493776"/>
          </a:xfrm>
          <a:prstGeom prst="rect">
            <a:avLst/>
          </a:prstGeom>
          <a:noFill/>
          <a:ln/>
        </p:spPr>
        <p:txBody>
          <a:bodyPr wrap="square" lIns="0" tIns="0" rIns="0" bIns="0" rtlCol="0" anchor="t"/>
          <a:lstStyle/>
          <a:p>
            <a:pPr indent="0" marL="0">
              <a:buNone/>
            </a:pPr>
            <a:r>
              <a:rPr lang="en-US" sz="1050" dirty="0">
                <a:solidFill>
                  <a:schemeClr val="tx2"/>
                </a:solidFill>
              </a:rPr>
              <a:t>A rule failed at triage, or no photo after assembly; can refile</a:t>
            </a:r>
            <a:endParaRPr lang="en-US" sz="1050" dirty="0"/>
          </a:p>
        </p:txBody>
      </p:sp>
      <p:sp>
        <p:nvSpPr>
          <p:cNvPr id="33" name="state-183"/>
          <p:cNvSpPr/>
          <p:nvPr/>
        </p:nvSpPr>
        <p:spPr>
          <a:xfrm>
            <a:off x="8122067" y="3429000"/>
            <a:ext cx="1627632" cy="914400"/>
          </a:xfrm>
          <a:prstGeom prst="roundRect">
            <a:avLst>
              <a:gd name="adj" fmla="val 8000"/>
            </a:avLst>
          </a:prstGeom>
          <a:solidFill>
            <a:schemeClr val="accent4">
              <a:alpha val="14000"/>
            </a:schemeClr>
          </a:solidFill>
          <a:ln w="19050">
            <a:solidFill>
              <a:schemeClr val="accent4"/>
            </a:solidFill>
            <a:prstDash val="solid"/>
          </a:ln>
        </p:spPr>
      </p:sp>
      <p:sp>
        <p:nvSpPr>
          <p:cNvPr id="34" name="state-name-184"/>
          <p:cNvSpPr txBox="1"/>
          <p:nvPr/>
        </p:nvSpPr>
        <p:spPr>
          <a:xfrm>
            <a:off x="8213507" y="3502152"/>
            <a:ext cx="1444752" cy="274320"/>
          </a:xfrm>
          <a:prstGeom prst="rect">
            <a:avLst/>
          </a:prstGeom>
          <a:noFill/>
          <a:ln/>
        </p:spPr>
        <p:txBody>
          <a:bodyPr wrap="square" lIns="0" tIns="0" rIns="0" bIns="0" rtlCol="0" anchor="ctr"/>
          <a:lstStyle/>
          <a:p>
            <a:pPr indent="0" marL="0">
              <a:buNone/>
            </a:pPr>
            <a:r>
              <a:rPr lang="en-US" sz="1050" b="1" dirty="0">
                <a:solidFill>
                  <a:schemeClr val="tx1"/>
                </a:solidFill>
                <a:latin typeface="Courier New" pitchFamily="34" charset="0"/>
                <a:ea typeface="Courier New" pitchFamily="34" charset="-122"/>
                <a:cs typeface="Courier New" pitchFamily="34" charset="-120"/>
              </a:rPr>
              <a:t>escalated</a:t>
            </a:r>
            <a:endParaRPr lang="en-US" sz="1050" dirty="0"/>
          </a:p>
        </p:txBody>
      </p:sp>
      <p:sp>
        <p:nvSpPr>
          <p:cNvPr id="35" name="state-sub-185"/>
          <p:cNvSpPr txBox="1"/>
          <p:nvPr/>
        </p:nvSpPr>
        <p:spPr>
          <a:xfrm>
            <a:off x="8213507" y="3794760"/>
            <a:ext cx="1444752" cy="493776"/>
          </a:xfrm>
          <a:prstGeom prst="rect">
            <a:avLst/>
          </a:prstGeom>
          <a:noFill/>
          <a:ln/>
        </p:spPr>
        <p:txBody>
          <a:bodyPr wrap="square" lIns="0" tIns="0" rIns="0" bIns="0" rtlCol="0" anchor="t"/>
          <a:lstStyle/>
          <a:p>
            <a:pPr indent="0" marL="0">
              <a:buNone/>
            </a:pPr>
            <a:r>
              <a:rPr lang="en-US" sz="1050" dirty="0">
                <a:solidFill>
                  <a:schemeClr val="tx2"/>
                </a:solidFill>
              </a:rPr>
              <a:t>Any final check flagged it</a:t>
            </a:r>
            <a:endParaRPr lang="en-US" sz="1050" dirty="0"/>
          </a:p>
        </p:txBody>
      </p:sp>
      <p:sp>
        <p:nvSpPr>
          <p:cNvPr id="36" name="arrow-186"/>
          <p:cNvSpPr/>
          <p:nvPr/>
        </p:nvSpPr>
        <p:spPr>
          <a:xfrm>
            <a:off x="2743749" y="2743200"/>
            <a:ext cx="0" cy="685800"/>
          </a:xfrm>
          <a:prstGeom prst="line">
            <a:avLst/>
          </a:prstGeom>
          <a:noFill/>
          <a:ln w="19050">
            <a:solidFill>
              <a:schemeClr val="accent5"/>
            </a:solidFill>
            <a:prstDash val="solid"/>
            <a:tailEnd type="triangle"/>
          </a:ln>
        </p:spPr>
      </p:sp>
      <p:sp>
        <p:nvSpPr>
          <p:cNvPr id="37" name="arrow-187"/>
          <p:cNvSpPr/>
          <p:nvPr/>
        </p:nvSpPr>
        <p:spPr>
          <a:xfrm>
            <a:off x="3841029" y="2743200"/>
            <a:ext cx="0" cy="978408"/>
          </a:xfrm>
          <a:prstGeom prst="line">
            <a:avLst/>
          </a:prstGeom>
          <a:noFill/>
          <a:ln w="19050">
            <a:solidFill>
              <a:schemeClr val="tx2"/>
            </a:solidFill>
            <a:prstDash val="solid"/>
            <a:tailEnd type="none"/>
          </a:ln>
        </p:spPr>
      </p:sp>
      <p:sp>
        <p:nvSpPr>
          <p:cNvPr id="38" name="arrow-188"/>
          <p:cNvSpPr/>
          <p:nvPr/>
        </p:nvSpPr>
        <p:spPr>
          <a:xfrm>
            <a:off x="3841029" y="3721608"/>
            <a:ext cx="494325" cy="0"/>
          </a:xfrm>
          <a:prstGeom prst="line">
            <a:avLst/>
          </a:prstGeom>
          <a:noFill/>
          <a:ln w="19050">
            <a:solidFill>
              <a:schemeClr val="tx2"/>
            </a:solidFill>
            <a:prstDash val="solid"/>
            <a:tailEnd type="triangle"/>
          </a:ln>
        </p:spPr>
      </p:sp>
      <p:sp>
        <p:nvSpPr>
          <p:cNvPr id="39" name="arrow-189"/>
          <p:cNvSpPr/>
          <p:nvPr/>
        </p:nvSpPr>
        <p:spPr>
          <a:xfrm>
            <a:off x="5149169" y="2743200"/>
            <a:ext cx="0" cy="685800"/>
          </a:xfrm>
          <a:prstGeom prst="line">
            <a:avLst/>
          </a:prstGeom>
          <a:noFill/>
          <a:ln w="19050">
            <a:solidFill>
              <a:schemeClr val="tx2"/>
            </a:solidFill>
            <a:prstDash val="solid"/>
            <a:tailEnd type="triangle"/>
          </a:ln>
        </p:spPr>
      </p:sp>
      <p:sp>
        <p:nvSpPr>
          <p:cNvPr id="40" name="arrow-190"/>
          <p:cNvSpPr/>
          <p:nvPr/>
        </p:nvSpPr>
        <p:spPr>
          <a:xfrm>
            <a:off x="8935883" y="2743200"/>
            <a:ext cx="0" cy="685800"/>
          </a:xfrm>
          <a:prstGeom prst="line">
            <a:avLst/>
          </a:prstGeom>
          <a:noFill/>
          <a:ln w="19050">
            <a:solidFill>
              <a:schemeClr val="accent4"/>
            </a:solidFill>
            <a:prstDash val="solid"/>
            <a:tailEnd type="triangle"/>
          </a:ln>
        </p:spPr>
      </p:sp>
      <p:sp>
        <p:nvSpPr>
          <p:cNvPr id="41" name="arrow-191"/>
          <p:cNvSpPr/>
          <p:nvPr/>
        </p:nvSpPr>
        <p:spPr>
          <a:xfrm>
            <a:off x="9749699" y="3886200"/>
            <a:ext cx="1079541" cy="0"/>
          </a:xfrm>
          <a:prstGeom prst="line">
            <a:avLst/>
          </a:prstGeom>
          <a:noFill/>
          <a:ln w="19050">
            <a:solidFill>
              <a:schemeClr val="accent4"/>
            </a:solidFill>
            <a:prstDash val="solid"/>
            <a:tailEnd type="none"/>
          </a:ln>
        </p:spPr>
      </p:sp>
      <p:sp>
        <p:nvSpPr>
          <p:cNvPr id="42" name="arrow-192"/>
          <p:cNvSpPr/>
          <p:nvPr/>
        </p:nvSpPr>
        <p:spPr>
          <a:xfrm flipV="1">
            <a:off x="10829239" y="2743200"/>
            <a:ext cx="0" cy="1143000"/>
          </a:xfrm>
          <a:prstGeom prst="line">
            <a:avLst/>
          </a:prstGeom>
          <a:noFill/>
          <a:ln w="19050">
            <a:solidFill>
              <a:schemeClr val="accent4"/>
            </a:solidFill>
            <a:prstDash val="solid"/>
            <a:tailEnd type="triangle"/>
          </a:ln>
        </p:spPr>
      </p:sp>
      <p:sp>
        <p:nvSpPr>
          <p:cNvPr id="43" name="arrow-193"/>
          <p:cNvSpPr/>
          <p:nvPr/>
        </p:nvSpPr>
        <p:spPr>
          <a:xfrm>
            <a:off x="2615733" y="4343400"/>
            <a:ext cx="0" cy="292608"/>
          </a:xfrm>
          <a:prstGeom prst="line">
            <a:avLst/>
          </a:prstGeom>
          <a:noFill/>
          <a:ln w="19050">
            <a:solidFill>
              <a:schemeClr val="accent4"/>
            </a:solidFill>
            <a:prstDash val="solid"/>
            <a:tailEnd type="none"/>
          </a:ln>
        </p:spPr>
      </p:sp>
      <p:sp>
        <p:nvSpPr>
          <p:cNvPr id="44" name="arrow-194"/>
          <p:cNvSpPr/>
          <p:nvPr/>
        </p:nvSpPr>
        <p:spPr>
          <a:xfrm>
            <a:off x="2615733" y="4636008"/>
            <a:ext cx="8442107" cy="0"/>
          </a:xfrm>
          <a:prstGeom prst="line">
            <a:avLst/>
          </a:prstGeom>
          <a:noFill/>
          <a:ln w="19050">
            <a:solidFill>
              <a:schemeClr val="accent4"/>
            </a:solidFill>
            <a:prstDash val="solid"/>
            <a:tailEnd type="none"/>
          </a:ln>
        </p:spPr>
      </p:sp>
      <p:sp>
        <p:nvSpPr>
          <p:cNvPr id="45" name="arrow-195"/>
          <p:cNvSpPr/>
          <p:nvPr/>
        </p:nvSpPr>
        <p:spPr>
          <a:xfrm flipV="1">
            <a:off x="11057839" y="2743200"/>
            <a:ext cx="0" cy="1892808"/>
          </a:xfrm>
          <a:prstGeom prst="line">
            <a:avLst/>
          </a:prstGeom>
          <a:noFill/>
          <a:ln w="19050">
            <a:solidFill>
              <a:schemeClr val="accent4"/>
            </a:solidFill>
            <a:prstDash val="solid"/>
            <a:tailEnd type="triangle"/>
          </a:ln>
        </p:spPr>
      </p:sp>
      <p:sp>
        <p:nvSpPr>
          <p:cNvPr id="46" name="l2-label"/>
          <p:cNvSpPr txBox="1"/>
          <p:nvPr/>
        </p:nvSpPr>
        <p:spPr>
          <a:xfrm>
            <a:off x="4563953" y="4672584"/>
            <a:ext cx="5120640" cy="274320"/>
          </a:xfrm>
          <a:prstGeom prst="rect">
            <a:avLst/>
          </a:prstGeom>
          <a:noFill/>
          <a:ln/>
        </p:spPr>
        <p:txBody>
          <a:bodyPr wrap="square" lIns="0" tIns="0" rIns="0" bIns="0" rtlCol="0" anchor="ctr"/>
          <a:lstStyle/>
          <a:p>
            <a:pPr indent="0" marL="0">
              <a:buNone/>
            </a:pPr>
            <a:r>
              <a:rPr lang="en-US" sz="1050" i="1" dirty="0">
                <a:solidFill>
                  <a:schemeClr val="accent4"/>
                </a:solidFill>
              </a:rPr>
              <a:t>A reviewer ratifies or overrides:  POST /l2/cases/{id}/ratify</a:t>
            </a:r>
            <a:endParaRPr lang="en-US" sz="1050" dirty="0"/>
          </a:p>
        </p:txBody>
      </p:sp>
      <p:sp>
        <p:nvSpPr>
          <p:cNvPr id="47" name="flow-title"/>
          <p:cNvSpPr txBox="1"/>
          <p:nvPr/>
        </p:nvSpPr>
        <p:spPr>
          <a:xfrm>
            <a:off x="548640" y="5486400"/>
            <a:ext cx="2194560" cy="457200"/>
          </a:xfrm>
          <a:prstGeom prst="rect">
            <a:avLst/>
          </a:prstGeom>
          <a:noFill/>
          <a:ln/>
        </p:spPr>
        <p:txBody>
          <a:bodyPr wrap="square" lIns="0" tIns="0" rIns="0" bIns="0" rtlCol="0" anchor="ctr"/>
          <a:lstStyle/>
          <a:p>
            <a:pPr indent="0" marL="0">
              <a:buNone/>
            </a:pPr>
            <a:r>
              <a:rPr lang="en-US" sz="1300" b="1" dirty="0">
                <a:solidFill>
                  <a:schemeClr val="tx1"/>
                </a:solidFill>
              </a:rPr>
              <a:t>Every transition, live</a:t>
            </a:r>
            <a:endParaRPr lang="en-US" sz="1300" dirty="0"/>
          </a:p>
        </p:txBody>
      </p:sp>
      <p:sp>
        <p:nvSpPr>
          <p:cNvPr id="48" name="flow-0"/>
          <p:cNvSpPr/>
          <p:nvPr/>
        </p:nvSpPr>
        <p:spPr>
          <a:xfrm>
            <a:off x="2743200" y="5486400"/>
            <a:ext cx="1501993" cy="457200"/>
          </a:xfrm>
          <a:prstGeom prst="roundRect">
            <a:avLst>
              <a:gd name="adj" fmla="val 12000"/>
            </a:avLst>
          </a:prstGeom>
          <a:solidFill>
            <a:schemeClr val="bg1"/>
          </a:solidFill>
          <a:ln w="9525">
            <a:solidFill>
              <a:schemeClr val="tx2"/>
            </a:solidFill>
            <a:prstDash val="solid"/>
          </a:ln>
        </p:spPr>
      </p:sp>
      <p:sp>
        <p:nvSpPr>
          <p:cNvPr id="49" name="flow-0-text"/>
          <p:cNvSpPr txBox="1"/>
          <p:nvPr/>
        </p:nvSpPr>
        <p:spPr>
          <a:xfrm>
            <a:off x="2743200" y="5486400"/>
            <a:ext cx="1501993" cy="45720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INSERT trace_events</a:t>
            </a:r>
            <a:endParaRPr lang="en-US" sz="1000" dirty="0"/>
          </a:p>
        </p:txBody>
      </p:sp>
      <p:sp>
        <p:nvSpPr>
          <p:cNvPr id="50" name="arrow-196"/>
          <p:cNvSpPr/>
          <p:nvPr/>
        </p:nvSpPr>
        <p:spPr>
          <a:xfrm>
            <a:off x="4245193" y="5715000"/>
            <a:ext cx="347472" cy="0"/>
          </a:xfrm>
          <a:prstGeom prst="line">
            <a:avLst/>
          </a:prstGeom>
          <a:noFill/>
          <a:ln w="19050">
            <a:solidFill>
              <a:schemeClr val="tx2"/>
            </a:solidFill>
            <a:prstDash val="solid"/>
            <a:tailEnd type="triangle"/>
          </a:ln>
        </p:spPr>
      </p:sp>
      <p:sp>
        <p:nvSpPr>
          <p:cNvPr id="51" name="flow-1"/>
          <p:cNvSpPr/>
          <p:nvPr/>
        </p:nvSpPr>
        <p:spPr>
          <a:xfrm>
            <a:off x="4592665" y="5486400"/>
            <a:ext cx="1501993" cy="457200"/>
          </a:xfrm>
          <a:prstGeom prst="roundRect">
            <a:avLst>
              <a:gd name="adj" fmla="val 12000"/>
            </a:avLst>
          </a:prstGeom>
          <a:solidFill>
            <a:schemeClr val="bg1"/>
          </a:solidFill>
          <a:ln w="9525">
            <a:solidFill>
              <a:schemeClr val="tx2"/>
            </a:solidFill>
            <a:prstDash val="solid"/>
          </a:ln>
        </p:spPr>
      </p:sp>
      <p:sp>
        <p:nvSpPr>
          <p:cNvPr id="52" name="flow-1-text"/>
          <p:cNvSpPr txBox="1"/>
          <p:nvPr/>
        </p:nvSpPr>
        <p:spPr>
          <a:xfrm>
            <a:off x="4592665" y="5486400"/>
            <a:ext cx="1501993" cy="45720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pg NOTIFY</a:t>
            </a:r>
            <a:endParaRPr lang="en-US" sz="1000" dirty="0"/>
          </a:p>
        </p:txBody>
      </p:sp>
      <p:sp>
        <p:nvSpPr>
          <p:cNvPr id="53" name="arrow-197"/>
          <p:cNvSpPr/>
          <p:nvPr/>
        </p:nvSpPr>
        <p:spPr>
          <a:xfrm>
            <a:off x="6094659" y="5715000"/>
            <a:ext cx="347472" cy="0"/>
          </a:xfrm>
          <a:prstGeom prst="line">
            <a:avLst/>
          </a:prstGeom>
          <a:noFill/>
          <a:ln w="19050">
            <a:solidFill>
              <a:schemeClr val="tx2"/>
            </a:solidFill>
            <a:prstDash val="solid"/>
            <a:tailEnd type="triangle"/>
          </a:ln>
        </p:spPr>
      </p:sp>
      <p:sp>
        <p:nvSpPr>
          <p:cNvPr id="54" name="flow-2"/>
          <p:cNvSpPr/>
          <p:nvPr/>
        </p:nvSpPr>
        <p:spPr>
          <a:xfrm>
            <a:off x="6442131" y="5486400"/>
            <a:ext cx="1501993" cy="457200"/>
          </a:xfrm>
          <a:prstGeom prst="roundRect">
            <a:avLst>
              <a:gd name="adj" fmla="val 12000"/>
            </a:avLst>
          </a:prstGeom>
          <a:solidFill>
            <a:schemeClr val="bg1"/>
          </a:solidFill>
          <a:ln w="9525">
            <a:solidFill>
              <a:schemeClr val="tx2"/>
            </a:solidFill>
            <a:prstDash val="solid"/>
          </a:ln>
        </p:spPr>
      </p:sp>
      <p:sp>
        <p:nvSpPr>
          <p:cNvPr id="55" name="flow-2-text"/>
          <p:cNvSpPr txBox="1"/>
          <p:nvPr/>
        </p:nvSpPr>
        <p:spPr>
          <a:xfrm>
            <a:off x="6442131" y="5486400"/>
            <a:ext cx="1501993" cy="45720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SSE /events/cases/{id}</a:t>
            </a:r>
            <a:endParaRPr lang="en-US" sz="1000" dirty="0"/>
          </a:p>
        </p:txBody>
      </p:sp>
      <p:sp>
        <p:nvSpPr>
          <p:cNvPr id="56" name="arrow-198"/>
          <p:cNvSpPr/>
          <p:nvPr/>
        </p:nvSpPr>
        <p:spPr>
          <a:xfrm>
            <a:off x="7944124" y="5715000"/>
            <a:ext cx="347472" cy="0"/>
          </a:xfrm>
          <a:prstGeom prst="line">
            <a:avLst/>
          </a:prstGeom>
          <a:noFill/>
          <a:ln w="19050">
            <a:solidFill>
              <a:schemeClr val="tx2"/>
            </a:solidFill>
            <a:prstDash val="solid"/>
            <a:tailEnd type="triangle"/>
          </a:ln>
        </p:spPr>
      </p:sp>
      <p:sp>
        <p:nvSpPr>
          <p:cNvPr id="57" name="flow-3"/>
          <p:cNvSpPr/>
          <p:nvPr/>
        </p:nvSpPr>
        <p:spPr>
          <a:xfrm>
            <a:off x="8291596" y="5486400"/>
            <a:ext cx="1501993" cy="457200"/>
          </a:xfrm>
          <a:prstGeom prst="roundRect">
            <a:avLst>
              <a:gd name="adj" fmla="val 12000"/>
            </a:avLst>
          </a:prstGeom>
          <a:solidFill>
            <a:schemeClr val="bg1"/>
          </a:solidFill>
          <a:ln w="9525">
            <a:solidFill>
              <a:schemeClr val="tx2"/>
            </a:solidFill>
            <a:prstDash val="solid"/>
          </a:ln>
        </p:spPr>
      </p:sp>
      <p:sp>
        <p:nvSpPr>
          <p:cNvPr id="58" name="flow-3-text"/>
          <p:cNvSpPr txBox="1"/>
          <p:nvPr/>
        </p:nvSpPr>
        <p:spPr>
          <a:xfrm>
            <a:off x="8291596" y="5486400"/>
            <a:ext cx="1501993" cy="45720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screens update</a:t>
            </a:r>
            <a:endParaRPr lang="en-US" sz="1000" dirty="0"/>
          </a:p>
        </p:txBody>
      </p:sp>
      <p:sp>
        <p:nvSpPr>
          <p:cNvPr id="59" name="arrow-199"/>
          <p:cNvSpPr/>
          <p:nvPr/>
        </p:nvSpPr>
        <p:spPr>
          <a:xfrm>
            <a:off x="9793590" y="5715000"/>
            <a:ext cx="347472" cy="0"/>
          </a:xfrm>
          <a:prstGeom prst="line">
            <a:avLst/>
          </a:prstGeom>
          <a:noFill/>
          <a:ln w="19050">
            <a:solidFill>
              <a:schemeClr val="tx2"/>
            </a:solidFill>
            <a:prstDash val="solid"/>
            <a:tailEnd type="triangle"/>
          </a:ln>
        </p:spPr>
      </p:sp>
      <p:sp>
        <p:nvSpPr>
          <p:cNvPr id="60" name="flow-4"/>
          <p:cNvSpPr/>
          <p:nvPr/>
        </p:nvSpPr>
        <p:spPr>
          <a:xfrm>
            <a:off x="10141062" y="5486400"/>
            <a:ext cx="1501993" cy="457200"/>
          </a:xfrm>
          <a:prstGeom prst="roundRect">
            <a:avLst>
              <a:gd name="adj" fmla="val 12000"/>
            </a:avLst>
          </a:prstGeom>
          <a:solidFill>
            <a:schemeClr val="bg1"/>
          </a:solidFill>
          <a:ln w="9525">
            <a:solidFill>
              <a:schemeClr val="tx2"/>
            </a:solidFill>
            <a:prstDash val="solid"/>
          </a:ln>
        </p:spPr>
      </p:sp>
      <p:sp>
        <p:nvSpPr>
          <p:cNvPr id="61" name="flow-4-text"/>
          <p:cNvSpPr txBox="1"/>
          <p:nvPr/>
        </p:nvSpPr>
        <p:spPr>
          <a:xfrm>
            <a:off x="10141062" y="5486400"/>
            <a:ext cx="1501993" cy="45720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Last-Event-ID resume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bg1"/>
                </a:solidFill>
              </a:rPr>
              <a:t>Measured, not claimed</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bg2"/>
                </a:solidFill>
              </a:rPr>
              <a:t>22 labelled cases filed through the full pipeline with real model calls, each checked down to the exact amount.</a:t>
            </a:r>
            <a:endParaRPr lang="en-US" sz="1500" dirty="0"/>
          </a:p>
        </p:txBody>
      </p:sp>
      <p:sp>
        <p:nvSpPr>
          <p:cNvPr id="4" name="stat-0"/>
          <p:cNvSpPr/>
          <p:nvPr/>
        </p:nvSpPr>
        <p:spPr>
          <a:xfrm>
            <a:off x="548640" y="1783080"/>
            <a:ext cx="3454298" cy="1920240"/>
          </a:xfrm>
          <a:prstGeom prst="roundRect">
            <a:avLst>
              <a:gd name="adj" fmla="val 5714"/>
            </a:avLst>
          </a:prstGeom>
          <a:solidFill>
            <a:schemeClr val="tx2"/>
          </a:solidFill>
          <a:ln/>
        </p:spPr>
      </p:sp>
      <p:sp>
        <p:nvSpPr>
          <p:cNvPr id="5" name="stat-0-value"/>
          <p:cNvSpPr txBox="1"/>
          <p:nvPr/>
        </p:nvSpPr>
        <p:spPr>
          <a:xfrm>
            <a:off x="822960" y="2011680"/>
            <a:ext cx="2905658" cy="777240"/>
          </a:xfrm>
          <a:prstGeom prst="rect">
            <a:avLst/>
          </a:prstGeom>
          <a:noFill/>
          <a:ln/>
        </p:spPr>
        <p:txBody>
          <a:bodyPr wrap="square" lIns="0" tIns="0" rIns="0" bIns="0" rtlCol="0" anchor="ctr"/>
          <a:lstStyle/>
          <a:p>
            <a:pPr indent="0" marL="0">
              <a:buNone/>
            </a:pPr>
            <a:r>
              <a:rPr lang="en-US" sz="4400" b="1" dirty="0">
                <a:solidFill>
                  <a:schemeClr val="bg1"/>
                </a:solidFill>
              </a:rPr>
              <a:t>22/22</a:t>
            </a:r>
            <a:endParaRPr lang="en-US" sz="4400" dirty="0"/>
          </a:p>
        </p:txBody>
      </p:sp>
      <p:sp>
        <p:nvSpPr>
          <p:cNvPr id="6" name="stat-0-label"/>
          <p:cNvSpPr txBox="1"/>
          <p:nvPr/>
        </p:nvSpPr>
        <p:spPr>
          <a:xfrm>
            <a:off x="822960" y="2880360"/>
            <a:ext cx="2905658" cy="685800"/>
          </a:xfrm>
          <a:prstGeom prst="rect">
            <a:avLst/>
          </a:prstGeom>
          <a:noFill/>
          <a:ln/>
        </p:spPr>
        <p:txBody>
          <a:bodyPr wrap="square" lIns="0" tIns="0" rIns="0" bIns="0" rtlCol="0" anchor="t"/>
          <a:lstStyle/>
          <a:p>
            <a:pPr indent="0" marL="0">
              <a:buNone/>
            </a:pPr>
            <a:r>
              <a:rPr lang="en-US" sz="1500" b="1" dirty="0">
                <a:solidFill>
                  <a:schemeClr val="bg1"/>
                </a:solidFill>
              </a:rPr>
              <a:t>verdicts match the label</a:t>
            </a:r>
            <a:endParaRPr lang="en-US" sz="1500" dirty="0"/>
          </a:p>
          <a:p>
            <a:pPr indent="0" marL="0">
              <a:buNone/>
            </a:pPr>
            <a:r>
              <a:rPr lang="en-US" sz="1200" dirty="0">
                <a:solidFill>
                  <a:schemeClr val="bg2"/>
                </a:solidFill>
              </a:rPr>
              <a:t>all four categories, exact amounts</a:t>
            </a:r>
            <a:endParaRPr lang="en-US" sz="1500" dirty="0"/>
          </a:p>
        </p:txBody>
      </p:sp>
      <p:sp>
        <p:nvSpPr>
          <p:cNvPr id="7" name="stat-1"/>
          <p:cNvSpPr/>
          <p:nvPr/>
        </p:nvSpPr>
        <p:spPr>
          <a:xfrm>
            <a:off x="4368698" y="1783080"/>
            <a:ext cx="3454298" cy="1920240"/>
          </a:xfrm>
          <a:prstGeom prst="roundRect">
            <a:avLst>
              <a:gd name="adj" fmla="val 5714"/>
            </a:avLst>
          </a:prstGeom>
          <a:solidFill>
            <a:schemeClr val="tx2"/>
          </a:solidFill>
          <a:ln/>
        </p:spPr>
      </p:sp>
      <p:sp>
        <p:nvSpPr>
          <p:cNvPr id="8" name="stat-1-value"/>
          <p:cNvSpPr txBox="1"/>
          <p:nvPr/>
        </p:nvSpPr>
        <p:spPr>
          <a:xfrm>
            <a:off x="4643018" y="2011680"/>
            <a:ext cx="2905658" cy="777240"/>
          </a:xfrm>
          <a:prstGeom prst="rect">
            <a:avLst/>
          </a:prstGeom>
          <a:noFill/>
          <a:ln/>
        </p:spPr>
        <p:txBody>
          <a:bodyPr wrap="square" lIns="0" tIns="0" rIns="0" bIns="0" rtlCol="0" anchor="ctr"/>
          <a:lstStyle/>
          <a:p>
            <a:pPr indent="0" marL="0">
              <a:buNone/>
            </a:pPr>
            <a:r>
              <a:rPr lang="en-US" sz="4400" b="1" dirty="0">
                <a:solidFill>
                  <a:schemeClr val="bg1"/>
                </a:solidFill>
              </a:rPr>
              <a:t>12 of 22</a:t>
            </a:r>
            <a:endParaRPr lang="en-US" sz="4400" dirty="0"/>
          </a:p>
        </p:txBody>
      </p:sp>
      <p:sp>
        <p:nvSpPr>
          <p:cNvPr id="9" name="stat-1-label"/>
          <p:cNvSpPr txBox="1"/>
          <p:nvPr/>
        </p:nvSpPr>
        <p:spPr>
          <a:xfrm>
            <a:off x="4643018" y="2880360"/>
            <a:ext cx="2905658" cy="685800"/>
          </a:xfrm>
          <a:prstGeom prst="rect">
            <a:avLst/>
          </a:prstGeom>
          <a:noFill/>
          <a:ln/>
        </p:spPr>
        <p:txBody>
          <a:bodyPr wrap="square" lIns="0" tIns="0" rIns="0" bIns="0" rtlCol="0" anchor="t"/>
          <a:lstStyle/>
          <a:p>
            <a:pPr indent="0" marL="0">
              <a:buNone/>
            </a:pPr>
            <a:r>
              <a:rPr lang="en-US" sz="1500" b="1" dirty="0">
                <a:solidFill>
                  <a:schemeClr val="bg1"/>
                </a:solidFill>
              </a:rPr>
              <a:t>decided with no person</a:t>
            </a:r>
            <a:endParaRPr lang="en-US" sz="1500" dirty="0"/>
          </a:p>
          <a:p>
            <a:pPr indent="0" marL="0">
              <a:buNone/>
            </a:pPr>
            <a:r>
              <a:rPr lang="en-US" sz="1200" dirty="0">
                <a:solidFill>
                  <a:schemeClr val="bg2"/>
                </a:solidFill>
              </a:rPr>
              <a:t>the rest went to a reviewer, as required</a:t>
            </a:r>
            <a:endParaRPr lang="en-US" sz="1500" dirty="0"/>
          </a:p>
        </p:txBody>
      </p:sp>
      <p:sp>
        <p:nvSpPr>
          <p:cNvPr id="10" name="stat-2"/>
          <p:cNvSpPr/>
          <p:nvPr/>
        </p:nvSpPr>
        <p:spPr>
          <a:xfrm>
            <a:off x="8188757" y="1783080"/>
            <a:ext cx="3454298" cy="1920240"/>
          </a:xfrm>
          <a:prstGeom prst="roundRect">
            <a:avLst>
              <a:gd name="adj" fmla="val 5714"/>
            </a:avLst>
          </a:prstGeom>
          <a:solidFill>
            <a:schemeClr val="tx2"/>
          </a:solidFill>
          <a:ln/>
        </p:spPr>
      </p:sp>
      <p:sp>
        <p:nvSpPr>
          <p:cNvPr id="11" name="stat-2-value"/>
          <p:cNvSpPr txBox="1"/>
          <p:nvPr/>
        </p:nvSpPr>
        <p:spPr>
          <a:xfrm>
            <a:off x="8463077" y="2011680"/>
            <a:ext cx="2905658" cy="777240"/>
          </a:xfrm>
          <a:prstGeom prst="rect">
            <a:avLst/>
          </a:prstGeom>
          <a:noFill/>
          <a:ln/>
        </p:spPr>
        <p:txBody>
          <a:bodyPr wrap="square" lIns="0" tIns="0" rIns="0" bIns="0" rtlCol="0" anchor="ctr"/>
          <a:lstStyle/>
          <a:p>
            <a:pPr indent="0" marL="0">
              <a:buNone/>
            </a:pPr>
            <a:r>
              <a:rPr lang="en-US" sz="4400" b="1" dirty="0">
                <a:solidFill>
                  <a:schemeClr val="bg1"/>
                </a:solidFill>
              </a:rPr>
              <a:t>100%</a:t>
            </a:r>
            <a:endParaRPr lang="en-US" sz="4400" dirty="0"/>
          </a:p>
        </p:txBody>
      </p:sp>
      <p:sp>
        <p:nvSpPr>
          <p:cNvPr id="12" name="stat-2-label"/>
          <p:cNvSpPr txBox="1"/>
          <p:nvPr/>
        </p:nvSpPr>
        <p:spPr>
          <a:xfrm>
            <a:off x="8463077" y="2880360"/>
            <a:ext cx="2905658" cy="685800"/>
          </a:xfrm>
          <a:prstGeom prst="rect">
            <a:avLst/>
          </a:prstGeom>
          <a:noFill/>
          <a:ln/>
        </p:spPr>
        <p:txBody>
          <a:bodyPr wrap="square" lIns="0" tIns="0" rIns="0" bIns="0" rtlCol="0" anchor="t"/>
          <a:lstStyle/>
          <a:p>
            <a:pPr indent="0" marL="0">
              <a:buNone/>
            </a:pPr>
            <a:r>
              <a:rPr lang="en-US" sz="1500" b="1" dirty="0">
                <a:solidFill>
                  <a:schemeClr val="bg1"/>
                </a:solidFill>
              </a:rPr>
              <a:t>of safety reports to a person</a:t>
            </a:r>
            <a:endParaRPr lang="en-US" sz="1500" dirty="0"/>
          </a:p>
          <a:p>
            <a:pPr indent="0" marL="0">
              <a:buNone/>
            </a:pPr>
            <a:r>
              <a:rPr lang="en-US" sz="1200" dirty="0">
                <a:solidFill>
                  <a:schemeClr val="bg2"/>
                </a:solidFill>
              </a:rPr>
              <a:t>no AI ever decides one</a:t>
            </a:r>
            <a:endParaRPr lang="en-US" sz="1500" dirty="0"/>
          </a:p>
        </p:txBody>
      </p:sp>
      <p:sp>
        <p:nvSpPr>
          <p:cNvPr id="13" name="stat-3"/>
          <p:cNvSpPr/>
          <p:nvPr/>
        </p:nvSpPr>
        <p:spPr>
          <a:xfrm>
            <a:off x="548640" y="4023360"/>
            <a:ext cx="3454298" cy="1920240"/>
          </a:xfrm>
          <a:prstGeom prst="roundRect">
            <a:avLst>
              <a:gd name="adj" fmla="val 5714"/>
            </a:avLst>
          </a:prstGeom>
          <a:solidFill>
            <a:schemeClr val="tx2"/>
          </a:solidFill>
          <a:ln/>
        </p:spPr>
      </p:sp>
      <p:sp>
        <p:nvSpPr>
          <p:cNvPr id="14" name="stat-3-value"/>
          <p:cNvSpPr txBox="1"/>
          <p:nvPr/>
        </p:nvSpPr>
        <p:spPr>
          <a:xfrm>
            <a:off x="822960" y="4251960"/>
            <a:ext cx="2905658" cy="777240"/>
          </a:xfrm>
          <a:prstGeom prst="rect">
            <a:avLst/>
          </a:prstGeom>
          <a:noFill/>
          <a:ln/>
        </p:spPr>
        <p:txBody>
          <a:bodyPr wrap="square" lIns="0" tIns="0" rIns="0" bIns="0" rtlCol="0" anchor="ctr"/>
          <a:lstStyle/>
          <a:p>
            <a:pPr indent="0" marL="0">
              <a:buNone/>
            </a:pPr>
            <a:r>
              <a:rPr lang="en-US" sz="4400" b="1" dirty="0">
                <a:solidFill>
                  <a:schemeClr val="bg1"/>
                </a:solidFill>
              </a:rPr>
              <a:t>$0.012</a:t>
            </a:r>
            <a:endParaRPr lang="en-US" sz="4400" dirty="0"/>
          </a:p>
        </p:txBody>
      </p:sp>
      <p:sp>
        <p:nvSpPr>
          <p:cNvPr id="15" name="stat-3-label"/>
          <p:cNvSpPr txBox="1"/>
          <p:nvPr/>
        </p:nvSpPr>
        <p:spPr>
          <a:xfrm>
            <a:off x="822960" y="5120640"/>
            <a:ext cx="2905658" cy="685800"/>
          </a:xfrm>
          <a:prstGeom prst="rect">
            <a:avLst/>
          </a:prstGeom>
          <a:noFill/>
          <a:ln/>
        </p:spPr>
        <p:txBody>
          <a:bodyPr wrap="square" lIns="0" tIns="0" rIns="0" bIns="0" rtlCol="0" anchor="t"/>
          <a:lstStyle/>
          <a:p>
            <a:pPr indent="0" marL="0">
              <a:buNone/>
            </a:pPr>
            <a:r>
              <a:rPr lang="en-US" sz="1500" b="1" dirty="0">
                <a:solidFill>
                  <a:schemeClr val="bg1"/>
                </a:solidFill>
              </a:rPr>
              <a:t>model cost per argued case</a:t>
            </a:r>
            <a:endParaRPr lang="en-US" sz="1500" dirty="0"/>
          </a:p>
          <a:p>
            <a:pPr indent="0" marL="0">
              <a:buNone/>
            </a:pPr>
            <a:r>
              <a:rPr lang="en-US" sz="1200" dirty="0">
                <a:solidFill>
                  <a:schemeClr val="bg2"/>
                </a:solidFill>
              </a:rPr>
              <a:t>~124K input, 2.3K output tokens</a:t>
            </a:r>
            <a:endParaRPr lang="en-US" sz="1500" dirty="0"/>
          </a:p>
        </p:txBody>
      </p:sp>
      <p:sp>
        <p:nvSpPr>
          <p:cNvPr id="16" name="stat-4"/>
          <p:cNvSpPr/>
          <p:nvPr/>
        </p:nvSpPr>
        <p:spPr>
          <a:xfrm>
            <a:off x="4368698" y="4023360"/>
            <a:ext cx="3454298" cy="1920240"/>
          </a:xfrm>
          <a:prstGeom prst="roundRect">
            <a:avLst>
              <a:gd name="adj" fmla="val 5714"/>
            </a:avLst>
          </a:prstGeom>
          <a:solidFill>
            <a:schemeClr val="tx2"/>
          </a:solidFill>
          <a:ln/>
        </p:spPr>
      </p:sp>
      <p:sp>
        <p:nvSpPr>
          <p:cNvPr id="17" name="stat-4-value"/>
          <p:cNvSpPr txBox="1"/>
          <p:nvPr/>
        </p:nvSpPr>
        <p:spPr>
          <a:xfrm>
            <a:off x="4643018" y="4251960"/>
            <a:ext cx="2905658" cy="777240"/>
          </a:xfrm>
          <a:prstGeom prst="rect">
            <a:avLst/>
          </a:prstGeom>
          <a:noFill/>
          <a:ln/>
        </p:spPr>
        <p:txBody>
          <a:bodyPr wrap="square" lIns="0" tIns="0" rIns="0" bIns="0" rtlCol="0" anchor="ctr"/>
          <a:lstStyle/>
          <a:p>
            <a:pPr indent="0" marL="0">
              <a:buNone/>
            </a:pPr>
            <a:r>
              <a:rPr lang="en-US" sz="4400" b="1" dirty="0">
                <a:solidFill>
                  <a:schemeClr val="bg1"/>
                </a:solidFill>
              </a:rPr>
              <a:t>~2.7 min</a:t>
            </a:r>
            <a:endParaRPr lang="en-US" sz="4400" dirty="0"/>
          </a:p>
        </p:txBody>
      </p:sp>
      <p:sp>
        <p:nvSpPr>
          <p:cNvPr id="18" name="stat-4-label"/>
          <p:cNvSpPr txBox="1"/>
          <p:nvPr/>
        </p:nvSpPr>
        <p:spPr>
          <a:xfrm>
            <a:off x="4643018" y="5120640"/>
            <a:ext cx="2905658" cy="685800"/>
          </a:xfrm>
          <a:prstGeom prst="rect">
            <a:avLst/>
          </a:prstGeom>
          <a:noFill/>
          <a:ln/>
        </p:spPr>
        <p:txBody>
          <a:bodyPr wrap="square" lIns="0" tIns="0" rIns="0" bIns="0" rtlCol="0" anchor="t"/>
          <a:lstStyle/>
          <a:p>
            <a:pPr indent="0" marL="0">
              <a:buNone/>
            </a:pPr>
            <a:r>
              <a:rPr lang="en-US" sz="1500" b="1" dirty="0">
                <a:solidFill>
                  <a:schemeClr val="bg1"/>
                </a:solidFill>
              </a:rPr>
              <a:t>report to outcome</a:t>
            </a:r>
            <a:endParaRPr lang="en-US" sz="1500" dirty="0"/>
          </a:p>
          <a:p>
            <a:pPr indent="0" marL="0">
              <a:buNone/>
            </a:pPr>
            <a:r>
              <a:rPr lang="en-US" sz="1200" dirty="0">
                <a:solidFill>
                  <a:schemeClr val="bg2"/>
                </a:solidFill>
              </a:rPr>
              <a:t>median per case</a:t>
            </a:r>
            <a:endParaRPr lang="en-US" sz="1500" dirty="0"/>
          </a:p>
        </p:txBody>
      </p:sp>
      <p:sp>
        <p:nvSpPr>
          <p:cNvPr id="19" name="stat-5"/>
          <p:cNvSpPr/>
          <p:nvPr/>
        </p:nvSpPr>
        <p:spPr>
          <a:xfrm>
            <a:off x="8188757" y="4023360"/>
            <a:ext cx="3454298" cy="1920240"/>
          </a:xfrm>
          <a:prstGeom prst="roundRect">
            <a:avLst>
              <a:gd name="adj" fmla="val 5714"/>
            </a:avLst>
          </a:prstGeom>
          <a:solidFill>
            <a:schemeClr val="tx2"/>
          </a:solidFill>
          <a:ln/>
        </p:spPr>
      </p:sp>
      <p:sp>
        <p:nvSpPr>
          <p:cNvPr id="20" name="stat-5-value"/>
          <p:cNvSpPr txBox="1"/>
          <p:nvPr/>
        </p:nvSpPr>
        <p:spPr>
          <a:xfrm>
            <a:off x="8463077" y="4251960"/>
            <a:ext cx="2905658" cy="777240"/>
          </a:xfrm>
          <a:prstGeom prst="rect">
            <a:avLst/>
          </a:prstGeom>
          <a:noFill/>
          <a:ln/>
        </p:spPr>
        <p:txBody>
          <a:bodyPr wrap="square" lIns="0" tIns="0" rIns="0" bIns="0" rtlCol="0" anchor="ctr"/>
          <a:lstStyle/>
          <a:p>
            <a:pPr indent="0" marL="0">
              <a:buNone/>
            </a:pPr>
            <a:r>
              <a:rPr lang="en-US" sz="4400" b="1" dirty="0">
                <a:solidFill>
                  <a:schemeClr val="bg1"/>
                </a:solidFill>
              </a:rPr>
              <a:t>216</a:t>
            </a:r>
            <a:endParaRPr lang="en-US" sz="4400" dirty="0"/>
          </a:p>
        </p:txBody>
      </p:sp>
      <p:sp>
        <p:nvSpPr>
          <p:cNvPr id="21" name="stat-5-label"/>
          <p:cNvSpPr txBox="1"/>
          <p:nvPr/>
        </p:nvSpPr>
        <p:spPr>
          <a:xfrm>
            <a:off x="8463077" y="5120640"/>
            <a:ext cx="2905658" cy="685800"/>
          </a:xfrm>
          <a:prstGeom prst="rect">
            <a:avLst/>
          </a:prstGeom>
          <a:noFill/>
          <a:ln/>
        </p:spPr>
        <p:txBody>
          <a:bodyPr wrap="square" lIns="0" tIns="0" rIns="0" bIns="0" rtlCol="0" anchor="t"/>
          <a:lstStyle/>
          <a:p>
            <a:pPr indent="0" marL="0">
              <a:buNone/>
            </a:pPr>
            <a:r>
              <a:rPr lang="en-US" sz="1500" b="1" dirty="0">
                <a:solidFill>
                  <a:schemeClr val="bg1"/>
                </a:solidFill>
              </a:rPr>
              <a:t>automated tests</a:t>
            </a:r>
            <a:endParaRPr lang="en-US" sz="1500" dirty="0"/>
          </a:p>
          <a:p>
            <a:pPr indent="0" marL="0">
              <a:buNone/>
            </a:pPr>
            <a:r>
              <a:rPr lang="en-US" sz="1200" dirty="0">
                <a:solidFill>
                  <a:schemeClr val="bg2"/>
                </a:solidFill>
              </a:rPr>
              <a:t>plus a live smoke test and the golden run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RydeResolve">
  <a:themeElements>
    <a:clrScheme name="RydeResolve">
      <a:dk1>
        <a:srgbClr val="1D1D1F"/>
      </a:dk1>
      <a:lt1>
        <a:srgbClr val="FFFFFF"/>
      </a:lt1>
      <a:dk2>
        <a:srgbClr val="424245"/>
      </a:dk2>
      <a:lt2>
        <a:srgbClr val="F5F5F7"/>
      </a:lt2>
      <a:accent1>
        <a:srgbClr val="6E4FD8"/>
      </a:accent1>
      <a:accent2>
        <a:srgbClr val="087A8C"/>
      </a:accent2>
      <a:accent3>
        <a:srgbClr val="1D7F3A"/>
      </a:accent3>
      <a:accent4>
        <a:srgbClr val="A85400"/>
      </a:accent4>
      <a:accent5>
        <a:srgbClr val="C8102E"/>
      </a:accent5>
      <a:accent6>
        <a:srgbClr val="0066CC"/>
      </a:accent6>
      <a:hlink>
        <a:srgbClr val="0066CC"/>
      </a:hlink>
      <a:folHlink>
        <a:srgbClr val="6E4FD8"/>
      </a:folHlink>
    </a:clrScheme>
    <a:fontScheme name="RydeResol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RydeResolve architecture</dc:title>
  <dc:subject>How a ride dispute is heard: agents, plain-code checks, people, platform</dc:subject>
  <dc:creator>RydeResolve team</dc:creator>
  <cp:lastModifiedBy>RydeResolve team</cp:lastModifiedBy>
  <cp:revision>1</cp:revision>
  <dcterms:created xsi:type="dcterms:W3CDTF">2026-10-15T06:18:23Z</dcterms:created>
  <dcterms:modified xsi:type="dcterms:W3CDTF">2026-10-15T06:18:23Z</dcterms:modified>
</cp:coreProperties>
</file>