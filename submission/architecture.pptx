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2f2d2624-4026-ff4f-a6bf-0c33c608a9be}">
          <p14:sldIdLst>
            <p14:sldId id="256"/>
          </p14:sldIdLst>
        </p14:section>
        <p14:section name="The hearing" id="{217fdc10-10d1-971f-07ce-6d535297a380}">
          <p14:sldIdLst>
            <p14:sldId id="257"/>
            <p14:sldId id="258"/>
            <p14:sldId id="259"/>
          </p14:sldIdLst>
        </p14:section>
        <p14:section name="Safeguards" id="{30008fee-20dd-5c34-e1f2-bfa6954d9d94}">
          <p14:sldIdLst>
            <p14:sldId id="260"/>
            <p14:sldId id="261"/>
          </p14:sldIdLst>
        </p14:section>
        <p14:section name="Platform" id="{5ec2374d-b1c0-f032-094d-780f80217a36}">
          <p14:sldIdLst>
            <p14:sldId id="262"/>
            <p14:sldId id="263"/>
          </p14:sldIdLst>
        </p14:section>
        <p14:section name="Results" id="{f2ae5677-ded4-621e-44c0-f0b9992dec80}">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RydeResolve resolves rider and driver disputes on a ride-hailing platform: route deviation, no-show charges and cleaning fees. Safety reports always go to a person. The deck shows the hearing, how a case flows, what each agent may see, how evidence is enforced, when a person decides, the platform, and the measured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in one picture. Each side gets its own AI advocate, and both argue from the identical case file, citing evidence by ID: here the rider's advocate cites the route comparison and the driver's advocate the driver's own chat message. The AI judge rules from the case file and both arguments, never from the original complaint. The example is a real case: the driven route was 41% longer than the fastest one, no road closure was on record, and the claim was upheld with a $3.68 refund. A human judge, the L2 support team, steps in for safety reports and for any ruling the plain-code checks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intake. An agent triages the report, then six plain-code rules run: a safety flag hands the case to a person, and missing evidence declines it (the claimant can refile). Evidence Collection, the only agent allowed to read raw records, builds one case file; cleaning-fee photos get a vision check whose finding code maps to the fee tier. Bottom row is the hearing: two advocates argue in parallel from the identical case file, the Judge rules, and plain-code checks plus a compliance veto decide whether the ruling stands or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Evidence Collection touches the database. Both advocates see the shared case file plus both parties' words, and can only look up items in that case file. The Judge sees the case file and both arguments but never the complaint text, so the tone of a complaint cannot sway it. The vision model only describes a photo; code applies the fee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Collection turns raw records into one case file in which every item has an ID. Advocates and the Judge must cite those IDs for every factual claim; a validator in code strikes any claim whose citation does not exist and flags the case. On screen, every citation opens the exact evidence. The facts a ruling turns on, and every amount, are computed in code so a model can never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is plain code and runs on every case regardless of the Judge. A safety report never reaches an agent. Low confidence, a risk bucket (repeat filers, fees of $120 or more) or a compliance veto each independently sends the case to a person; the Judge can also ask, but its request never replaces the checks. The reviewer sees the evidence before the AI recommendation and records a reason for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Riders and drivers, the L2 support team, and judges or operators all use one static React app on Vercel. It sends actions to the FastAPI backend on Render over REST and JSON, and receives every live update over server-sent events, which resume from the last event id after a dropped connection. Inside the backend, the orchestrator is a plain-code state machine: it runs intake, the hearing and the final checks, calls the five pydantic-ai agents and the rules that use no AI, and writes every step to the trace table, whose Postgres NOTIFY wakes the stream. Neon holds Postgres with pgvector and the evidence photos in S3-compatible object storage; only the Evidence Collection agent reads raw records. The models run on DeepInfra, Qwen3-235B for the agents and Gemma 4 for photos, with Gemini as the photo fallback. Logfire traces every agent run, and OneMap provides real Singapore road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are pydantic-ai agents, and the orchestrator, a plain-code state machine, calls them one at a time; no agent can call another. Triage has no tools and returns a TriageResult; a safety flag stops the case. Evidence Collection is the only agent with database access, through db_query, and code assembles its CaseFile so every item carries a citable ID. The two advocates run in parallel on the same case file, can look up only items in it, ask for an image analysis, and search the policy; each returns an Argument whose citations are checked in code. The Judge can search policy, look up the risk bucket and ask for a person, and returns a JudgeVerdict; code checks its citations and fills in every fixed amount. Every agent shares a model chain on DeepInfra with a fallback model, retries on rate limits, a Logfire trace span and per-call token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latest golden run with Qwen3-235B on DeepInfra: all 22 labelled cases matched their labels down to the exact amount; the fallback model, Qwen3.6-27B, also scored 22 of 22. Thirteen cases were decided with no person, and the other nine went to a person because the checks required it: safety reports, fees of $120 or more, and repeat filers. Model cost was about 1.2 US cents per fully argued case, and the median time from report to outcome was 202 seconds. The project also has 216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960120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7472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bg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tx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4.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4.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4.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slideLayout" Target="../slideLayouts/slideLayout4.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icon" descr="preencoded.png">    </p:cNvPr>
          <p:cNvPicPr>
            <a:picLocks noChangeAspect="1"/>
          </p:cNvPicPr>
          <p:nvPr/>
        </p:nvPicPr>
        <p:blipFill>
          <a:blip r:embed="rId1"/>
          <a:stretch>
            <a:fillRect/>
          </a:stretch>
        </p:blipFill>
        <p:spPr>
          <a:xfrm>
            <a:off x="548640" y="1417320"/>
            <a:ext cx="566928" cy="566928"/>
          </a:xfrm>
          <a:prstGeom prst="rect">
            <a:avLst/>
          </a:prstGeom>
        </p:spPr>
      </p:pic>
      <p:sp>
        <p:nvSpPr>
          <p:cNvPr id="3" name="Text 0"/>
          <p:cNvSpPr/>
          <p:nvPr>
            <p:ph idx="100" type="title" hasCustomPrompt="1"/>
          </p:nvPr>
        </p:nvSpPr>
        <p:spPr>
          <a:xfrm>
            <a:off x="548640" y="2148840"/>
            <a:ext cx="9601200" cy="1188720"/>
          </a:xfrm>
          <a:prstGeom prst="rect">
            <a:avLst/>
          </a:prstGeom>
          <a:noFill/>
          <a:ln/>
        </p:spPr>
        <p:txBody>
          <a:bodyPr wrap="square" lIns="0" tIns="0" rIns="0" bIns="0" rtlCol="0" anchor="b"/>
          <a:lstStyle/>
          <a:p>
            <a:pPr algn="l" indent="0" marL="0">
              <a:buNone/>
            </a:pPr>
            <a:r>
              <a:rPr lang="en-US" sz="5400" b="1" dirty="0">
                <a:solidFill>
                  <a:schemeClr val="bg1"/>
                </a:solidFill>
              </a:rPr>
              <a:t>RydeResolve</a:t>
            </a:r>
            <a:endParaRPr lang="en-US" sz="5400" dirty="0"/>
          </a:p>
        </p:txBody>
      </p:sp>
      <p:sp>
        <p:nvSpPr>
          <p:cNvPr id="4" name="Text 0"/>
          <p:cNvSpPr/>
          <p:nvPr>
            <p:ph idx="101" type="body" hasCustomPrompt="1"/>
          </p:nvPr>
        </p:nvSpPr>
        <p:spPr>
          <a:xfrm>
            <a:off x="548640" y="3474720"/>
            <a:ext cx="9144000" cy="914400"/>
          </a:xfrm>
          <a:prstGeom prst="rect">
            <a:avLst/>
          </a:prstGeom>
          <a:noFill/>
          <a:ln/>
        </p:spPr>
        <p:txBody>
          <a:bodyPr wrap="square" lIns="0" tIns="0" rIns="0" bIns="0" rtlCol="0" anchor="t"/>
          <a:lstStyle/>
          <a:p>
            <a:pPr indent="0" marL="0">
              <a:buNone/>
            </a:pPr>
            <a:r>
              <a:rPr lang="en-US" sz="2200" dirty="0">
                <a:solidFill>
                  <a:schemeClr val="bg2"/>
                </a:solidFill>
              </a:rPr>
              <a:t>Every ride dispute, heard fairly: AI advocates for both sides, an AI judge that cites the evidence, and people for anything unsafe or uncertain.</a:t>
            </a:r>
            <a:endParaRPr lang="en-US" sz="2200" dirty="0"/>
          </a:p>
        </p:txBody>
      </p:sp>
      <p:sp>
        <p:nvSpPr>
          <p:cNvPr id="5" name="title-footer"/>
          <p:cNvSpPr txBox="1"/>
          <p:nvPr/>
        </p:nvSpPr>
        <p:spPr>
          <a:xfrm>
            <a:off x="548640" y="5989320"/>
            <a:ext cx="8229600" cy="320040"/>
          </a:xfrm>
          <a:prstGeom prst="rect">
            <a:avLst/>
          </a:prstGeom>
          <a:noFill/>
          <a:ln/>
        </p:spPr>
        <p:txBody>
          <a:bodyPr wrap="square" lIns="0" tIns="0" rIns="0" bIns="0" rtlCol="0" anchor="ctr"/>
          <a:lstStyle/>
          <a:p>
            <a:pPr indent="0" marL="0">
              <a:buNone/>
            </a:pPr>
            <a:r>
              <a:rPr lang="en-US" sz="1300" dirty="0">
                <a:solidFill>
                  <a:schemeClr val="bg2"/>
                </a:solidFill>
              </a:rPr>
              <a:t>Architecture · Tencent Cloud Hackathon · Digital Native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 dispute, heard like a court</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Two AI advocates argue from the same case file, and an AI judge rules. People handle anything unsafe or uncertain.</a:t>
            </a:r>
            <a:endParaRPr lang="en-US" sz="1500" dirty="0"/>
          </a:p>
        </p:txBody>
      </p:sp>
      <p:pic>
        <p:nvPicPr>
          <p:cNvPr id="4" name="courtroom" descr="A courtroom: an AI judge on the bench, the rider's and driver's AI advocates at their tables, the shared case file in the middle, a support person standing by, and the rider and driver in the gallery">    </p:cNvPr>
          <p:cNvPicPr>
            <a:picLocks noChangeAspect="1"/>
          </p:cNvPicPr>
          <p:nvPr/>
        </p:nvPicPr>
        <p:blipFill>
          <a:blip r:embed="rId1"/>
          <a:stretch>
            <a:fillRect/>
          </a:stretch>
        </p:blipFill>
        <p:spPr>
          <a:xfrm>
            <a:off x="548640" y="1463040"/>
            <a:ext cx="11091672" cy="4846320"/>
          </a:xfrm>
          <a:prstGeom prst="rect">
            <a:avLst/>
          </a:prstGeom>
        </p:spPr>
      </p:pic>
      <p:sp>
        <p:nvSpPr>
          <p:cNvPr id="5" name="rider-speech"/>
          <p:cNvSpPr txBox="1"/>
          <p:nvPr/>
        </p:nvSpPr>
        <p:spPr>
          <a:xfrm>
            <a:off x="1042416"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“Driven 41% longer than the fastest route.”</a:t>
            </a:r>
            <a:endParaRPr lang="en-US" sz="1500" dirty="0"/>
          </a:p>
          <a:p>
            <a:pPr indent="0" marL="0">
              <a:buNone/>
            </a:pPr>
            <a:r>
              <a:rPr lang="en-US" sz="1100" dirty="0">
                <a:solidFill>
                  <a:schemeClr val="tx2"/>
                </a:solidFill>
              </a:rPr>
              <a:t>cites </a:t>
            </a:r>
            <a:pPr indent="0" marL="0">
              <a:buNone/>
            </a:pPr>
            <a:r>
              <a:rPr lang="en-US" sz="1100" b="1" dirty="0">
                <a:solidFill>
                  <a:schemeClr val="accent1"/>
                </a:solidFill>
                <a:latin typeface="Courier New" pitchFamily="34" charset="0"/>
                <a:ea typeface="Courier New" pitchFamily="34" charset="-122"/>
                <a:cs typeface="Courier New" pitchFamily="34" charset="-120"/>
              </a:rPr>
              <a:t>ROUTE-COMPARISON</a:t>
            </a:r>
            <a:endParaRPr lang="en-US" sz="1500" dirty="0"/>
          </a:p>
        </p:txBody>
      </p:sp>
      <p:sp>
        <p:nvSpPr>
          <p:cNvPr id="6" name="driver-speech"/>
          <p:cNvSpPr txBox="1"/>
          <p:nvPr/>
        </p:nvSpPr>
        <p:spPr>
          <a:xfrm>
            <a:off x="8458200"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“There was a road closure.”</a:t>
            </a:r>
            <a:endParaRPr lang="en-US" sz="1500" dirty="0"/>
          </a:p>
          <a:p>
            <a:pPr indent="0" marL="0">
              <a:buNone/>
            </a:pPr>
            <a:r>
              <a:rPr lang="en-US" sz="1100" dirty="0">
                <a:solidFill>
                  <a:schemeClr val="tx2"/>
                </a:solidFill>
              </a:rPr>
              <a:t>cites </a:t>
            </a:r>
            <a:pPr indent="0" marL="0">
              <a:buNone/>
            </a:pPr>
            <a:r>
              <a:rPr lang="en-US" sz="1100" b="1" dirty="0">
                <a:solidFill>
                  <a:schemeClr val="accent2"/>
                </a:solidFill>
                <a:latin typeface="Courier New" pitchFamily="34" charset="0"/>
                <a:ea typeface="Courier New" pitchFamily="34" charset="-122"/>
                <a:cs typeface="Courier New" pitchFamily="34" charset="-120"/>
              </a:rPr>
              <a:t>MSG-0132</a:t>
            </a:r>
            <a:endParaRPr lang="en-US" sz="1500" dirty="0"/>
          </a:p>
        </p:txBody>
      </p:sp>
      <p:sp>
        <p:nvSpPr>
          <p:cNvPr id="7" name="rider-plate"/>
          <p:cNvSpPr txBox="1"/>
          <p:nvPr/>
        </p:nvSpPr>
        <p:spPr>
          <a:xfrm>
            <a:off x="1005840"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Rider's advocate</a:t>
            </a:r>
            <a:endParaRPr lang="en-US" sz="1600" dirty="0"/>
          </a:p>
          <a:p>
            <a:pPr algn="ctr" indent="0" marL="0">
              <a:buNone/>
            </a:pPr>
            <a:r>
              <a:rPr lang="en-US" sz="1100" dirty="0">
                <a:solidFill>
                  <a:schemeClr val="bg1"/>
                </a:solidFill>
              </a:rPr>
              <a:t>AI agent</a:t>
            </a:r>
            <a:endParaRPr lang="en-US" sz="1600" dirty="0"/>
          </a:p>
        </p:txBody>
      </p:sp>
      <p:sp>
        <p:nvSpPr>
          <p:cNvPr id="8" name="driver-plate"/>
          <p:cNvSpPr txBox="1"/>
          <p:nvPr/>
        </p:nvSpPr>
        <p:spPr>
          <a:xfrm>
            <a:off x="8257032"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Driver's advocate</a:t>
            </a:r>
            <a:endParaRPr lang="en-US" sz="1600" dirty="0"/>
          </a:p>
          <a:p>
            <a:pPr algn="ctr" indent="0" marL="0">
              <a:buNone/>
            </a:pPr>
            <a:r>
              <a:rPr lang="en-US" sz="1100" dirty="0">
                <a:solidFill>
                  <a:schemeClr val="bg1"/>
                </a:solidFill>
              </a:rPr>
              <a:t>AI agent</a:t>
            </a:r>
            <a:endParaRPr lang="en-US" sz="1600" dirty="0"/>
          </a:p>
        </p:txBody>
      </p:sp>
      <p:sp>
        <p:nvSpPr>
          <p:cNvPr id="9" name="judge-plate"/>
          <p:cNvSpPr txBox="1"/>
          <p:nvPr/>
        </p:nvSpPr>
        <p:spPr>
          <a:xfrm>
            <a:off x="4626864" y="3401568"/>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rPr>
              <a:t>Judge</a:t>
            </a:r>
            <a:endParaRPr lang="en-US" sz="1800" dirty="0"/>
          </a:p>
          <a:p>
            <a:pPr algn="ctr" indent="0" marL="0">
              <a:buNone/>
            </a:pPr>
            <a:r>
              <a:rPr lang="en-US" sz="1100" dirty="0">
                <a:solidFill>
                  <a:schemeClr val="bg1"/>
                </a:solidFill>
              </a:rPr>
              <a:t>AI agent · never reads the complaint</a:t>
            </a:r>
            <a:endParaRPr lang="en-US" sz="1800" dirty="0"/>
          </a:p>
        </p:txBody>
      </p:sp>
      <p:sp>
        <p:nvSpPr>
          <p:cNvPr id="10" name="ruling-pill"/>
          <p:cNvSpPr/>
          <p:nvPr/>
        </p:nvSpPr>
        <p:spPr>
          <a:xfrm>
            <a:off x="4992624" y="4059936"/>
            <a:ext cx="2194560" cy="329184"/>
          </a:xfrm>
          <a:prstGeom prst="roundRect">
            <a:avLst>
              <a:gd name="adj" fmla="val 50000"/>
            </a:avLst>
          </a:prstGeom>
          <a:solidFill>
            <a:schemeClr val="accent3"/>
          </a:solidFill>
          <a:ln/>
        </p:spPr>
      </p:sp>
      <p:sp>
        <p:nvSpPr>
          <p:cNvPr id="11" name="ruling-text"/>
          <p:cNvSpPr txBox="1"/>
          <p:nvPr/>
        </p:nvSpPr>
        <p:spPr>
          <a:xfrm>
            <a:off x="4992624" y="4059936"/>
            <a:ext cx="2194560" cy="329184"/>
          </a:xfrm>
          <a:prstGeom prst="rect">
            <a:avLst/>
          </a:prstGeom>
          <a:noFill/>
          <a:ln/>
        </p:spPr>
        <p:txBody>
          <a:bodyPr wrap="square" lIns="0" tIns="0" rIns="0" bIns="0" rtlCol="0" anchor="ctr"/>
          <a:lstStyle/>
          <a:p>
            <a:pPr algn="ctr" indent="0" marL="0">
              <a:buNone/>
            </a:pPr>
            <a:r>
              <a:rPr lang="en-US" sz="1150" b="1" dirty="0">
                <a:solidFill>
                  <a:schemeClr val="bg1"/>
                </a:solidFill>
              </a:rPr>
              <a:t>Claim upheld · $3.68 refund</a:t>
            </a:r>
            <a:endParaRPr lang="en-US" sz="1150" dirty="0"/>
          </a:p>
        </p:txBody>
      </p:sp>
      <p:sp>
        <p:nvSpPr>
          <p:cNvPr id="12" name="casefile-plate"/>
          <p:cNvSpPr txBox="1"/>
          <p:nvPr/>
        </p:nvSpPr>
        <p:spPr>
          <a:xfrm>
            <a:off x="5120640" y="5266944"/>
            <a:ext cx="1938528" cy="457200"/>
          </a:xfrm>
          <a:prstGeom prst="rect">
            <a:avLst/>
          </a:prstGeom>
          <a:noFill/>
          <a:ln/>
        </p:spPr>
        <p:txBody>
          <a:bodyPr wrap="square" lIns="0" tIns="0" rIns="0" bIns="0" rtlCol="0" anchor="ctr"/>
          <a:lstStyle/>
          <a:p>
            <a:pPr algn="ctr" indent="0" marL="0">
              <a:buNone/>
            </a:pPr>
            <a:r>
              <a:rPr lang="en-US" sz="1300" b="1" dirty="0">
                <a:solidFill>
                  <a:schemeClr val="tx1"/>
                </a:solidFill>
              </a:rPr>
              <a:t>Case file</a:t>
            </a:r>
            <a:endParaRPr lang="en-US" sz="1300" dirty="0"/>
          </a:p>
          <a:p>
            <a:pPr algn="ctr" indent="0" marL="0">
              <a:buNone/>
            </a:pPr>
            <a:r>
              <a:rPr lang="en-US" sz="1100" dirty="0">
                <a:solidFill>
                  <a:schemeClr val="tx1"/>
                </a:solidFill>
              </a:rPr>
              <a:t>shared by both sides</a:t>
            </a:r>
            <a:endParaRPr lang="en-US" sz="1300" dirty="0"/>
          </a:p>
        </p:txBody>
      </p:sp>
      <p:sp>
        <p:nvSpPr>
          <p:cNvPr id="13" name="person-label"/>
          <p:cNvSpPr txBox="1"/>
          <p:nvPr/>
        </p:nvSpPr>
        <p:spPr>
          <a:xfrm>
            <a:off x="3895344" y="5212080"/>
            <a:ext cx="1261872" cy="566928"/>
          </a:xfrm>
          <a:prstGeom prst="rect">
            <a:avLst/>
          </a:prstGeom>
          <a:noFill/>
          <a:ln/>
        </p:spPr>
        <p:txBody>
          <a:bodyPr wrap="square" lIns="0" tIns="0" rIns="0" bIns="0" rtlCol="0" anchor="t"/>
          <a:lstStyle/>
          <a:p>
            <a:pPr algn="ctr" indent="0" marL="0">
              <a:buNone/>
            </a:pPr>
            <a:r>
              <a:rPr lang="en-US" sz="1200" b="1" dirty="0">
                <a:solidFill>
                  <a:schemeClr val="accent4"/>
                </a:solidFill>
              </a:rPr>
              <a:t>Human judge</a:t>
            </a:r>
            <a:endParaRPr lang="en-US" sz="1200" dirty="0"/>
          </a:p>
          <a:p>
            <a:pPr algn="ctr" indent="0" marL="0">
              <a:buNone/>
            </a:pPr>
            <a:r>
              <a:rPr lang="en-US" sz="1100" dirty="0">
                <a:solidFill>
                  <a:schemeClr val="tx2"/>
                </a:solidFill>
              </a:rPr>
              <a:t>L2 support</a:t>
            </a:r>
            <a:endParaRPr lang="en-US" sz="1200" dirty="0"/>
          </a:p>
        </p:txBody>
      </p:sp>
      <p:sp>
        <p:nvSpPr>
          <p:cNvPr id="14" name="rider-label"/>
          <p:cNvSpPr txBox="1"/>
          <p:nvPr/>
        </p:nvSpPr>
        <p:spPr>
          <a:xfrm>
            <a:off x="2231136" y="5614416"/>
            <a:ext cx="1097280" cy="274320"/>
          </a:xfrm>
          <a:prstGeom prst="rect">
            <a:avLst/>
          </a:prstGeom>
          <a:noFill/>
          <a:ln/>
        </p:spPr>
        <p:txBody>
          <a:bodyPr wrap="square" lIns="0" tIns="0" rIns="0" bIns="0" rtlCol="0" anchor="ctr"/>
          <a:lstStyle/>
          <a:p>
            <a:pPr indent="0" marL="0">
              <a:buNone/>
            </a:pPr>
            <a:r>
              <a:rPr lang="en-US" sz="1200" b="1" dirty="0">
                <a:solidFill>
                  <a:schemeClr val="tx1"/>
                </a:solidFill>
              </a:rPr>
              <a:t>Rider</a:t>
            </a:r>
            <a:endParaRPr lang="en-US" sz="1200" dirty="0"/>
          </a:p>
        </p:txBody>
      </p:sp>
      <p:sp>
        <p:nvSpPr>
          <p:cNvPr id="15" name="driver-label"/>
          <p:cNvSpPr txBox="1"/>
          <p:nvPr/>
        </p:nvSpPr>
        <p:spPr>
          <a:xfrm>
            <a:off x="8860536" y="5614416"/>
            <a:ext cx="1097280" cy="274320"/>
          </a:xfrm>
          <a:prstGeom prst="rect">
            <a:avLst/>
          </a:prstGeom>
          <a:noFill/>
          <a:ln/>
        </p:spPr>
        <p:txBody>
          <a:bodyPr wrap="square" lIns="0" tIns="0" rIns="0" bIns="0" rtlCol="0" anchor="ctr"/>
          <a:lstStyle/>
          <a:p>
            <a:pPr algn="r" indent="0" marL="0">
              <a:buNone/>
            </a:pPr>
            <a:r>
              <a:rPr lang="en-US" sz="1200" b="1" dirty="0">
                <a:solidFill>
                  <a:schemeClr val="tx1"/>
                </a:solidFill>
              </a:rPr>
              <a:t>Driver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One dispute, end to end</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Plain code connects the steps. Agents never call each other.</a:t>
            </a:r>
            <a:endParaRPr lang="en-US" sz="1500" dirty="0"/>
          </a:p>
        </p:txBody>
      </p:sp>
      <p:sp>
        <p:nvSpPr>
          <p:cNvPr id="4" name="node-1"/>
          <p:cNvSpPr/>
          <p:nvPr/>
        </p:nvSpPr>
        <p:spPr>
          <a:xfrm>
            <a:off x="548640" y="1783080"/>
            <a:ext cx="1874520" cy="914400"/>
          </a:xfrm>
          <a:prstGeom prst="roundRect">
            <a:avLst>
              <a:gd name="adj" fmla="val 10000"/>
            </a:avLst>
          </a:prstGeom>
          <a:solidFill>
            <a:schemeClr val="accent4">
              <a:alpha val="14000"/>
            </a:schemeClr>
          </a:solidFill>
          <a:ln w="15875">
            <a:solidFill>
              <a:schemeClr val="accent4"/>
            </a:solidFill>
            <a:prstDash val="solid"/>
          </a:ln>
        </p:spPr>
      </p:sp>
      <p:pic>
        <p:nvPicPr>
          <p:cNvPr id="5" name="icon-2" descr="preencoded.png">    </p:cNvPr>
          <p:cNvPicPr>
            <a:picLocks noChangeAspect="1"/>
          </p:cNvPicPr>
          <p:nvPr/>
        </p:nvPicPr>
        <p:blipFill>
          <a:blip r:embed="rId1"/>
          <a:stretch>
            <a:fillRect/>
          </a:stretch>
        </p:blipFill>
        <p:spPr>
          <a:xfrm>
            <a:off x="676656" y="1911096"/>
            <a:ext cx="292608" cy="292608"/>
          </a:xfrm>
          <a:prstGeom prst="rect">
            <a:avLst/>
          </a:prstGeom>
        </p:spPr>
      </p:pic>
      <p:sp>
        <p:nvSpPr>
          <p:cNvPr id="6" name="node-title-3"/>
          <p:cNvSpPr txBox="1"/>
          <p:nvPr/>
        </p:nvSpPr>
        <p:spPr>
          <a:xfrm>
            <a:off x="1060704"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Report filed</a:t>
            </a:r>
            <a:endParaRPr lang="en-US" sz="1400" dirty="0"/>
          </a:p>
        </p:txBody>
      </p:sp>
      <p:sp>
        <p:nvSpPr>
          <p:cNvPr id="7" name="node-sub-4"/>
          <p:cNvSpPr txBox="1"/>
          <p:nvPr/>
        </p:nvSpPr>
        <p:spPr>
          <a:xfrm>
            <a:off x="676656" y="2276856"/>
            <a:ext cx="1618488" cy="384048"/>
          </a:xfrm>
          <a:prstGeom prst="rect">
            <a:avLst/>
          </a:prstGeom>
          <a:noFill/>
          <a:ln/>
        </p:spPr>
        <p:txBody>
          <a:bodyPr wrap="square" lIns="0" tIns="0" rIns="0" bIns="0" rtlCol="0" anchor="t"/>
          <a:lstStyle/>
          <a:p>
            <a:pPr indent="0" marL="0">
              <a:buNone/>
            </a:pPr>
            <a:r>
              <a:rPr lang="en-US" sz="1100" dirty="0">
                <a:solidFill>
                  <a:schemeClr val="tx2"/>
                </a:solidFill>
              </a:rPr>
              <a:t>From the trip, in a chat</a:t>
            </a:r>
            <a:endParaRPr lang="en-US" sz="1100" dirty="0"/>
          </a:p>
        </p:txBody>
      </p:sp>
      <p:sp>
        <p:nvSpPr>
          <p:cNvPr id="8" name="node-5"/>
          <p:cNvSpPr/>
          <p:nvPr/>
        </p:nvSpPr>
        <p:spPr>
          <a:xfrm>
            <a:off x="2853614" y="1783080"/>
            <a:ext cx="1874520" cy="914400"/>
          </a:xfrm>
          <a:prstGeom prst="roundRect">
            <a:avLst>
              <a:gd name="adj" fmla="val 10000"/>
            </a:avLst>
          </a:prstGeom>
          <a:solidFill>
            <a:schemeClr val="tx1"/>
          </a:solidFill>
          <a:ln/>
        </p:spPr>
      </p:sp>
      <p:pic>
        <p:nvPicPr>
          <p:cNvPr id="9" name="icon-6" descr="preencoded.png">    </p:cNvPr>
          <p:cNvPicPr>
            <a:picLocks noChangeAspect="1"/>
          </p:cNvPicPr>
          <p:nvPr/>
        </p:nvPicPr>
        <p:blipFill>
          <a:blip r:embed="rId2"/>
          <a:stretch>
            <a:fillRect/>
          </a:stretch>
        </p:blipFill>
        <p:spPr>
          <a:xfrm>
            <a:off x="2981630" y="1911096"/>
            <a:ext cx="292608" cy="292608"/>
          </a:xfrm>
          <a:prstGeom prst="rect">
            <a:avLst/>
          </a:prstGeom>
        </p:spPr>
      </p:pic>
      <p:sp>
        <p:nvSpPr>
          <p:cNvPr id="10" name="node-title-7"/>
          <p:cNvSpPr txBox="1"/>
          <p:nvPr/>
        </p:nvSpPr>
        <p:spPr>
          <a:xfrm>
            <a:off x="3365678"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Triage</a:t>
            </a:r>
            <a:endParaRPr lang="en-US" sz="1400" dirty="0"/>
          </a:p>
        </p:txBody>
      </p:sp>
      <p:sp>
        <p:nvSpPr>
          <p:cNvPr id="11" name="node-sub-8"/>
          <p:cNvSpPr txBox="1"/>
          <p:nvPr/>
        </p:nvSpPr>
        <p:spPr>
          <a:xfrm>
            <a:off x="2981630"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Kind of dispute, safety flag</a:t>
            </a:r>
            <a:endParaRPr lang="en-US" sz="1100" dirty="0"/>
          </a:p>
        </p:txBody>
      </p:sp>
      <p:sp>
        <p:nvSpPr>
          <p:cNvPr id="12" name="node-9"/>
          <p:cNvSpPr/>
          <p:nvPr/>
        </p:nvSpPr>
        <p:spPr>
          <a:xfrm>
            <a:off x="5158588" y="1783080"/>
            <a:ext cx="1874520" cy="914400"/>
          </a:xfrm>
          <a:prstGeom prst="roundRect">
            <a:avLst>
              <a:gd name="adj" fmla="val 10000"/>
            </a:avLst>
          </a:prstGeom>
          <a:solidFill>
            <a:schemeClr val="bg1"/>
          </a:solidFill>
          <a:ln w="15875">
            <a:solidFill>
              <a:schemeClr val="tx2"/>
            </a:solidFill>
            <a:prstDash val="dash"/>
          </a:ln>
        </p:spPr>
      </p:sp>
      <p:pic>
        <p:nvPicPr>
          <p:cNvPr id="13" name="icon-10" descr="preencoded.png">    </p:cNvPr>
          <p:cNvPicPr>
            <a:picLocks noChangeAspect="1"/>
          </p:cNvPicPr>
          <p:nvPr/>
        </p:nvPicPr>
        <p:blipFill>
          <a:blip r:embed="rId3"/>
          <a:stretch>
            <a:fillRect/>
          </a:stretch>
        </p:blipFill>
        <p:spPr>
          <a:xfrm>
            <a:off x="5286604" y="1911096"/>
            <a:ext cx="292608" cy="292608"/>
          </a:xfrm>
          <a:prstGeom prst="rect">
            <a:avLst/>
          </a:prstGeom>
        </p:spPr>
      </p:pic>
      <p:sp>
        <p:nvSpPr>
          <p:cNvPr id="14" name="node-title-11"/>
          <p:cNvSpPr txBox="1"/>
          <p:nvPr/>
        </p:nvSpPr>
        <p:spPr>
          <a:xfrm>
            <a:off x="5670652"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Eligibility</a:t>
            </a:r>
            <a:endParaRPr lang="en-US" sz="1400" dirty="0"/>
          </a:p>
        </p:txBody>
      </p:sp>
      <p:sp>
        <p:nvSpPr>
          <p:cNvPr id="15" name="node-sub-12"/>
          <p:cNvSpPr txBox="1"/>
          <p:nvPr/>
        </p:nvSpPr>
        <p:spPr>
          <a:xfrm>
            <a:off x="5286604" y="2276856"/>
            <a:ext cx="1618488" cy="384048"/>
          </a:xfrm>
          <a:prstGeom prst="rect">
            <a:avLst/>
          </a:prstGeom>
          <a:noFill/>
          <a:ln/>
        </p:spPr>
        <p:txBody>
          <a:bodyPr wrap="square" lIns="0" tIns="0" rIns="0" bIns="0" rtlCol="0" anchor="t"/>
          <a:lstStyle/>
          <a:p>
            <a:pPr indent="0" marL="0">
              <a:buNone/>
            </a:pPr>
            <a:r>
              <a:rPr lang="en-US" sz="1100" dirty="0">
                <a:solidFill>
                  <a:schemeClr val="tx2"/>
                </a:solidFill>
              </a:rPr>
              <a:t>Six rules, no AI</a:t>
            </a:r>
            <a:endParaRPr lang="en-US" sz="1100" dirty="0"/>
          </a:p>
        </p:txBody>
      </p:sp>
      <p:sp>
        <p:nvSpPr>
          <p:cNvPr id="16" name="node-13"/>
          <p:cNvSpPr/>
          <p:nvPr/>
        </p:nvSpPr>
        <p:spPr>
          <a:xfrm>
            <a:off x="7463561" y="1783080"/>
            <a:ext cx="1874520" cy="914400"/>
          </a:xfrm>
          <a:prstGeom prst="roundRect">
            <a:avLst>
              <a:gd name="adj" fmla="val 10000"/>
            </a:avLst>
          </a:prstGeom>
          <a:solidFill>
            <a:schemeClr val="tx1"/>
          </a:solidFill>
          <a:ln/>
        </p:spPr>
      </p:sp>
      <p:pic>
        <p:nvPicPr>
          <p:cNvPr id="17" name="icon-14" descr="preencoded.png">    </p:cNvPr>
          <p:cNvPicPr>
            <a:picLocks noChangeAspect="1"/>
          </p:cNvPicPr>
          <p:nvPr/>
        </p:nvPicPr>
        <p:blipFill>
          <a:blip r:embed="rId4"/>
          <a:stretch>
            <a:fillRect/>
          </a:stretch>
        </p:blipFill>
        <p:spPr>
          <a:xfrm>
            <a:off x="7591577" y="1911096"/>
            <a:ext cx="292608" cy="292608"/>
          </a:xfrm>
          <a:prstGeom prst="rect">
            <a:avLst/>
          </a:prstGeom>
        </p:spPr>
      </p:pic>
      <p:sp>
        <p:nvSpPr>
          <p:cNvPr id="18" name="node-title-15"/>
          <p:cNvSpPr txBox="1"/>
          <p:nvPr/>
        </p:nvSpPr>
        <p:spPr>
          <a:xfrm>
            <a:off x="7975625"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Evidence</a:t>
            </a:r>
            <a:endParaRPr lang="en-US" sz="1400" dirty="0"/>
          </a:p>
        </p:txBody>
      </p:sp>
      <p:sp>
        <p:nvSpPr>
          <p:cNvPr id="19" name="node-sub-16"/>
          <p:cNvSpPr txBox="1"/>
          <p:nvPr/>
        </p:nvSpPr>
        <p:spPr>
          <a:xfrm>
            <a:off x="7591577"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Builds one case file</a:t>
            </a:r>
            <a:endParaRPr lang="en-US" sz="1100" dirty="0"/>
          </a:p>
        </p:txBody>
      </p:sp>
      <p:sp>
        <p:nvSpPr>
          <p:cNvPr id="20" name="node-17"/>
          <p:cNvSpPr/>
          <p:nvPr/>
        </p:nvSpPr>
        <p:spPr>
          <a:xfrm>
            <a:off x="9768535" y="1783080"/>
            <a:ext cx="1874520" cy="914400"/>
          </a:xfrm>
          <a:prstGeom prst="roundRect">
            <a:avLst>
              <a:gd name="adj" fmla="val 10000"/>
            </a:avLst>
          </a:prstGeom>
          <a:solidFill>
            <a:schemeClr val="tx1"/>
          </a:solidFill>
          <a:ln/>
        </p:spPr>
      </p:sp>
      <p:pic>
        <p:nvPicPr>
          <p:cNvPr id="21" name="icon-18" descr="preencoded.png">    </p:cNvPr>
          <p:cNvPicPr>
            <a:picLocks noChangeAspect="1"/>
          </p:cNvPicPr>
          <p:nvPr/>
        </p:nvPicPr>
        <p:blipFill>
          <a:blip r:embed="rId5"/>
          <a:stretch>
            <a:fillRect/>
          </a:stretch>
        </p:blipFill>
        <p:spPr>
          <a:xfrm>
            <a:off x="9896551" y="1911096"/>
            <a:ext cx="292608" cy="292608"/>
          </a:xfrm>
          <a:prstGeom prst="rect">
            <a:avLst/>
          </a:prstGeom>
        </p:spPr>
      </p:pic>
      <p:sp>
        <p:nvSpPr>
          <p:cNvPr id="22" name="node-title-19"/>
          <p:cNvSpPr txBox="1"/>
          <p:nvPr/>
        </p:nvSpPr>
        <p:spPr>
          <a:xfrm>
            <a:off x="10280599"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Photo check</a:t>
            </a:r>
            <a:endParaRPr lang="en-US" sz="1400" dirty="0"/>
          </a:p>
        </p:txBody>
      </p:sp>
      <p:sp>
        <p:nvSpPr>
          <p:cNvPr id="23" name="node-sub-20"/>
          <p:cNvSpPr txBox="1"/>
          <p:nvPr/>
        </p:nvSpPr>
        <p:spPr>
          <a:xfrm>
            <a:off x="9896551"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Code sets the fee tier</a:t>
            </a:r>
            <a:endParaRPr lang="en-US" sz="1100" dirty="0"/>
          </a:p>
        </p:txBody>
      </p:sp>
      <p:sp>
        <p:nvSpPr>
          <p:cNvPr id="24" name="arrow-21"/>
          <p:cNvSpPr/>
          <p:nvPr/>
        </p:nvSpPr>
        <p:spPr>
          <a:xfrm>
            <a:off x="2423160" y="2240280"/>
            <a:ext cx="430454" cy="0"/>
          </a:xfrm>
          <a:prstGeom prst="line">
            <a:avLst/>
          </a:prstGeom>
          <a:noFill/>
          <a:ln w="19050">
            <a:solidFill>
              <a:schemeClr val="tx2"/>
            </a:solidFill>
            <a:prstDash val="solid"/>
            <a:tailEnd type="triangle"/>
          </a:ln>
        </p:spPr>
      </p:sp>
      <p:sp>
        <p:nvSpPr>
          <p:cNvPr id="25" name="arrow-22"/>
          <p:cNvSpPr/>
          <p:nvPr/>
        </p:nvSpPr>
        <p:spPr>
          <a:xfrm>
            <a:off x="4728134" y="2240280"/>
            <a:ext cx="430454" cy="0"/>
          </a:xfrm>
          <a:prstGeom prst="line">
            <a:avLst/>
          </a:prstGeom>
          <a:noFill/>
          <a:ln w="19050">
            <a:solidFill>
              <a:schemeClr val="tx2"/>
            </a:solidFill>
            <a:prstDash val="solid"/>
            <a:tailEnd type="triangle"/>
          </a:ln>
        </p:spPr>
      </p:sp>
      <p:sp>
        <p:nvSpPr>
          <p:cNvPr id="26" name="arrow-23"/>
          <p:cNvSpPr/>
          <p:nvPr/>
        </p:nvSpPr>
        <p:spPr>
          <a:xfrm>
            <a:off x="7033108" y="2240280"/>
            <a:ext cx="430454" cy="0"/>
          </a:xfrm>
          <a:prstGeom prst="line">
            <a:avLst/>
          </a:prstGeom>
          <a:noFill/>
          <a:ln w="19050">
            <a:solidFill>
              <a:schemeClr val="tx2"/>
            </a:solidFill>
            <a:prstDash val="solid"/>
            <a:tailEnd type="triangle"/>
          </a:ln>
        </p:spPr>
      </p:sp>
      <p:sp>
        <p:nvSpPr>
          <p:cNvPr id="27" name="arrow-24"/>
          <p:cNvSpPr/>
          <p:nvPr/>
        </p:nvSpPr>
        <p:spPr>
          <a:xfrm>
            <a:off x="9338081" y="2240280"/>
            <a:ext cx="430454" cy="0"/>
          </a:xfrm>
          <a:prstGeom prst="line">
            <a:avLst/>
          </a:prstGeom>
          <a:noFill/>
          <a:ln w="19050">
            <a:solidFill>
              <a:schemeClr val="tx2"/>
            </a:solidFill>
            <a:prstDash val="solid"/>
            <a:tailEnd type="triangle"/>
          </a:ln>
        </p:spPr>
      </p:sp>
      <p:sp>
        <p:nvSpPr>
          <p:cNvPr id="28" name="node-25"/>
          <p:cNvSpPr/>
          <p:nvPr/>
        </p:nvSpPr>
        <p:spPr>
          <a:xfrm>
            <a:off x="4655668" y="2971800"/>
            <a:ext cx="1325880" cy="457200"/>
          </a:xfrm>
          <a:prstGeom prst="roundRect">
            <a:avLst>
              <a:gd name="adj" fmla="val 20000"/>
            </a:avLst>
          </a:prstGeom>
          <a:solidFill>
            <a:schemeClr val="accent5">
              <a:alpha val="12000"/>
            </a:schemeClr>
          </a:solidFill>
          <a:ln w="15875">
            <a:solidFill>
              <a:schemeClr val="accent5"/>
            </a:solidFill>
            <a:prstDash val="solid"/>
          </a:ln>
        </p:spPr>
      </p:sp>
      <p:pic>
        <p:nvPicPr>
          <p:cNvPr id="29" name="icon-26" descr="preencoded.png">    </p:cNvPr>
          <p:cNvPicPr>
            <a:picLocks noChangeAspect="1"/>
          </p:cNvPicPr>
          <p:nvPr/>
        </p:nvPicPr>
        <p:blipFill>
          <a:blip r:embed="rId6"/>
          <a:stretch>
            <a:fillRect/>
          </a:stretch>
        </p:blipFill>
        <p:spPr>
          <a:xfrm>
            <a:off x="4783684" y="3099816"/>
            <a:ext cx="292608" cy="292608"/>
          </a:xfrm>
          <a:prstGeom prst="rect">
            <a:avLst/>
          </a:prstGeom>
        </p:spPr>
      </p:pic>
      <p:sp>
        <p:nvSpPr>
          <p:cNvPr id="30" name="node-title-27"/>
          <p:cNvSpPr txBox="1"/>
          <p:nvPr/>
        </p:nvSpPr>
        <p:spPr>
          <a:xfrm>
            <a:off x="5167732" y="3026664"/>
            <a:ext cx="685800" cy="347472"/>
          </a:xfrm>
          <a:prstGeom prst="rect">
            <a:avLst/>
          </a:prstGeom>
          <a:noFill/>
          <a:ln/>
        </p:spPr>
        <p:txBody>
          <a:bodyPr wrap="square" lIns="0" tIns="0" rIns="0" bIns="0" rtlCol="0" anchor="ctr"/>
          <a:lstStyle/>
          <a:p>
            <a:pPr indent="0" marL="0">
              <a:buNone/>
            </a:pPr>
            <a:r>
              <a:rPr lang="en-US" sz="1350" b="1" dirty="0">
                <a:solidFill>
                  <a:schemeClr val="tx1"/>
                </a:solidFill>
              </a:rPr>
              <a:t>Safety</a:t>
            </a:r>
            <a:endParaRPr lang="en-US" sz="1350" dirty="0"/>
          </a:p>
        </p:txBody>
      </p:sp>
      <p:sp>
        <p:nvSpPr>
          <p:cNvPr id="31" name="node-28"/>
          <p:cNvSpPr/>
          <p:nvPr/>
        </p:nvSpPr>
        <p:spPr>
          <a:xfrm>
            <a:off x="6347308" y="2971800"/>
            <a:ext cx="1600200" cy="457200"/>
          </a:xfrm>
          <a:prstGeom prst="roundRect">
            <a:avLst>
              <a:gd name="adj" fmla="val 20000"/>
            </a:avLst>
          </a:prstGeom>
          <a:solidFill>
            <a:schemeClr val="bg1"/>
          </a:solidFill>
          <a:ln w="15875">
            <a:solidFill>
              <a:schemeClr val="tx2"/>
            </a:solidFill>
            <a:prstDash val="dash"/>
          </a:ln>
        </p:spPr>
      </p:sp>
      <p:pic>
        <p:nvPicPr>
          <p:cNvPr id="32" name="icon-29" descr="preencoded.png">    </p:cNvPr>
          <p:cNvPicPr>
            <a:picLocks noChangeAspect="1"/>
          </p:cNvPicPr>
          <p:nvPr/>
        </p:nvPicPr>
        <p:blipFill>
          <a:blip r:embed="rId7"/>
          <a:stretch>
            <a:fillRect/>
          </a:stretch>
        </p:blipFill>
        <p:spPr>
          <a:xfrm>
            <a:off x="6475324" y="3099816"/>
            <a:ext cx="292608" cy="292608"/>
          </a:xfrm>
          <a:prstGeom prst="rect">
            <a:avLst/>
          </a:prstGeom>
        </p:spPr>
      </p:pic>
      <p:sp>
        <p:nvSpPr>
          <p:cNvPr id="33" name="node-title-30"/>
          <p:cNvSpPr txBox="1"/>
          <p:nvPr/>
        </p:nvSpPr>
        <p:spPr>
          <a:xfrm>
            <a:off x="6859372" y="3026664"/>
            <a:ext cx="960120" cy="347472"/>
          </a:xfrm>
          <a:prstGeom prst="rect">
            <a:avLst/>
          </a:prstGeom>
          <a:noFill/>
          <a:ln/>
        </p:spPr>
        <p:txBody>
          <a:bodyPr wrap="square" lIns="0" tIns="0" rIns="0" bIns="0" rtlCol="0" anchor="ctr"/>
          <a:lstStyle/>
          <a:p>
            <a:pPr indent="0" marL="0">
              <a:buNone/>
            </a:pPr>
            <a:r>
              <a:rPr lang="en-US" sz="1350" b="1" dirty="0">
                <a:solidFill>
                  <a:schemeClr val="tx1"/>
                </a:solidFill>
              </a:rPr>
              <a:t>Declined</a:t>
            </a:r>
            <a:endParaRPr lang="en-US" sz="1350" dirty="0"/>
          </a:p>
        </p:txBody>
      </p:sp>
      <p:sp>
        <p:nvSpPr>
          <p:cNvPr id="34" name="exit-safety-note"/>
          <p:cNvSpPr txBox="1"/>
          <p:nvPr/>
        </p:nvSpPr>
        <p:spPr>
          <a:xfrm>
            <a:off x="4655668" y="3465576"/>
            <a:ext cx="1600200" cy="237744"/>
          </a:xfrm>
          <a:prstGeom prst="rect">
            <a:avLst/>
          </a:prstGeom>
          <a:noFill/>
          <a:ln/>
        </p:spPr>
        <p:txBody>
          <a:bodyPr wrap="square" lIns="0" tIns="0" rIns="0" bIns="0" rtlCol="0" anchor="ctr"/>
          <a:lstStyle/>
          <a:p>
            <a:pPr indent="0" marL="0">
              <a:buNone/>
            </a:pPr>
            <a:r>
              <a:rPr lang="en-US" sz="1050" i="1" dirty="0">
                <a:solidFill>
                  <a:schemeClr val="tx2"/>
                </a:solidFill>
              </a:rPr>
              <a:t>to a person</a:t>
            </a:r>
            <a:endParaRPr lang="en-US" sz="1050" dirty="0"/>
          </a:p>
        </p:txBody>
      </p:sp>
      <p:sp>
        <p:nvSpPr>
          <p:cNvPr id="35" name="exit-declined-note"/>
          <p:cNvSpPr txBox="1"/>
          <p:nvPr/>
        </p:nvSpPr>
        <p:spPr>
          <a:xfrm>
            <a:off x="6347308" y="3465576"/>
            <a:ext cx="1737360" cy="237744"/>
          </a:xfrm>
          <a:prstGeom prst="rect">
            <a:avLst/>
          </a:prstGeom>
          <a:noFill/>
          <a:ln/>
        </p:spPr>
        <p:txBody>
          <a:bodyPr wrap="square" lIns="0" tIns="0" rIns="0" bIns="0" rtlCol="0" anchor="ctr"/>
          <a:lstStyle/>
          <a:p>
            <a:pPr indent="0" marL="0">
              <a:buNone/>
            </a:pPr>
            <a:r>
              <a:rPr lang="en-US" sz="1050" i="1" dirty="0">
                <a:solidFill>
                  <a:schemeClr val="tx2"/>
                </a:solidFill>
              </a:rPr>
              <a:t>can refile</a:t>
            </a:r>
            <a:endParaRPr lang="en-US" sz="1050" dirty="0"/>
          </a:p>
        </p:txBody>
      </p:sp>
      <p:sp>
        <p:nvSpPr>
          <p:cNvPr id="36" name="arrow-31"/>
          <p:cNvSpPr/>
          <p:nvPr/>
        </p:nvSpPr>
        <p:spPr>
          <a:xfrm>
            <a:off x="5341468" y="2697480"/>
            <a:ext cx="0" cy="274320"/>
          </a:xfrm>
          <a:prstGeom prst="line">
            <a:avLst/>
          </a:prstGeom>
          <a:noFill/>
          <a:ln w="19050">
            <a:solidFill>
              <a:schemeClr val="accent5"/>
            </a:solidFill>
            <a:prstDash val="solid"/>
            <a:tailEnd type="triangle"/>
          </a:ln>
        </p:spPr>
      </p:sp>
      <p:sp>
        <p:nvSpPr>
          <p:cNvPr id="37" name="arrow-32"/>
          <p:cNvSpPr/>
          <p:nvPr/>
        </p:nvSpPr>
        <p:spPr>
          <a:xfrm>
            <a:off x="6941668" y="2697480"/>
            <a:ext cx="0" cy="274320"/>
          </a:xfrm>
          <a:prstGeom prst="line">
            <a:avLst/>
          </a:prstGeom>
          <a:noFill/>
          <a:ln w="19050">
            <a:solidFill>
              <a:schemeClr val="tx2"/>
            </a:solidFill>
            <a:prstDash val="solid"/>
            <a:tailEnd type="triangle"/>
          </a:ln>
        </p:spPr>
      </p:sp>
      <p:sp>
        <p:nvSpPr>
          <p:cNvPr id="38" name="arrow-33"/>
          <p:cNvSpPr/>
          <p:nvPr/>
        </p:nvSpPr>
        <p:spPr>
          <a:xfrm>
            <a:off x="10705795" y="2697480"/>
            <a:ext cx="0" cy="1097280"/>
          </a:xfrm>
          <a:prstGeom prst="line">
            <a:avLst/>
          </a:prstGeom>
          <a:noFill/>
          <a:ln w="19050">
            <a:solidFill>
              <a:schemeClr val="tx2"/>
            </a:solidFill>
            <a:prstDash val="solid"/>
            <a:tailEnd type="none"/>
          </a:ln>
        </p:spPr>
      </p:sp>
      <p:sp>
        <p:nvSpPr>
          <p:cNvPr id="39" name="arrow-34"/>
          <p:cNvSpPr/>
          <p:nvPr/>
        </p:nvSpPr>
        <p:spPr>
          <a:xfrm flipH="1">
            <a:off x="1485900" y="3794760"/>
            <a:ext cx="9219895" cy="0"/>
          </a:xfrm>
          <a:prstGeom prst="line">
            <a:avLst/>
          </a:prstGeom>
          <a:noFill/>
          <a:ln w="19050">
            <a:solidFill>
              <a:schemeClr val="tx2"/>
            </a:solidFill>
            <a:prstDash val="solid"/>
            <a:tailEnd type="none"/>
          </a:ln>
        </p:spPr>
      </p:sp>
      <p:sp>
        <p:nvSpPr>
          <p:cNvPr id="40" name="return-label"/>
          <p:cNvSpPr txBox="1"/>
          <p:nvPr/>
        </p:nvSpPr>
        <p:spPr>
          <a:xfrm>
            <a:off x="8191195" y="3520440"/>
            <a:ext cx="2377440" cy="237744"/>
          </a:xfrm>
          <a:prstGeom prst="rect">
            <a:avLst/>
          </a:prstGeom>
          <a:noFill/>
          <a:ln/>
        </p:spPr>
        <p:txBody>
          <a:bodyPr wrap="square" lIns="0" tIns="0" rIns="0" bIns="0" rtlCol="0" anchor="ctr"/>
          <a:lstStyle/>
          <a:p>
            <a:pPr algn="r" indent="0" marL="0">
              <a:buNone/>
            </a:pPr>
            <a:r>
              <a:rPr lang="en-US" sz="1050" i="1" dirty="0">
                <a:solidFill>
                  <a:schemeClr val="tx2"/>
                </a:solidFill>
              </a:rPr>
              <a:t>the same case file to both sides</a:t>
            </a:r>
            <a:endParaRPr lang="en-US" sz="1050" dirty="0"/>
          </a:p>
        </p:txBody>
      </p:sp>
      <p:sp>
        <p:nvSpPr>
          <p:cNvPr id="41" name="arrow-35"/>
          <p:cNvSpPr/>
          <p:nvPr/>
        </p:nvSpPr>
        <p:spPr>
          <a:xfrm>
            <a:off x="1485900" y="3794760"/>
            <a:ext cx="0" cy="274320"/>
          </a:xfrm>
          <a:prstGeom prst="line">
            <a:avLst/>
          </a:prstGeom>
          <a:noFill/>
          <a:ln w="19050">
            <a:solidFill>
              <a:schemeClr val="tx2"/>
            </a:solidFill>
            <a:prstDash val="solid"/>
            <a:tailEnd type="triangle"/>
          </a:ln>
        </p:spPr>
      </p:sp>
      <p:sp>
        <p:nvSpPr>
          <p:cNvPr id="42" name="node-36"/>
          <p:cNvSpPr/>
          <p:nvPr/>
        </p:nvSpPr>
        <p:spPr>
          <a:xfrm>
            <a:off x="548640" y="4069080"/>
            <a:ext cx="1874520" cy="713232"/>
          </a:xfrm>
          <a:prstGeom prst="roundRect">
            <a:avLst>
              <a:gd name="adj" fmla="val 12821"/>
            </a:avLst>
          </a:prstGeom>
          <a:solidFill>
            <a:schemeClr val="accent1"/>
          </a:solidFill>
          <a:ln/>
        </p:spPr>
      </p:sp>
      <p:pic>
        <p:nvPicPr>
          <p:cNvPr id="43" name="icon-37" descr="preencoded.png">    </p:cNvPr>
          <p:cNvPicPr>
            <a:picLocks noChangeAspect="1"/>
          </p:cNvPicPr>
          <p:nvPr/>
        </p:nvPicPr>
        <p:blipFill>
          <a:blip r:embed="rId8"/>
          <a:stretch>
            <a:fillRect/>
          </a:stretch>
        </p:blipFill>
        <p:spPr>
          <a:xfrm>
            <a:off x="676656" y="4197096"/>
            <a:ext cx="292608" cy="292608"/>
          </a:xfrm>
          <a:prstGeom prst="rect">
            <a:avLst/>
          </a:prstGeom>
        </p:spPr>
      </p:pic>
      <p:sp>
        <p:nvSpPr>
          <p:cNvPr id="44" name="node-title-38"/>
          <p:cNvSpPr txBox="1"/>
          <p:nvPr/>
        </p:nvSpPr>
        <p:spPr>
          <a:xfrm>
            <a:off x="1060704" y="4123944"/>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Rider's advocate</a:t>
            </a:r>
            <a:endParaRPr lang="en-US" sz="1350" dirty="0"/>
          </a:p>
        </p:txBody>
      </p:sp>
      <p:sp>
        <p:nvSpPr>
          <p:cNvPr id="45" name="node-39"/>
          <p:cNvSpPr/>
          <p:nvPr/>
        </p:nvSpPr>
        <p:spPr>
          <a:xfrm>
            <a:off x="548640" y="4910328"/>
            <a:ext cx="1874520" cy="713232"/>
          </a:xfrm>
          <a:prstGeom prst="roundRect">
            <a:avLst>
              <a:gd name="adj" fmla="val 12821"/>
            </a:avLst>
          </a:prstGeom>
          <a:solidFill>
            <a:schemeClr val="accent2"/>
          </a:solidFill>
          <a:ln/>
        </p:spPr>
      </p:sp>
      <p:pic>
        <p:nvPicPr>
          <p:cNvPr id="46" name="icon-40" descr="preencoded.png">    </p:cNvPr>
          <p:cNvPicPr>
            <a:picLocks noChangeAspect="1"/>
          </p:cNvPicPr>
          <p:nvPr/>
        </p:nvPicPr>
        <p:blipFill>
          <a:blip r:embed="rId9"/>
          <a:stretch>
            <a:fillRect/>
          </a:stretch>
        </p:blipFill>
        <p:spPr>
          <a:xfrm>
            <a:off x="676656" y="5038344"/>
            <a:ext cx="292608" cy="292608"/>
          </a:xfrm>
          <a:prstGeom prst="rect">
            <a:avLst/>
          </a:prstGeom>
        </p:spPr>
      </p:pic>
      <p:sp>
        <p:nvSpPr>
          <p:cNvPr id="47" name="node-title-41"/>
          <p:cNvSpPr txBox="1"/>
          <p:nvPr/>
        </p:nvSpPr>
        <p:spPr>
          <a:xfrm>
            <a:off x="1060704" y="4965192"/>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Driver's advocate</a:t>
            </a:r>
            <a:endParaRPr lang="en-US" sz="1350" dirty="0"/>
          </a:p>
        </p:txBody>
      </p:sp>
      <p:sp>
        <p:nvSpPr>
          <p:cNvPr id="48" name="node-42"/>
          <p:cNvSpPr/>
          <p:nvPr/>
        </p:nvSpPr>
        <p:spPr>
          <a:xfrm>
            <a:off x="2853614" y="4069080"/>
            <a:ext cx="1874520" cy="1554480"/>
          </a:xfrm>
          <a:prstGeom prst="roundRect">
            <a:avLst>
              <a:gd name="adj" fmla="val 5882"/>
            </a:avLst>
          </a:prstGeom>
          <a:solidFill>
            <a:schemeClr val="tx1"/>
          </a:solidFill>
          <a:ln/>
        </p:spPr>
      </p:sp>
      <p:pic>
        <p:nvPicPr>
          <p:cNvPr id="49" name="icon-43" descr="preencoded.png">    </p:cNvPr>
          <p:cNvPicPr>
            <a:picLocks noChangeAspect="1"/>
          </p:cNvPicPr>
          <p:nvPr/>
        </p:nvPicPr>
        <p:blipFill>
          <a:blip r:embed="rId10"/>
          <a:stretch>
            <a:fillRect/>
          </a:stretch>
        </p:blipFill>
        <p:spPr>
          <a:xfrm>
            <a:off x="2981630" y="4197096"/>
            <a:ext cx="292608" cy="292608"/>
          </a:xfrm>
          <a:prstGeom prst="rect">
            <a:avLst/>
          </a:prstGeom>
        </p:spPr>
      </p:pic>
      <p:sp>
        <p:nvSpPr>
          <p:cNvPr id="50" name="node-title-44"/>
          <p:cNvSpPr txBox="1"/>
          <p:nvPr/>
        </p:nvSpPr>
        <p:spPr>
          <a:xfrm>
            <a:off x="3365678" y="4169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Judge</a:t>
            </a:r>
            <a:endParaRPr lang="en-US" sz="1400" dirty="0"/>
          </a:p>
        </p:txBody>
      </p:sp>
      <p:sp>
        <p:nvSpPr>
          <p:cNvPr id="51" name="node-sub-45"/>
          <p:cNvSpPr txBox="1"/>
          <p:nvPr/>
        </p:nvSpPr>
        <p:spPr>
          <a:xfrm>
            <a:off x="2981630" y="4562856"/>
            <a:ext cx="1618488" cy="1024128"/>
          </a:xfrm>
          <a:prstGeom prst="rect">
            <a:avLst/>
          </a:prstGeom>
          <a:noFill/>
          <a:ln/>
        </p:spPr>
        <p:txBody>
          <a:bodyPr wrap="square" lIns="0" tIns="0" rIns="0" bIns="0" rtlCol="0" anchor="t"/>
          <a:lstStyle/>
          <a:p>
            <a:pPr indent="0" marL="0">
              <a:buNone/>
            </a:pPr>
            <a:r>
              <a:rPr lang="en-US" sz="1100" dirty="0">
                <a:solidFill>
                  <a:schemeClr val="bg2"/>
                </a:solidFill>
              </a:rPr>
              <a:t>Rules from both arguments and the case file</a:t>
            </a:r>
            <a:endParaRPr lang="en-US" sz="1100" dirty="0"/>
          </a:p>
        </p:txBody>
      </p:sp>
      <p:sp>
        <p:nvSpPr>
          <p:cNvPr id="52" name="node-46"/>
          <p:cNvSpPr/>
          <p:nvPr/>
        </p:nvSpPr>
        <p:spPr>
          <a:xfrm>
            <a:off x="5158588" y="4069080"/>
            <a:ext cx="1874520" cy="1554480"/>
          </a:xfrm>
          <a:prstGeom prst="roundRect">
            <a:avLst>
              <a:gd name="adj" fmla="val 5882"/>
            </a:avLst>
          </a:prstGeom>
          <a:solidFill>
            <a:schemeClr val="bg1"/>
          </a:solidFill>
          <a:ln w="15875">
            <a:solidFill>
              <a:schemeClr val="tx2"/>
            </a:solidFill>
            <a:prstDash val="dash"/>
          </a:ln>
        </p:spPr>
      </p:sp>
      <p:pic>
        <p:nvPicPr>
          <p:cNvPr id="53" name="icon-47" descr="preencoded.png">    </p:cNvPr>
          <p:cNvPicPr>
            <a:picLocks noChangeAspect="1"/>
          </p:cNvPicPr>
          <p:nvPr/>
        </p:nvPicPr>
        <p:blipFill>
          <a:blip r:embed="rId11"/>
          <a:stretch>
            <a:fillRect/>
          </a:stretch>
        </p:blipFill>
        <p:spPr>
          <a:xfrm>
            <a:off x="5286604" y="4197096"/>
            <a:ext cx="292608" cy="292608"/>
          </a:xfrm>
          <a:prstGeom prst="rect">
            <a:avLst/>
          </a:prstGeom>
        </p:spPr>
      </p:pic>
      <p:sp>
        <p:nvSpPr>
          <p:cNvPr id="54" name="node-title-48"/>
          <p:cNvSpPr txBox="1"/>
          <p:nvPr/>
        </p:nvSpPr>
        <p:spPr>
          <a:xfrm>
            <a:off x="5670652" y="4169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Final checks</a:t>
            </a:r>
            <a:endParaRPr lang="en-US" sz="1400" dirty="0"/>
          </a:p>
        </p:txBody>
      </p:sp>
      <p:sp>
        <p:nvSpPr>
          <p:cNvPr id="55" name="node-sub-49"/>
          <p:cNvSpPr txBox="1"/>
          <p:nvPr/>
        </p:nvSpPr>
        <p:spPr>
          <a:xfrm>
            <a:off x="5286604" y="4562856"/>
            <a:ext cx="1618488" cy="1024128"/>
          </a:xfrm>
          <a:prstGeom prst="rect">
            <a:avLst/>
          </a:prstGeom>
          <a:noFill/>
          <a:ln/>
        </p:spPr>
        <p:txBody>
          <a:bodyPr wrap="square" lIns="0" tIns="0" rIns="0" bIns="0" rtlCol="0" anchor="t"/>
          <a:lstStyle/>
          <a:p>
            <a:pPr indent="0" marL="0">
              <a:buNone/>
            </a:pPr>
            <a:r>
              <a:rPr lang="en-US" sz="1100" dirty="0">
                <a:solidFill>
                  <a:schemeClr val="tx2"/>
                </a:solidFill>
              </a:rPr>
              <a:t>Confidence and risk, no AI</a:t>
            </a:r>
            <a:endParaRPr lang="en-US" sz="1100" dirty="0"/>
          </a:p>
        </p:txBody>
      </p:sp>
      <p:sp>
        <p:nvSpPr>
          <p:cNvPr id="56" name="node-50"/>
          <p:cNvSpPr/>
          <p:nvPr/>
        </p:nvSpPr>
        <p:spPr>
          <a:xfrm>
            <a:off x="7463561" y="4069080"/>
            <a:ext cx="1874520" cy="1554480"/>
          </a:xfrm>
          <a:prstGeom prst="roundRect">
            <a:avLst>
              <a:gd name="adj" fmla="val 5882"/>
            </a:avLst>
          </a:prstGeom>
          <a:solidFill>
            <a:schemeClr val="bg1"/>
          </a:solidFill>
          <a:ln w="15875">
            <a:solidFill>
              <a:schemeClr val="tx2"/>
            </a:solidFill>
            <a:prstDash val="dash"/>
          </a:ln>
        </p:spPr>
      </p:sp>
      <p:pic>
        <p:nvPicPr>
          <p:cNvPr id="57" name="icon-51" descr="preencoded.png">    </p:cNvPr>
          <p:cNvPicPr>
            <a:picLocks noChangeAspect="1"/>
          </p:cNvPicPr>
          <p:nvPr/>
        </p:nvPicPr>
        <p:blipFill>
          <a:blip r:embed="rId12"/>
          <a:stretch>
            <a:fillRect/>
          </a:stretch>
        </p:blipFill>
        <p:spPr>
          <a:xfrm>
            <a:off x="7591577" y="4197096"/>
            <a:ext cx="292608" cy="292608"/>
          </a:xfrm>
          <a:prstGeom prst="rect">
            <a:avLst/>
          </a:prstGeom>
        </p:spPr>
      </p:pic>
      <p:sp>
        <p:nvSpPr>
          <p:cNvPr id="58" name="node-title-52"/>
          <p:cNvSpPr txBox="1"/>
          <p:nvPr/>
        </p:nvSpPr>
        <p:spPr>
          <a:xfrm>
            <a:off x="7975625" y="4169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Compliance</a:t>
            </a:r>
            <a:endParaRPr lang="en-US" sz="1400" dirty="0"/>
          </a:p>
        </p:txBody>
      </p:sp>
      <p:sp>
        <p:nvSpPr>
          <p:cNvPr id="59" name="node-sub-53"/>
          <p:cNvSpPr txBox="1"/>
          <p:nvPr/>
        </p:nvSpPr>
        <p:spPr>
          <a:xfrm>
            <a:off x="7591577" y="4562856"/>
            <a:ext cx="1618488" cy="1024128"/>
          </a:xfrm>
          <a:prstGeom prst="rect">
            <a:avLst/>
          </a:prstGeom>
          <a:noFill/>
          <a:ln/>
        </p:spPr>
        <p:txBody>
          <a:bodyPr wrap="square" lIns="0" tIns="0" rIns="0" bIns="0" rtlCol="0" anchor="t"/>
          <a:lstStyle/>
          <a:p>
            <a:pPr indent="0" marL="0">
              <a:buNone/>
            </a:pPr>
            <a:r>
              <a:rPr lang="en-US" sz="1100" dirty="0">
                <a:solidFill>
                  <a:schemeClr val="tx2"/>
                </a:solidFill>
              </a:rPr>
              <a:t>Can veto a ruling, never writes one</a:t>
            </a:r>
            <a:endParaRPr lang="en-US" sz="1100" dirty="0"/>
          </a:p>
        </p:txBody>
      </p:sp>
      <p:sp>
        <p:nvSpPr>
          <p:cNvPr id="60" name="node-54"/>
          <p:cNvSpPr/>
          <p:nvPr/>
        </p:nvSpPr>
        <p:spPr>
          <a:xfrm>
            <a:off x="9768535" y="4069080"/>
            <a:ext cx="1874520" cy="713232"/>
          </a:xfrm>
          <a:prstGeom prst="roundRect">
            <a:avLst>
              <a:gd name="adj" fmla="val 12821"/>
            </a:avLst>
          </a:prstGeom>
          <a:solidFill>
            <a:schemeClr val="accent3">
              <a:alpha val="14000"/>
            </a:schemeClr>
          </a:solidFill>
          <a:ln w="15875">
            <a:solidFill>
              <a:schemeClr val="accent3"/>
            </a:solidFill>
            <a:prstDash val="solid"/>
          </a:ln>
        </p:spPr>
      </p:sp>
      <p:pic>
        <p:nvPicPr>
          <p:cNvPr id="61" name="icon-55" descr="preencoded.png">    </p:cNvPr>
          <p:cNvPicPr>
            <a:picLocks noChangeAspect="1"/>
          </p:cNvPicPr>
          <p:nvPr/>
        </p:nvPicPr>
        <p:blipFill>
          <a:blip r:embed="rId13"/>
          <a:stretch>
            <a:fillRect/>
          </a:stretch>
        </p:blipFill>
        <p:spPr>
          <a:xfrm>
            <a:off x="9896551" y="4197096"/>
            <a:ext cx="292608" cy="292608"/>
          </a:xfrm>
          <a:prstGeom prst="rect">
            <a:avLst/>
          </a:prstGeom>
        </p:spPr>
      </p:pic>
      <p:sp>
        <p:nvSpPr>
          <p:cNvPr id="62" name="node-title-56"/>
          <p:cNvSpPr txBox="1"/>
          <p:nvPr/>
        </p:nvSpPr>
        <p:spPr>
          <a:xfrm>
            <a:off x="10280599" y="4123944"/>
            <a:ext cx="1234440" cy="603504"/>
          </a:xfrm>
          <a:prstGeom prst="rect">
            <a:avLst/>
          </a:prstGeom>
          <a:noFill/>
          <a:ln/>
        </p:spPr>
        <p:txBody>
          <a:bodyPr wrap="square" lIns="0" tIns="0" rIns="0" bIns="0" rtlCol="0" anchor="ctr"/>
          <a:lstStyle/>
          <a:p>
            <a:pPr indent="0" marL="0">
              <a:buNone/>
            </a:pPr>
            <a:r>
              <a:rPr lang="en-US" sz="1350" b="1" dirty="0">
                <a:solidFill>
                  <a:schemeClr val="tx1"/>
                </a:solidFill>
              </a:rPr>
              <a:t>Decided</a:t>
            </a:r>
            <a:endParaRPr lang="en-US" sz="1350" dirty="0"/>
          </a:p>
        </p:txBody>
      </p:sp>
      <p:sp>
        <p:nvSpPr>
          <p:cNvPr id="63" name="node-57"/>
          <p:cNvSpPr/>
          <p:nvPr/>
        </p:nvSpPr>
        <p:spPr>
          <a:xfrm>
            <a:off x="9768535" y="4910328"/>
            <a:ext cx="1874520" cy="713232"/>
          </a:xfrm>
          <a:prstGeom prst="roundRect">
            <a:avLst>
              <a:gd name="adj" fmla="val 12821"/>
            </a:avLst>
          </a:prstGeom>
          <a:solidFill>
            <a:schemeClr val="accent4">
              <a:alpha val="14000"/>
            </a:schemeClr>
          </a:solidFill>
          <a:ln w="15875">
            <a:solidFill>
              <a:schemeClr val="accent4"/>
            </a:solidFill>
            <a:prstDash val="solid"/>
          </a:ln>
        </p:spPr>
      </p:sp>
      <p:pic>
        <p:nvPicPr>
          <p:cNvPr id="64" name="icon-58" descr="preencoded.png">    </p:cNvPr>
          <p:cNvPicPr>
            <a:picLocks noChangeAspect="1"/>
          </p:cNvPicPr>
          <p:nvPr/>
        </p:nvPicPr>
        <p:blipFill>
          <a:blip r:embed="rId14"/>
          <a:stretch>
            <a:fillRect/>
          </a:stretch>
        </p:blipFill>
        <p:spPr>
          <a:xfrm>
            <a:off x="9896551" y="5038344"/>
            <a:ext cx="292608" cy="292608"/>
          </a:xfrm>
          <a:prstGeom prst="rect">
            <a:avLst/>
          </a:prstGeom>
        </p:spPr>
      </p:pic>
      <p:sp>
        <p:nvSpPr>
          <p:cNvPr id="65" name="node-title-59"/>
          <p:cNvSpPr txBox="1"/>
          <p:nvPr/>
        </p:nvSpPr>
        <p:spPr>
          <a:xfrm>
            <a:off x="10280599" y="4965192"/>
            <a:ext cx="1234440" cy="603504"/>
          </a:xfrm>
          <a:prstGeom prst="rect">
            <a:avLst/>
          </a:prstGeom>
          <a:noFill/>
          <a:ln/>
        </p:spPr>
        <p:txBody>
          <a:bodyPr wrap="square" lIns="0" tIns="0" rIns="0" bIns="0" rtlCol="0" anchor="ctr"/>
          <a:lstStyle/>
          <a:p>
            <a:pPr indent="0" marL="0">
              <a:buNone/>
            </a:pPr>
            <a:r>
              <a:rPr lang="en-US" sz="1350" b="1" dirty="0">
                <a:solidFill>
                  <a:schemeClr val="tx1"/>
                </a:solidFill>
              </a:rPr>
              <a:t>A person</a:t>
            </a:r>
            <a:endParaRPr lang="en-US" sz="1350" dirty="0"/>
          </a:p>
        </p:txBody>
      </p:sp>
      <p:sp>
        <p:nvSpPr>
          <p:cNvPr id="66" name="arrow-60"/>
          <p:cNvSpPr/>
          <p:nvPr/>
        </p:nvSpPr>
        <p:spPr>
          <a:xfrm>
            <a:off x="2423160" y="4425696"/>
            <a:ext cx="430454" cy="0"/>
          </a:xfrm>
          <a:prstGeom prst="line">
            <a:avLst/>
          </a:prstGeom>
          <a:noFill/>
          <a:ln w="19050">
            <a:solidFill>
              <a:schemeClr val="tx2"/>
            </a:solidFill>
            <a:prstDash val="solid"/>
            <a:tailEnd type="triangle"/>
          </a:ln>
        </p:spPr>
      </p:sp>
      <p:sp>
        <p:nvSpPr>
          <p:cNvPr id="67" name="arrow-61"/>
          <p:cNvSpPr/>
          <p:nvPr/>
        </p:nvSpPr>
        <p:spPr>
          <a:xfrm>
            <a:off x="2423160" y="5266944"/>
            <a:ext cx="430454" cy="0"/>
          </a:xfrm>
          <a:prstGeom prst="line">
            <a:avLst/>
          </a:prstGeom>
          <a:noFill/>
          <a:ln w="19050">
            <a:solidFill>
              <a:schemeClr val="tx2"/>
            </a:solidFill>
            <a:prstDash val="solid"/>
            <a:tailEnd type="triangle"/>
          </a:ln>
        </p:spPr>
      </p:sp>
      <p:sp>
        <p:nvSpPr>
          <p:cNvPr id="68" name="arrow-62"/>
          <p:cNvSpPr/>
          <p:nvPr/>
        </p:nvSpPr>
        <p:spPr>
          <a:xfrm>
            <a:off x="4728134" y="4846320"/>
            <a:ext cx="430454" cy="0"/>
          </a:xfrm>
          <a:prstGeom prst="line">
            <a:avLst/>
          </a:prstGeom>
          <a:noFill/>
          <a:ln w="19050">
            <a:solidFill>
              <a:schemeClr val="tx2"/>
            </a:solidFill>
            <a:prstDash val="solid"/>
            <a:tailEnd type="triangle"/>
          </a:ln>
        </p:spPr>
      </p:sp>
      <p:sp>
        <p:nvSpPr>
          <p:cNvPr id="69" name="arrow-63"/>
          <p:cNvSpPr/>
          <p:nvPr/>
        </p:nvSpPr>
        <p:spPr>
          <a:xfrm>
            <a:off x="7033108" y="4846320"/>
            <a:ext cx="430454" cy="0"/>
          </a:xfrm>
          <a:prstGeom prst="line">
            <a:avLst/>
          </a:prstGeom>
          <a:noFill/>
          <a:ln w="19050">
            <a:solidFill>
              <a:schemeClr val="tx2"/>
            </a:solidFill>
            <a:prstDash val="solid"/>
            <a:tailEnd type="triangle"/>
          </a:ln>
        </p:spPr>
      </p:sp>
      <p:sp>
        <p:nvSpPr>
          <p:cNvPr id="70" name="arrow-64"/>
          <p:cNvSpPr/>
          <p:nvPr/>
        </p:nvSpPr>
        <p:spPr>
          <a:xfrm>
            <a:off x="9338081" y="4425696"/>
            <a:ext cx="430454" cy="0"/>
          </a:xfrm>
          <a:prstGeom prst="line">
            <a:avLst/>
          </a:prstGeom>
          <a:noFill/>
          <a:ln w="19050">
            <a:solidFill>
              <a:schemeClr val="accent3"/>
            </a:solidFill>
            <a:prstDash val="solid"/>
            <a:tailEnd type="triangle"/>
          </a:ln>
        </p:spPr>
      </p:sp>
      <p:sp>
        <p:nvSpPr>
          <p:cNvPr id="71" name="arrow-65"/>
          <p:cNvSpPr/>
          <p:nvPr/>
        </p:nvSpPr>
        <p:spPr>
          <a:xfrm>
            <a:off x="9338081" y="5266944"/>
            <a:ext cx="430454" cy="0"/>
          </a:xfrm>
          <a:prstGeom prst="line">
            <a:avLst/>
          </a:prstGeom>
          <a:noFill/>
          <a:ln w="19050">
            <a:solidFill>
              <a:schemeClr val="accent4"/>
            </a:solidFill>
            <a:prstDash val="solid"/>
            <a:tailEnd type="triangle"/>
          </a:ln>
        </p:spPr>
      </p:sp>
      <p:sp>
        <p:nvSpPr>
          <p:cNvPr id="72" name="legend-key-66"/>
          <p:cNvSpPr/>
          <p:nvPr/>
        </p:nvSpPr>
        <p:spPr>
          <a:xfrm>
            <a:off x="548640" y="5998464"/>
            <a:ext cx="292608" cy="201168"/>
          </a:xfrm>
          <a:prstGeom prst="roundRect">
            <a:avLst>
              <a:gd name="adj" fmla="val 22727"/>
            </a:avLst>
          </a:prstGeom>
          <a:solidFill>
            <a:schemeClr val="tx1"/>
          </a:solidFill>
          <a:ln/>
        </p:spPr>
      </p:sp>
      <p:sp>
        <p:nvSpPr>
          <p:cNvPr id="73" name="legend-text-67"/>
          <p:cNvSpPr txBox="1"/>
          <p:nvPr/>
        </p:nvSpPr>
        <p:spPr>
          <a:xfrm>
            <a:off x="93268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AI step (model call)</a:t>
            </a:r>
            <a:endParaRPr lang="en-US" sz="1100" dirty="0"/>
          </a:p>
        </p:txBody>
      </p:sp>
      <p:sp>
        <p:nvSpPr>
          <p:cNvPr id="74" name="legend-key-68"/>
          <p:cNvSpPr/>
          <p:nvPr/>
        </p:nvSpPr>
        <p:spPr>
          <a:xfrm>
            <a:off x="2788920" y="5998464"/>
            <a:ext cx="292608" cy="201168"/>
          </a:xfrm>
          <a:prstGeom prst="roundRect">
            <a:avLst>
              <a:gd name="adj" fmla="val 22727"/>
            </a:avLst>
          </a:prstGeom>
          <a:solidFill>
            <a:schemeClr val="bg1"/>
          </a:solidFill>
          <a:ln w="15875">
            <a:solidFill>
              <a:schemeClr val="tx2"/>
            </a:solidFill>
            <a:prstDash val="dash"/>
          </a:ln>
        </p:spPr>
      </p:sp>
      <p:sp>
        <p:nvSpPr>
          <p:cNvPr id="75" name="legend-text-69"/>
          <p:cNvSpPr txBox="1"/>
          <p:nvPr/>
        </p:nvSpPr>
        <p:spPr>
          <a:xfrm>
            <a:off x="317296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Plain code, no AI</a:t>
            </a:r>
            <a:endParaRPr lang="en-US" sz="1100" dirty="0"/>
          </a:p>
        </p:txBody>
      </p:sp>
      <p:sp>
        <p:nvSpPr>
          <p:cNvPr id="76" name="legend-key-70"/>
          <p:cNvSpPr/>
          <p:nvPr/>
        </p:nvSpPr>
        <p:spPr>
          <a:xfrm>
            <a:off x="5029200" y="5998464"/>
            <a:ext cx="292608" cy="201168"/>
          </a:xfrm>
          <a:prstGeom prst="roundRect">
            <a:avLst>
              <a:gd name="adj" fmla="val 22727"/>
            </a:avLst>
          </a:prstGeom>
          <a:solidFill>
            <a:schemeClr val="accent4">
              <a:alpha val="14000"/>
            </a:schemeClr>
          </a:solidFill>
          <a:ln w="15875">
            <a:solidFill>
              <a:schemeClr val="accent4"/>
            </a:solidFill>
            <a:prstDash val="solid"/>
          </a:ln>
        </p:spPr>
      </p:sp>
      <p:sp>
        <p:nvSpPr>
          <p:cNvPr id="77" name="legend-text-71"/>
          <p:cNvSpPr txBox="1"/>
          <p:nvPr/>
        </p:nvSpPr>
        <p:spPr>
          <a:xfrm>
            <a:off x="541324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 person decides</a:t>
            </a:r>
            <a:endParaRPr lang="en-US" sz="1100" dirty="0"/>
          </a:p>
        </p:txBody>
      </p:sp>
      <p:sp>
        <p:nvSpPr>
          <p:cNvPr id="78" name="legend-key-72"/>
          <p:cNvSpPr/>
          <p:nvPr/>
        </p:nvSpPr>
        <p:spPr>
          <a:xfrm>
            <a:off x="7269480" y="5998464"/>
            <a:ext cx="292608" cy="201168"/>
          </a:xfrm>
          <a:prstGeom prst="roundRect">
            <a:avLst>
              <a:gd name="adj" fmla="val 22727"/>
            </a:avLst>
          </a:prstGeom>
          <a:solidFill>
            <a:schemeClr val="accent1"/>
          </a:solidFill>
          <a:ln/>
        </p:spPr>
      </p:sp>
      <p:sp>
        <p:nvSpPr>
          <p:cNvPr id="79" name="legend-text-73"/>
          <p:cNvSpPr txBox="1"/>
          <p:nvPr/>
        </p:nvSpPr>
        <p:spPr>
          <a:xfrm>
            <a:off x="765352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Rider's side</a:t>
            </a:r>
            <a:endParaRPr lang="en-US" sz="1100" dirty="0"/>
          </a:p>
        </p:txBody>
      </p:sp>
      <p:sp>
        <p:nvSpPr>
          <p:cNvPr id="80" name="legend-key-74"/>
          <p:cNvSpPr/>
          <p:nvPr/>
        </p:nvSpPr>
        <p:spPr>
          <a:xfrm>
            <a:off x="9509760" y="5998464"/>
            <a:ext cx="292608" cy="201168"/>
          </a:xfrm>
          <a:prstGeom prst="roundRect">
            <a:avLst>
              <a:gd name="adj" fmla="val 22727"/>
            </a:avLst>
          </a:prstGeom>
          <a:solidFill>
            <a:schemeClr val="accent2"/>
          </a:solidFill>
          <a:ln/>
        </p:spPr>
      </p:sp>
      <p:sp>
        <p:nvSpPr>
          <p:cNvPr id="81" name="legend-text-75"/>
          <p:cNvSpPr txBox="1"/>
          <p:nvPr/>
        </p:nvSpPr>
        <p:spPr>
          <a:xfrm>
            <a:off x="989380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Driver's side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Each agent sees only what it needs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 limits are enforced in code, not requested in a prompt.</a:t>
            </a:r>
            <a:endParaRPr lang="en-US" sz="1500" dirty="0"/>
          </a:p>
        </p:txBody>
      </p:sp>
      <p:sp>
        <p:nvSpPr>
          <p:cNvPr id="4" name="agent-0"/>
          <p:cNvSpPr/>
          <p:nvPr/>
        </p:nvSpPr>
        <p:spPr>
          <a:xfrm>
            <a:off x="548640"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5" name="agent-0-disc"/>
          <p:cNvSpPr/>
          <p:nvPr/>
        </p:nvSpPr>
        <p:spPr>
          <a:xfrm>
            <a:off x="777240" y="2103120"/>
            <a:ext cx="640080" cy="640080"/>
          </a:xfrm>
          <a:prstGeom prst="ellipse">
            <a:avLst/>
          </a:prstGeom>
          <a:solidFill>
            <a:schemeClr val="tx1"/>
          </a:solidFill>
          <a:ln/>
        </p:spPr>
      </p:sp>
      <p:pic>
        <p:nvPicPr>
          <p:cNvPr id="6" name="agent-0-icon" descr="preencoded.png">    </p:cNvPr>
          <p:cNvPicPr>
            <a:picLocks noChangeAspect="1"/>
          </p:cNvPicPr>
          <p:nvPr/>
        </p:nvPicPr>
        <p:blipFill>
          <a:blip r:embed="rId1"/>
          <a:stretch>
            <a:fillRect/>
          </a:stretch>
        </p:blipFill>
        <p:spPr>
          <a:xfrm>
            <a:off x="914400" y="2240280"/>
            <a:ext cx="365760" cy="365760"/>
          </a:xfrm>
          <a:prstGeom prst="rect">
            <a:avLst/>
          </a:prstGeom>
        </p:spPr>
      </p:pic>
      <p:sp>
        <p:nvSpPr>
          <p:cNvPr id="7" name="agent-0-name"/>
          <p:cNvSpPr txBox="1"/>
          <p:nvPr/>
        </p:nvSpPr>
        <p:spPr>
          <a:xfrm>
            <a:off x="777240"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Triage</a:t>
            </a:r>
            <a:endParaRPr lang="en-US" sz="1600" dirty="0"/>
          </a:p>
        </p:txBody>
      </p:sp>
      <p:sp>
        <p:nvSpPr>
          <p:cNvPr id="8" name="agent-0-sees"/>
          <p:cNvSpPr txBox="1"/>
          <p:nvPr/>
        </p:nvSpPr>
        <p:spPr>
          <a:xfrm>
            <a:off x="777240"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report, in the person's words</a:t>
            </a:r>
            <a:endParaRPr lang="en-US" sz="1100" dirty="0"/>
          </a:p>
        </p:txBody>
      </p:sp>
      <p:sp>
        <p:nvSpPr>
          <p:cNvPr id="9" name="agent-0-never"/>
          <p:cNvSpPr txBox="1"/>
          <p:nvPr/>
        </p:nvSpPr>
        <p:spPr>
          <a:xfrm>
            <a:off x="777240"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Any trip records</a:t>
            </a:r>
            <a:endParaRPr lang="en-US" sz="1100" dirty="0"/>
          </a:p>
        </p:txBody>
      </p:sp>
      <p:sp>
        <p:nvSpPr>
          <p:cNvPr id="10" name="agent-1"/>
          <p:cNvSpPr/>
          <p:nvPr/>
        </p:nvSpPr>
        <p:spPr>
          <a:xfrm>
            <a:off x="2813243"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1" name="agent-1-disc"/>
          <p:cNvSpPr/>
          <p:nvPr/>
        </p:nvSpPr>
        <p:spPr>
          <a:xfrm>
            <a:off x="3041843" y="2103120"/>
            <a:ext cx="640080" cy="640080"/>
          </a:xfrm>
          <a:prstGeom prst="ellipse">
            <a:avLst/>
          </a:prstGeom>
          <a:solidFill>
            <a:schemeClr val="tx1"/>
          </a:solidFill>
          <a:ln/>
        </p:spPr>
      </p:sp>
      <p:pic>
        <p:nvPicPr>
          <p:cNvPr id="12" name="agent-1-icon" descr="preencoded.png">    </p:cNvPr>
          <p:cNvPicPr>
            <a:picLocks noChangeAspect="1"/>
          </p:cNvPicPr>
          <p:nvPr/>
        </p:nvPicPr>
        <p:blipFill>
          <a:blip r:embed="rId2"/>
          <a:stretch>
            <a:fillRect/>
          </a:stretch>
        </p:blipFill>
        <p:spPr>
          <a:xfrm>
            <a:off x="3179003" y="2240280"/>
            <a:ext cx="365760" cy="365760"/>
          </a:xfrm>
          <a:prstGeom prst="rect">
            <a:avLst/>
          </a:prstGeom>
        </p:spPr>
      </p:pic>
      <p:sp>
        <p:nvSpPr>
          <p:cNvPr id="13" name="agent-1-name"/>
          <p:cNvSpPr txBox="1"/>
          <p:nvPr/>
        </p:nvSpPr>
        <p:spPr>
          <a:xfrm>
            <a:off x="3041843"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Evidence Collection</a:t>
            </a:r>
            <a:endParaRPr lang="en-US" sz="1600" dirty="0"/>
          </a:p>
        </p:txBody>
      </p:sp>
      <p:sp>
        <p:nvSpPr>
          <p:cNvPr id="14" name="agent-1-sees"/>
          <p:cNvSpPr txBox="1"/>
          <p:nvPr/>
        </p:nvSpPr>
        <p:spPr>
          <a:xfrm>
            <a:off x="3041843"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trip records. The only agent that can</a:t>
            </a:r>
            <a:endParaRPr lang="en-US" sz="1100" dirty="0"/>
          </a:p>
        </p:txBody>
      </p:sp>
      <p:sp>
        <p:nvSpPr>
          <p:cNvPr id="15" name="agent-1-never"/>
          <p:cNvSpPr txBox="1"/>
          <p:nvPr/>
        </p:nvSpPr>
        <p:spPr>
          <a:xfrm>
            <a:off x="3041843"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a:t>
            </a:r>
            <a:endParaRPr lang="en-US" sz="1100" dirty="0"/>
          </a:p>
        </p:txBody>
      </p:sp>
      <p:sp>
        <p:nvSpPr>
          <p:cNvPr id="16" name="agent-2"/>
          <p:cNvSpPr/>
          <p:nvPr/>
        </p:nvSpPr>
        <p:spPr>
          <a:xfrm>
            <a:off x="5077846"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7" name="agent-2-disc"/>
          <p:cNvSpPr/>
          <p:nvPr/>
        </p:nvSpPr>
        <p:spPr>
          <a:xfrm>
            <a:off x="5306446" y="2103120"/>
            <a:ext cx="640080" cy="640080"/>
          </a:xfrm>
          <a:prstGeom prst="ellipse">
            <a:avLst/>
          </a:prstGeom>
          <a:solidFill>
            <a:schemeClr val="accent1"/>
          </a:solidFill>
          <a:ln/>
        </p:spPr>
      </p:sp>
      <p:pic>
        <p:nvPicPr>
          <p:cNvPr id="18" name="agent-2-icon" descr="preencoded.png">    </p:cNvPr>
          <p:cNvPicPr>
            <a:picLocks noChangeAspect="1"/>
          </p:cNvPicPr>
          <p:nvPr/>
        </p:nvPicPr>
        <p:blipFill>
          <a:blip r:embed="rId3"/>
          <a:stretch>
            <a:fillRect/>
          </a:stretch>
        </p:blipFill>
        <p:spPr>
          <a:xfrm>
            <a:off x="5443606" y="2240280"/>
            <a:ext cx="365760" cy="365760"/>
          </a:xfrm>
          <a:prstGeom prst="rect">
            <a:avLst/>
          </a:prstGeom>
        </p:spPr>
      </p:pic>
      <p:sp>
        <p:nvSpPr>
          <p:cNvPr id="19" name="agent-2-name"/>
          <p:cNvSpPr txBox="1"/>
          <p:nvPr/>
        </p:nvSpPr>
        <p:spPr>
          <a:xfrm>
            <a:off x="5306446"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Rider's advocate</a:t>
            </a:r>
            <a:endParaRPr lang="en-US" sz="1600" dirty="0"/>
          </a:p>
        </p:txBody>
      </p:sp>
      <p:sp>
        <p:nvSpPr>
          <p:cNvPr id="20" name="agent-2-sees"/>
          <p:cNvSpPr txBox="1"/>
          <p:nvPr/>
        </p:nvSpPr>
        <p:spPr>
          <a:xfrm>
            <a:off x="5306446"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1" name="agent-2-never"/>
          <p:cNvSpPr txBox="1"/>
          <p:nvPr/>
        </p:nvSpPr>
        <p:spPr>
          <a:xfrm>
            <a:off x="5306446"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2" name="agent-3"/>
          <p:cNvSpPr/>
          <p:nvPr/>
        </p:nvSpPr>
        <p:spPr>
          <a:xfrm>
            <a:off x="7342449"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3" name="agent-3-disc"/>
          <p:cNvSpPr/>
          <p:nvPr/>
        </p:nvSpPr>
        <p:spPr>
          <a:xfrm>
            <a:off x="7571049" y="2103120"/>
            <a:ext cx="640080" cy="640080"/>
          </a:xfrm>
          <a:prstGeom prst="ellipse">
            <a:avLst/>
          </a:prstGeom>
          <a:solidFill>
            <a:schemeClr val="accent2"/>
          </a:solidFill>
          <a:ln/>
        </p:spPr>
      </p:sp>
      <p:pic>
        <p:nvPicPr>
          <p:cNvPr id="24" name="agent-3-icon" descr="preencoded.png">    </p:cNvPr>
          <p:cNvPicPr>
            <a:picLocks noChangeAspect="1"/>
          </p:cNvPicPr>
          <p:nvPr/>
        </p:nvPicPr>
        <p:blipFill>
          <a:blip r:embed="rId4"/>
          <a:stretch>
            <a:fillRect/>
          </a:stretch>
        </p:blipFill>
        <p:spPr>
          <a:xfrm>
            <a:off x="7708209" y="2240280"/>
            <a:ext cx="365760" cy="365760"/>
          </a:xfrm>
          <a:prstGeom prst="rect">
            <a:avLst/>
          </a:prstGeom>
        </p:spPr>
      </p:pic>
      <p:sp>
        <p:nvSpPr>
          <p:cNvPr id="25" name="agent-3-name"/>
          <p:cNvSpPr txBox="1"/>
          <p:nvPr/>
        </p:nvSpPr>
        <p:spPr>
          <a:xfrm>
            <a:off x="7571049"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Driver's advocate</a:t>
            </a:r>
            <a:endParaRPr lang="en-US" sz="1600" dirty="0"/>
          </a:p>
        </p:txBody>
      </p:sp>
      <p:sp>
        <p:nvSpPr>
          <p:cNvPr id="26" name="agent-3-sees"/>
          <p:cNvSpPr txBox="1"/>
          <p:nvPr/>
        </p:nvSpPr>
        <p:spPr>
          <a:xfrm>
            <a:off x="7571049"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7" name="agent-3-never"/>
          <p:cNvSpPr txBox="1"/>
          <p:nvPr/>
        </p:nvSpPr>
        <p:spPr>
          <a:xfrm>
            <a:off x="7571049"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8" name="agent-4"/>
          <p:cNvSpPr/>
          <p:nvPr/>
        </p:nvSpPr>
        <p:spPr>
          <a:xfrm>
            <a:off x="9607052"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9" name="agent-4-disc"/>
          <p:cNvSpPr/>
          <p:nvPr/>
        </p:nvSpPr>
        <p:spPr>
          <a:xfrm>
            <a:off x="9835652" y="2103120"/>
            <a:ext cx="640080" cy="640080"/>
          </a:xfrm>
          <a:prstGeom prst="ellipse">
            <a:avLst/>
          </a:prstGeom>
          <a:solidFill>
            <a:schemeClr val="tx1"/>
          </a:solidFill>
          <a:ln/>
        </p:spPr>
      </p:sp>
      <p:pic>
        <p:nvPicPr>
          <p:cNvPr id="30" name="agent-4-icon" descr="preencoded.png">    </p:cNvPr>
          <p:cNvPicPr>
            <a:picLocks noChangeAspect="1"/>
          </p:cNvPicPr>
          <p:nvPr/>
        </p:nvPicPr>
        <p:blipFill>
          <a:blip r:embed="rId5"/>
          <a:stretch>
            <a:fillRect/>
          </a:stretch>
        </p:blipFill>
        <p:spPr>
          <a:xfrm>
            <a:off x="9972812" y="2240280"/>
            <a:ext cx="365760" cy="365760"/>
          </a:xfrm>
          <a:prstGeom prst="rect">
            <a:avLst/>
          </a:prstGeom>
        </p:spPr>
      </p:pic>
      <p:sp>
        <p:nvSpPr>
          <p:cNvPr id="31" name="agent-4-name"/>
          <p:cNvSpPr txBox="1"/>
          <p:nvPr/>
        </p:nvSpPr>
        <p:spPr>
          <a:xfrm>
            <a:off x="9835652"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Judge</a:t>
            </a:r>
            <a:endParaRPr lang="en-US" sz="1600" dirty="0"/>
          </a:p>
        </p:txBody>
      </p:sp>
      <p:sp>
        <p:nvSpPr>
          <p:cNvPr id="32" name="agent-4-sees"/>
          <p:cNvSpPr txBox="1"/>
          <p:nvPr/>
        </p:nvSpPr>
        <p:spPr>
          <a:xfrm>
            <a:off x="9835652"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arguments</a:t>
            </a:r>
            <a:endParaRPr lang="en-US" sz="1100" dirty="0"/>
          </a:p>
        </p:txBody>
      </p:sp>
      <p:sp>
        <p:nvSpPr>
          <p:cNvPr id="33" name="agent-4-never"/>
          <p:cNvSpPr txBox="1"/>
          <p:nvPr/>
        </p:nvSpPr>
        <p:spPr>
          <a:xfrm>
            <a:off x="9835652"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 the raw database</a:t>
            </a:r>
            <a:endParaRPr lang="en-US" sz="1100" dirty="0"/>
          </a:p>
        </p:txBody>
      </p:sp>
      <p:pic>
        <p:nvPicPr>
          <p:cNvPr id="34" name="vision-icon" descr="preencoded.png">    </p:cNvPr>
          <p:cNvPicPr>
            <a:picLocks noChangeAspect="1"/>
          </p:cNvPicPr>
          <p:nvPr/>
        </p:nvPicPr>
        <p:blipFill>
          <a:blip r:embed="rId6"/>
          <a:stretch>
            <a:fillRect/>
          </a:stretch>
        </p:blipFill>
        <p:spPr>
          <a:xfrm>
            <a:off x="548640" y="5239512"/>
            <a:ext cx="310896" cy="310896"/>
          </a:xfrm>
          <a:prstGeom prst="rect">
            <a:avLst/>
          </a:prstGeom>
        </p:spPr>
      </p:pic>
      <p:sp>
        <p:nvSpPr>
          <p:cNvPr id="35" name="vision-text"/>
          <p:cNvSpPr txBox="1"/>
          <p:nvPr/>
        </p:nvSpPr>
        <p:spPr>
          <a:xfrm>
            <a:off x="1005840" y="5212080"/>
            <a:ext cx="10637215" cy="365760"/>
          </a:xfrm>
          <a:prstGeom prst="rect">
            <a:avLst/>
          </a:prstGeom>
          <a:noFill/>
          <a:ln/>
        </p:spPr>
        <p:txBody>
          <a:bodyPr wrap="square" lIns="0" tIns="0" rIns="0" bIns="0" rtlCol="0" anchor="ctr"/>
          <a:lstStyle/>
          <a:p>
            <a:pPr indent="0" marL="0">
              <a:buNone/>
            </a:pPr>
            <a:r>
              <a:rPr lang="en-US" sz="1400" b="1" dirty="0">
                <a:solidFill>
                  <a:schemeClr val="tx1"/>
                </a:solidFill>
              </a:rPr>
              <a:t>Photos: </a:t>
            </a:r>
            <a:pPr indent="0" marL="0">
              <a:buNone/>
            </a:pPr>
            <a:r>
              <a:rPr lang="en-US" sz="1400" dirty="0">
                <a:solidFill>
                  <a:schemeClr val="tx1"/>
                </a:solidFill>
              </a:rPr>
              <a:t>a vision model says what it sees; code picks the fee ($40 / $120 / $200).</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Every finding cites evidence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claim that points at nothing in the case file is struck before anyone acts on it.</a:t>
            </a:r>
            <a:endParaRPr lang="en-US" sz="1500" dirty="0"/>
          </a:p>
        </p:txBody>
      </p:sp>
      <p:sp>
        <p:nvSpPr>
          <p:cNvPr id="4" name="step-0"/>
          <p:cNvSpPr/>
          <p:nvPr/>
        </p:nvSpPr>
        <p:spPr>
          <a:xfrm>
            <a:off x="548640"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5" name="step-0-icon" descr="preencoded.png">    </p:cNvPr>
          <p:cNvPicPr>
            <a:picLocks noChangeAspect="1"/>
          </p:cNvPicPr>
          <p:nvPr/>
        </p:nvPicPr>
        <p:blipFill>
          <a:blip r:embed="rId1"/>
          <a:stretch>
            <a:fillRect/>
          </a:stretch>
        </p:blipFill>
        <p:spPr>
          <a:xfrm>
            <a:off x="676656" y="2093976"/>
            <a:ext cx="292608" cy="292608"/>
          </a:xfrm>
          <a:prstGeom prst="rect">
            <a:avLst/>
          </a:prstGeom>
        </p:spPr>
      </p:pic>
      <p:sp>
        <p:nvSpPr>
          <p:cNvPr id="6" name="step-0-title"/>
          <p:cNvSpPr txBox="1"/>
          <p:nvPr/>
        </p:nvSpPr>
        <p:spPr>
          <a:xfrm>
            <a:off x="1060704"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Trip records</a:t>
            </a:r>
            <a:endParaRPr lang="en-US" sz="1400" dirty="0"/>
          </a:p>
        </p:txBody>
      </p:sp>
      <p:sp>
        <p:nvSpPr>
          <p:cNvPr id="7" name="step-0-body"/>
          <p:cNvSpPr txBox="1"/>
          <p:nvPr/>
        </p:nvSpPr>
        <p:spPr>
          <a:xfrm>
            <a:off x="676656"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GPS, routes, fare, messages, photos</a:t>
            </a:r>
            <a:endParaRPr lang="en-US" sz="1200" dirty="0"/>
          </a:p>
        </p:txBody>
      </p:sp>
      <p:sp>
        <p:nvSpPr>
          <p:cNvPr id="8" name="arrow-76"/>
          <p:cNvSpPr/>
          <p:nvPr/>
        </p:nvSpPr>
        <p:spPr>
          <a:xfrm>
            <a:off x="2460285" y="2766060"/>
            <a:ext cx="384048" cy="0"/>
          </a:xfrm>
          <a:prstGeom prst="line">
            <a:avLst/>
          </a:prstGeom>
          <a:noFill/>
          <a:ln w="19050">
            <a:solidFill>
              <a:schemeClr val="tx2"/>
            </a:solidFill>
            <a:prstDash val="solid"/>
            <a:tailEnd type="triangle"/>
          </a:ln>
        </p:spPr>
      </p:sp>
      <p:sp>
        <p:nvSpPr>
          <p:cNvPr id="9" name="step-1"/>
          <p:cNvSpPr/>
          <p:nvPr/>
        </p:nvSpPr>
        <p:spPr>
          <a:xfrm>
            <a:off x="2844333"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10" name="step-1-icon" descr="preencoded.png">    </p:cNvPr>
          <p:cNvPicPr>
            <a:picLocks noChangeAspect="1"/>
          </p:cNvPicPr>
          <p:nvPr/>
        </p:nvPicPr>
        <p:blipFill>
          <a:blip r:embed="rId2"/>
          <a:stretch>
            <a:fillRect/>
          </a:stretch>
        </p:blipFill>
        <p:spPr>
          <a:xfrm>
            <a:off x="2972349" y="2093976"/>
            <a:ext cx="292608" cy="292608"/>
          </a:xfrm>
          <a:prstGeom prst="rect">
            <a:avLst/>
          </a:prstGeom>
        </p:spPr>
      </p:pic>
      <p:sp>
        <p:nvSpPr>
          <p:cNvPr id="11" name="step-1-title"/>
          <p:cNvSpPr txBox="1"/>
          <p:nvPr/>
        </p:nvSpPr>
        <p:spPr>
          <a:xfrm>
            <a:off x="3356397"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Case file</a:t>
            </a:r>
            <a:endParaRPr lang="en-US" sz="1400" dirty="0"/>
          </a:p>
        </p:txBody>
      </p:sp>
      <p:sp>
        <p:nvSpPr>
          <p:cNvPr id="12" name="step-1-body"/>
          <p:cNvSpPr txBox="1"/>
          <p:nvPr/>
        </p:nvSpPr>
        <p:spPr>
          <a:xfrm>
            <a:off x="2972349"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Every item gets an ID, like MSG-0132</a:t>
            </a:r>
            <a:endParaRPr lang="en-US" sz="1200" dirty="0"/>
          </a:p>
        </p:txBody>
      </p:sp>
      <p:sp>
        <p:nvSpPr>
          <p:cNvPr id="13" name="arrow-77"/>
          <p:cNvSpPr/>
          <p:nvPr/>
        </p:nvSpPr>
        <p:spPr>
          <a:xfrm>
            <a:off x="4755977" y="2766060"/>
            <a:ext cx="384048" cy="0"/>
          </a:xfrm>
          <a:prstGeom prst="line">
            <a:avLst/>
          </a:prstGeom>
          <a:noFill/>
          <a:ln w="19050">
            <a:solidFill>
              <a:schemeClr val="tx2"/>
            </a:solidFill>
            <a:prstDash val="solid"/>
            <a:tailEnd type="triangle"/>
          </a:ln>
        </p:spPr>
      </p:sp>
      <p:sp>
        <p:nvSpPr>
          <p:cNvPr id="14" name="node-78"/>
          <p:cNvSpPr/>
          <p:nvPr/>
        </p:nvSpPr>
        <p:spPr>
          <a:xfrm>
            <a:off x="5140025" y="1965960"/>
            <a:ext cx="1911645" cy="1600200"/>
          </a:xfrm>
          <a:prstGeom prst="roundRect">
            <a:avLst>
              <a:gd name="adj" fmla="val 5714"/>
            </a:avLst>
          </a:prstGeom>
          <a:solidFill>
            <a:schemeClr val="tx1"/>
          </a:solidFill>
          <a:ln/>
        </p:spPr>
      </p:sp>
      <p:pic>
        <p:nvPicPr>
          <p:cNvPr id="15" name="icon-79" descr="preencoded.png">    </p:cNvPr>
          <p:cNvPicPr>
            <a:picLocks noChangeAspect="1"/>
          </p:cNvPicPr>
          <p:nvPr/>
        </p:nvPicPr>
        <p:blipFill>
          <a:blip r:embed="rId3"/>
          <a:stretch>
            <a:fillRect/>
          </a:stretch>
        </p:blipFill>
        <p:spPr>
          <a:xfrm>
            <a:off x="5268041" y="2093976"/>
            <a:ext cx="292608" cy="292608"/>
          </a:xfrm>
          <a:prstGeom prst="rect">
            <a:avLst/>
          </a:prstGeom>
        </p:spPr>
      </p:pic>
      <p:sp>
        <p:nvSpPr>
          <p:cNvPr id="16" name="node-title-80"/>
          <p:cNvSpPr txBox="1"/>
          <p:nvPr/>
        </p:nvSpPr>
        <p:spPr>
          <a:xfrm>
            <a:off x="5652089" y="2066544"/>
            <a:ext cx="1271565" cy="347472"/>
          </a:xfrm>
          <a:prstGeom prst="rect">
            <a:avLst/>
          </a:prstGeom>
          <a:noFill/>
          <a:ln/>
        </p:spPr>
        <p:txBody>
          <a:bodyPr wrap="square" lIns="0" tIns="0" rIns="0" bIns="0" rtlCol="0" anchor="ctr"/>
          <a:lstStyle/>
          <a:p>
            <a:pPr indent="0" marL="0">
              <a:buNone/>
            </a:pPr>
            <a:r>
              <a:rPr lang="en-US" sz="1400" b="1" dirty="0">
                <a:solidFill>
                  <a:schemeClr val="bg1"/>
                </a:solidFill>
              </a:rPr>
              <a:t>Arguments</a:t>
            </a:r>
            <a:endParaRPr lang="en-US" sz="1400" dirty="0"/>
          </a:p>
        </p:txBody>
      </p:sp>
      <p:sp>
        <p:nvSpPr>
          <p:cNvPr id="17" name="node-sub-81"/>
          <p:cNvSpPr txBox="1"/>
          <p:nvPr/>
        </p:nvSpPr>
        <p:spPr>
          <a:xfrm>
            <a:off x="5268041" y="2459736"/>
            <a:ext cx="1655613" cy="1069848"/>
          </a:xfrm>
          <a:prstGeom prst="rect">
            <a:avLst/>
          </a:prstGeom>
          <a:noFill/>
          <a:ln/>
        </p:spPr>
        <p:txBody>
          <a:bodyPr wrap="square" lIns="0" tIns="0" rIns="0" bIns="0" rtlCol="0" anchor="t"/>
          <a:lstStyle/>
          <a:p>
            <a:pPr indent="0" marL="0">
              <a:buNone/>
            </a:pPr>
            <a:r>
              <a:rPr lang="en-US" sz="1100" dirty="0">
                <a:solidFill>
                  <a:schemeClr val="bg2"/>
                </a:solidFill>
              </a:rPr>
              <a:t>Every claim names the IDs it rests on</a:t>
            </a:r>
            <a:endParaRPr lang="en-US" sz="1100" dirty="0"/>
          </a:p>
        </p:txBody>
      </p:sp>
      <p:sp>
        <p:nvSpPr>
          <p:cNvPr id="18" name="arrow-82"/>
          <p:cNvSpPr/>
          <p:nvPr/>
        </p:nvSpPr>
        <p:spPr>
          <a:xfrm>
            <a:off x="7051670" y="2766060"/>
            <a:ext cx="384048" cy="0"/>
          </a:xfrm>
          <a:prstGeom prst="line">
            <a:avLst/>
          </a:prstGeom>
          <a:noFill/>
          <a:ln w="19050">
            <a:solidFill>
              <a:schemeClr val="tx2"/>
            </a:solidFill>
            <a:prstDash val="solid"/>
            <a:tailEnd type="triangle"/>
          </a:ln>
        </p:spPr>
      </p:sp>
      <p:sp>
        <p:nvSpPr>
          <p:cNvPr id="19" name="node-83"/>
          <p:cNvSpPr/>
          <p:nvPr/>
        </p:nvSpPr>
        <p:spPr>
          <a:xfrm>
            <a:off x="7435718" y="1965960"/>
            <a:ext cx="1911645" cy="1600200"/>
          </a:xfrm>
          <a:prstGeom prst="roundRect">
            <a:avLst>
              <a:gd name="adj" fmla="val 5714"/>
            </a:avLst>
          </a:prstGeom>
          <a:solidFill>
            <a:schemeClr val="bg1"/>
          </a:solidFill>
          <a:ln w="15875">
            <a:solidFill>
              <a:schemeClr val="tx2"/>
            </a:solidFill>
            <a:prstDash val="dash"/>
          </a:ln>
        </p:spPr>
      </p:sp>
      <p:pic>
        <p:nvPicPr>
          <p:cNvPr id="20" name="icon-84" descr="preencoded.png">    </p:cNvPr>
          <p:cNvPicPr>
            <a:picLocks noChangeAspect="1"/>
          </p:cNvPicPr>
          <p:nvPr/>
        </p:nvPicPr>
        <p:blipFill>
          <a:blip r:embed="rId4"/>
          <a:stretch>
            <a:fillRect/>
          </a:stretch>
        </p:blipFill>
        <p:spPr>
          <a:xfrm>
            <a:off x="7563734" y="2093976"/>
            <a:ext cx="292608" cy="292608"/>
          </a:xfrm>
          <a:prstGeom prst="rect">
            <a:avLst/>
          </a:prstGeom>
        </p:spPr>
      </p:pic>
      <p:sp>
        <p:nvSpPr>
          <p:cNvPr id="21" name="node-title-85"/>
          <p:cNvSpPr txBox="1"/>
          <p:nvPr/>
        </p:nvSpPr>
        <p:spPr>
          <a:xfrm>
            <a:off x="7947782"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Citation check</a:t>
            </a:r>
            <a:endParaRPr lang="en-US" sz="1400" dirty="0"/>
          </a:p>
        </p:txBody>
      </p:sp>
      <p:sp>
        <p:nvSpPr>
          <p:cNvPr id="22" name="node-sub-86"/>
          <p:cNvSpPr txBox="1"/>
          <p:nvPr/>
        </p:nvSpPr>
        <p:spPr>
          <a:xfrm>
            <a:off x="7563734" y="2459736"/>
            <a:ext cx="1655613" cy="1069848"/>
          </a:xfrm>
          <a:prstGeom prst="rect">
            <a:avLst/>
          </a:prstGeom>
          <a:noFill/>
          <a:ln/>
        </p:spPr>
        <p:txBody>
          <a:bodyPr wrap="square" lIns="0" tIns="0" rIns="0" bIns="0" rtlCol="0" anchor="t"/>
          <a:lstStyle/>
          <a:p>
            <a:pPr indent="0" marL="0">
              <a:buNone/>
            </a:pPr>
            <a:r>
              <a:rPr lang="en-US" sz="1100" dirty="0">
                <a:solidFill>
                  <a:schemeClr val="tx2"/>
                </a:solidFill>
              </a:rPr>
              <a:t>An unknown ID: claim struck, case flagged</a:t>
            </a:r>
            <a:endParaRPr lang="en-US" sz="1100" dirty="0"/>
          </a:p>
        </p:txBody>
      </p:sp>
      <p:sp>
        <p:nvSpPr>
          <p:cNvPr id="23" name="arrow-87"/>
          <p:cNvSpPr/>
          <p:nvPr/>
        </p:nvSpPr>
        <p:spPr>
          <a:xfrm>
            <a:off x="9347363" y="2766060"/>
            <a:ext cx="384048" cy="0"/>
          </a:xfrm>
          <a:prstGeom prst="line">
            <a:avLst/>
          </a:prstGeom>
          <a:noFill/>
          <a:ln w="19050">
            <a:solidFill>
              <a:schemeClr val="tx2"/>
            </a:solidFill>
            <a:prstDash val="solid"/>
            <a:tailEnd type="triangle"/>
          </a:ln>
        </p:spPr>
      </p:sp>
      <p:sp>
        <p:nvSpPr>
          <p:cNvPr id="24" name="step-4"/>
          <p:cNvSpPr/>
          <p:nvPr/>
        </p:nvSpPr>
        <p:spPr>
          <a:xfrm>
            <a:off x="9731411"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25" name="step-4-icon" descr="preencoded.png">    </p:cNvPr>
          <p:cNvPicPr>
            <a:picLocks noChangeAspect="1"/>
          </p:cNvPicPr>
          <p:nvPr/>
        </p:nvPicPr>
        <p:blipFill>
          <a:blip r:embed="rId5"/>
          <a:stretch>
            <a:fillRect/>
          </a:stretch>
        </p:blipFill>
        <p:spPr>
          <a:xfrm>
            <a:off x="9859427" y="2093976"/>
            <a:ext cx="292608" cy="292608"/>
          </a:xfrm>
          <a:prstGeom prst="rect">
            <a:avLst/>
          </a:prstGeom>
        </p:spPr>
      </p:pic>
      <p:sp>
        <p:nvSpPr>
          <p:cNvPr id="26" name="step-4-title"/>
          <p:cNvSpPr txBox="1"/>
          <p:nvPr/>
        </p:nvSpPr>
        <p:spPr>
          <a:xfrm>
            <a:off x="10243475"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On screen</a:t>
            </a:r>
            <a:endParaRPr lang="en-US" sz="1400" dirty="0"/>
          </a:p>
        </p:txBody>
      </p:sp>
      <p:sp>
        <p:nvSpPr>
          <p:cNvPr id="27" name="step-4-body"/>
          <p:cNvSpPr txBox="1"/>
          <p:nvPr/>
        </p:nvSpPr>
        <p:spPr>
          <a:xfrm>
            <a:off x="9859427"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Click any citation to open the evidence</a:t>
            </a:r>
            <a:endParaRPr lang="en-US" sz="1200" dirty="0"/>
          </a:p>
        </p:txBody>
      </p:sp>
      <p:sp>
        <p:nvSpPr>
          <p:cNvPr id="28" name="computed-card"/>
          <p:cNvSpPr/>
          <p:nvPr/>
        </p:nvSpPr>
        <p:spPr>
          <a:xfrm>
            <a:off x="548640" y="4114800"/>
            <a:ext cx="11094415" cy="1005840"/>
          </a:xfrm>
          <a:prstGeom prst="roundRect">
            <a:avLst>
              <a:gd name="adj" fmla="val 10909"/>
            </a:avLst>
          </a:prstGeom>
          <a:solidFill>
            <a:schemeClr val="bg1"/>
          </a:solidFill>
          <a:ln/>
          <a:effectLst>
            <a:outerShdw sx="100000" sy="100000" kx="0" ky="0" algn="bl" rotWithShape="0" blurRad="101600" dist="25400" dir="5400000">
              <a:srgbClr val="000000">
                <a:alpha val="8000"/>
              </a:srgbClr>
            </a:outerShdw>
          </a:effectLst>
        </p:spPr>
      </p:sp>
      <p:pic>
        <p:nvPicPr>
          <p:cNvPr id="29" name="computed-icon" descr="preencoded.png">    </p:cNvPr>
          <p:cNvPicPr>
            <a:picLocks noChangeAspect="1"/>
          </p:cNvPicPr>
          <p:nvPr/>
        </p:nvPicPr>
        <p:blipFill>
          <a:blip r:embed="rId6"/>
          <a:stretch>
            <a:fillRect/>
          </a:stretch>
        </p:blipFill>
        <p:spPr>
          <a:xfrm>
            <a:off x="822960" y="4416552"/>
            <a:ext cx="402336" cy="402336"/>
          </a:xfrm>
          <a:prstGeom prst="rect">
            <a:avLst/>
          </a:prstGeom>
        </p:spPr>
      </p:pic>
      <p:sp>
        <p:nvSpPr>
          <p:cNvPr id="30" name="computed-text"/>
          <p:cNvSpPr txBox="1"/>
          <p:nvPr/>
        </p:nvSpPr>
        <p:spPr>
          <a:xfrm>
            <a:off x="1463040" y="4178808"/>
            <a:ext cx="9905695" cy="877824"/>
          </a:xfrm>
          <a:prstGeom prst="rect">
            <a:avLst/>
          </a:prstGeom>
          <a:noFill/>
          <a:ln/>
        </p:spPr>
        <p:txBody>
          <a:bodyPr wrap="square" lIns="0" tIns="0" rIns="0" bIns="0" rtlCol="0" anchor="ctr"/>
          <a:lstStyle/>
          <a:p>
            <a:pPr indent="0" marL="0">
              <a:buNone/>
            </a:pPr>
            <a:r>
              <a:rPr lang="en-US" sz="1500" b="1" dirty="0">
                <a:solidFill>
                  <a:schemeClr val="tx1"/>
                </a:solidFill>
              </a:rPr>
              <a:t>Computed in code, never by a model</a:t>
            </a:r>
            <a:endParaRPr lang="en-US" sz="1500" dirty="0"/>
          </a:p>
          <a:p>
            <a:pPr indent="0" marL="0">
              <a:buNone/>
            </a:pPr>
            <a:r>
              <a:rPr lang="en-US" sz="1300" dirty="0">
                <a:solidFill>
                  <a:schemeClr val="tx2"/>
                </a:solidFill>
              </a:rPr>
              <a:t>How much longer the route was, how close the driver got to the pickup, whether traffic was on the route, and every amount.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When a person decides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These checks run on every case, whatever the Judge says. Any one sends it to a person.</a:t>
            </a:r>
            <a:endParaRPr lang="en-US" sz="1500" dirty="0"/>
          </a:p>
        </p:txBody>
      </p:sp>
      <p:sp>
        <p:nvSpPr>
          <p:cNvPr id="4" name="trigger-0"/>
          <p:cNvSpPr/>
          <p:nvPr/>
        </p:nvSpPr>
        <p:spPr>
          <a:xfrm>
            <a:off x="548640" y="1783080"/>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5" name="trigger-0-icon" descr="preencoded.png">    </p:cNvPr>
          <p:cNvPicPr>
            <a:picLocks noChangeAspect="1"/>
          </p:cNvPicPr>
          <p:nvPr/>
        </p:nvPicPr>
        <p:blipFill>
          <a:blip r:embed="rId1"/>
          <a:stretch>
            <a:fillRect/>
          </a:stretch>
        </p:blipFill>
        <p:spPr>
          <a:xfrm>
            <a:off x="731520" y="1965960"/>
            <a:ext cx="347472" cy="347472"/>
          </a:xfrm>
          <a:prstGeom prst="rect">
            <a:avLst/>
          </a:prstGeom>
        </p:spPr>
      </p:pic>
      <p:sp>
        <p:nvSpPr>
          <p:cNvPr id="6" name="trigger-0-text"/>
          <p:cNvSpPr txBox="1"/>
          <p:nvPr/>
        </p:nvSpPr>
        <p:spPr>
          <a:xfrm>
            <a:off x="1234440" y="1837944"/>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Safety report</a:t>
            </a:r>
            <a:endParaRPr lang="en-US" sz="1400" dirty="0"/>
          </a:p>
          <a:p>
            <a:pPr indent="0" marL="0">
              <a:buNone/>
            </a:pPr>
            <a:r>
              <a:rPr lang="en-US" sz="1200" dirty="0">
                <a:solidFill>
                  <a:schemeClr val="tx2"/>
                </a:solidFill>
              </a:rPr>
              <a:t>No agent hears it at all</a:t>
            </a:r>
            <a:endParaRPr lang="en-US" sz="1400" dirty="0"/>
          </a:p>
        </p:txBody>
      </p:sp>
      <p:sp>
        <p:nvSpPr>
          <p:cNvPr id="7" name="arrow-88"/>
          <p:cNvSpPr/>
          <p:nvPr/>
        </p:nvSpPr>
        <p:spPr>
          <a:xfrm>
            <a:off x="4754880" y="2139696"/>
            <a:ext cx="502920" cy="0"/>
          </a:xfrm>
          <a:prstGeom prst="line">
            <a:avLst/>
          </a:prstGeom>
          <a:noFill/>
          <a:ln w="19050">
            <a:solidFill>
              <a:schemeClr val="tx2"/>
            </a:solidFill>
            <a:prstDash val="solid"/>
            <a:tailEnd type="none"/>
          </a:ln>
        </p:spPr>
      </p:sp>
      <p:sp>
        <p:nvSpPr>
          <p:cNvPr id="8" name="trigger-1"/>
          <p:cNvSpPr/>
          <p:nvPr/>
        </p:nvSpPr>
        <p:spPr>
          <a:xfrm>
            <a:off x="548640" y="2624328"/>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9" name="trigger-1-icon" descr="preencoded.png">    </p:cNvPr>
          <p:cNvPicPr>
            <a:picLocks noChangeAspect="1"/>
          </p:cNvPicPr>
          <p:nvPr/>
        </p:nvPicPr>
        <p:blipFill>
          <a:blip r:embed="rId2"/>
          <a:stretch>
            <a:fillRect/>
          </a:stretch>
        </p:blipFill>
        <p:spPr>
          <a:xfrm>
            <a:off x="731520" y="2807208"/>
            <a:ext cx="347472" cy="347472"/>
          </a:xfrm>
          <a:prstGeom prst="rect">
            <a:avLst/>
          </a:prstGeom>
        </p:spPr>
      </p:pic>
      <p:sp>
        <p:nvSpPr>
          <p:cNvPr id="10" name="trigger-1-text"/>
          <p:cNvSpPr txBox="1"/>
          <p:nvPr/>
        </p:nvSpPr>
        <p:spPr>
          <a:xfrm>
            <a:off x="1234440" y="2679192"/>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Low confidence</a:t>
            </a:r>
            <a:endParaRPr lang="en-US" sz="1400" dirty="0"/>
          </a:p>
          <a:p>
            <a:pPr indent="0" marL="0">
              <a:buNone/>
            </a:pPr>
            <a:r>
              <a:rPr lang="en-US" sz="1200" dirty="0">
                <a:solidFill>
                  <a:schemeClr val="tx2"/>
                </a:solidFill>
              </a:rPr>
              <a:t>The Judge is under 0.60</a:t>
            </a:r>
            <a:endParaRPr lang="en-US" sz="1400" dirty="0"/>
          </a:p>
        </p:txBody>
      </p:sp>
      <p:sp>
        <p:nvSpPr>
          <p:cNvPr id="11" name="arrow-89"/>
          <p:cNvSpPr/>
          <p:nvPr/>
        </p:nvSpPr>
        <p:spPr>
          <a:xfrm>
            <a:off x="4754880" y="2980944"/>
            <a:ext cx="502920" cy="0"/>
          </a:xfrm>
          <a:prstGeom prst="line">
            <a:avLst/>
          </a:prstGeom>
          <a:noFill/>
          <a:ln w="19050">
            <a:solidFill>
              <a:schemeClr val="tx2"/>
            </a:solidFill>
            <a:prstDash val="solid"/>
            <a:tailEnd type="none"/>
          </a:ln>
        </p:spPr>
      </p:sp>
      <p:sp>
        <p:nvSpPr>
          <p:cNvPr id="12" name="trigger-2"/>
          <p:cNvSpPr/>
          <p:nvPr/>
        </p:nvSpPr>
        <p:spPr>
          <a:xfrm>
            <a:off x="548640" y="3465576"/>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3" name="trigger-2-icon" descr="preencoded.png">    </p:cNvPr>
          <p:cNvPicPr>
            <a:picLocks noChangeAspect="1"/>
          </p:cNvPicPr>
          <p:nvPr/>
        </p:nvPicPr>
        <p:blipFill>
          <a:blip r:embed="rId3"/>
          <a:stretch>
            <a:fillRect/>
          </a:stretch>
        </p:blipFill>
        <p:spPr>
          <a:xfrm>
            <a:off x="731520" y="3648456"/>
            <a:ext cx="347472" cy="347472"/>
          </a:xfrm>
          <a:prstGeom prst="rect">
            <a:avLst/>
          </a:prstGeom>
        </p:spPr>
      </p:pic>
      <p:sp>
        <p:nvSpPr>
          <p:cNvPr id="14" name="trigger-2-text"/>
          <p:cNvSpPr txBox="1"/>
          <p:nvPr/>
        </p:nvSpPr>
        <p:spPr>
          <a:xfrm>
            <a:off x="1234440" y="3520440"/>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High risk</a:t>
            </a:r>
            <a:endParaRPr lang="en-US" sz="1400" dirty="0"/>
          </a:p>
          <a:p>
            <a:pPr indent="0" marL="0">
              <a:buNone/>
            </a:pPr>
            <a:r>
              <a:rPr lang="en-US" sz="1200" dirty="0">
                <a:solidFill>
                  <a:schemeClr val="tx2"/>
                </a:solidFill>
              </a:rPr>
              <a:t>Repeat filer, or a fee of $120+</a:t>
            </a:r>
            <a:endParaRPr lang="en-US" sz="1400" dirty="0"/>
          </a:p>
        </p:txBody>
      </p:sp>
      <p:sp>
        <p:nvSpPr>
          <p:cNvPr id="15" name="arrow-90"/>
          <p:cNvSpPr/>
          <p:nvPr/>
        </p:nvSpPr>
        <p:spPr>
          <a:xfrm>
            <a:off x="4754880" y="3822192"/>
            <a:ext cx="502920" cy="0"/>
          </a:xfrm>
          <a:prstGeom prst="line">
            <a:avLst/>
          </a:prstGeom>
          <a:noFill/>
          <a:ln w="19050">
            <a:solidFill>
              <a:schemeClr val="tx2"/>
            </a:solidFill>
            <a:prstDash val="solid"/>
            <a:tailEnd type="none"/>
          </a:ln>
        </p:spPr>
      </p:sp>
      <p:sp>
        <p:nvSpPr>
          <p:cNvPr id="16" name="trigger-3"/>
          <p:cNvSpPr/>
          <p:nvPr/>
        </p:nvSpPr>
        <p:spPr>
          <a:xfrm>
            <a:off x="548640" y="4306824"/>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7" name="trigger-3-icon" descr="preencoded.png">    </p:cNvPr>
          <p:cNvPicPr>
            <a:picLocks noChangeAspect="1"/>
          </p:cNvPicPr>
          <p:nvPr/>
        </p:nvPicPr>
        <p:blipFill>
          <a:blip r:embed="rId4"/>
          <a:stretch>
            <a:fillRect/>
          </a:stretch>
        </p:blipFill>
        <p:spPr>
          <a:xfrm>
            <a:off x="731520" y="4489704"/>
            <a:ext cx="347472" cy="347472"/>
          </a:xfrm>
          <a:prstGeom prst="rect">
            <a:avLst/>
          </a:prstGeom>
        </p:spPr>
      </p:pic>
      <p:sp>
        <p:nvSpPr>
          <p:cNvPr id="18" name="trigger-3-text"/>
          <p:cNvSpPr txBox="1"/>
          <p:nvPr/>
        </p:nvSpPr>
        <p:spPr>
          <a:xfrm>
            <a:off x="1234440" y="4361688"/>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The Judge asks</a:t>
            </a:r>
            <a:endParaRPr lang="en-US" sz="1400" dirty="0"/>
          </a:p>
          <a:p>
            <a:pPr indent="0" marL="0">
              <a:buNone/>
            </a:pPr>
            <a:r>
              <a:rPr lang="en-US" sz="1200" dirty="0">
                <a:solidFill>
                  <a:schemeClr val="tx2"/>
                </a:solidFill>
              </a:rPr>
              <a:t>A request, never a substitute</a:t>
            </a:r>
            <a:endParaRPr lang="en-US" sz="1400" dirty="0"/>
          </a:p>
        </p:txBody>
      </p:sp>
      <p:sp>
        <p:nvSpPr>
          <p:cNvPr id="19" name="arrow-91"/>
          <p:cNvSpPr/>
          <p:nvPr/>
        </p:nvSpPr>
        <p:spPr>
          <a:xfrm>
            <a:off x="4754880" y="4663440"/>
            <a:ext cx="502920" cy="0"/>
          </a:xfrm>
          <a:prstGeom prst="line">
            <a:avLst/>
          </a:prstGeom>
          <a:noFill/>
          <a:ln w="19050">
            <a:solidFill>
              <a:schemeClr val="tx2"/>
            </a:solidFill>
            <a:prstDash val="solid"/>
            <a:tailEnd type="none"/>
          </a:ln>
        </p:spPr>
      </p:sp>
      <p:sp>
        <p:nvSpPr>
          <p:cNvPr id="20" name="trigger-4"/>
          <p:cNvSpPr/>
          <p:nvPr/>
        </p:nvSpPr>
        <p:spPr>
          <a:xfrm>
            <a:off x="548640" y="5148072"/>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21" name="trigger-4-icon" descr="preencoded.png">    </p:cNvPr>
          <p:cNvPicPr>
            <a:picLocks noChangeAspect="1"/>
          </p:cNvPicPr>
          <p:nvPr/>
        </p:nvPicPr>
        <p:blipFill>
          <a:blip r:embed="rId5"/>
          <a:stretch>
            <a:fillRect/>
          </a:stretch>
        </p:blipFill>
        <p:spPr>
          <a:xfrm>
            <a:off x="731520" y="5330952"/>
            <a:ext cx="347472" cy="347472"/>
          </a:xfrm>
          <a:prstGeom prst="rect">
            <a:avLst/>
          </a:prstGeom>
        </p:spPr>
      </p:pic>
      <p:sp>
        <p:nvSpPr>
          <p:cNvPr id="22" name="trigger-4-text"/>
          <p:cNvSpPr txBox="1"/>
          <p:nvPr/>
        </p:nvSpPr>
        <p:spPr>
          <a:xfrm>
            <a:off x="1234440" y="5202936"/>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Compliance veto</a:t>
            </a:r>
            <a:endParaRPr lang="en-US" sz="1400" dirty="0"/>
          </a:p>
          <a:p>
            <a:pPr indent="0" marL="0">
              <a:buNone/>
            </a:pPr>
            <a:r>
              <a:rPr lang="en-US" sz="1200" dirty="0">
                <a:solidFill>
                  <a:schemeClr val="tx2"/>
                </a:solidFill>
              </a:rPr>
              <a:t>The remedy breaks a policy rule</a:t>
            </a:r>
            <a:endParaRPr lang="en-US" sz="1400" dirty="0"/>
          </a:p>
        </p:txBody>
      </p:sp>
      <p:sp>
        <p:nvSpPr>
          <p:cNvPr id="23" name="arrow-92"/>
          <p:cNvSpPr/>
          <p:nvPr/>
        </p:nvSpPr>
        <p:spPr>
          <a:xfrm>
            <a:off x="4754880" y="5504688"/>
            <a:ext cx="502920" cy="0"/>
          </a:xfrm>
          <a:prstGeom prst="line">
            <a:avLst/>
          </a:prstGeom>
          <a:noFill/>
          <a:ln w="19050">
            <a:solidFill>
              <a:schemeClr val="tx2"/>
            </a:solidFill>
            <a:prstDash val="solid"/>
            <a:tailEnd type="none"/>
          </a:ln>
        </p:spPr>
      </p:sp>
      <p:sp>
        <p:nvSpPr>
          <p:cNvPr id="24" name="arrow-93"/>
          <p:cNvSpPr/>
          <p:nvPr/>
        </p:nvSpPr>
        <p:spPr>
          <a:xfrm>
            <a:off x="5257800" y="2139696"/>
            <a:ext cx="0" cy="3364992"/>
          </a:xfrm>
          <a:prstGeom prst="line">
            <a:avLst/>
          </a:prstGeom>
          <a:noFill/>
          <a:ln w="19050">
            <a:solidFill>
              <a:schemeClr val="tx2"/>
            </a:solidFill>
            <a:prstDash val="solid"/>
            <a:tailEnd type="none"/>
          </a:ln>
        </p:spPr>
      </p:sp>
      <p:sp>
        <p:nvSpPr>
          <p:cNvPr id="25" name="or-gate"/>
          <p:cNvSpPr/>
          <p:nvPr/>
        </p:nvSpPr>
        <p:spPr>
          <a:xfrm>
            <a:off x="4983480" y="3547872"/>
            <a:ext cx="548640" cy="548640"/>
          </a:xfrm>
          <a:prstGeom prst="ellipse">
            <a:avLst/>
          </a:prstGeom>
          <a:solidFill>
            <a:schemeClr val="tx1"/>
          </a:solidFill>
          <a:ln/>
        </p:spPr>
      </p:sp>
      <p:sp>
        <p:nvSpPr>
          <p:cNvPr id="26" name="or-label"/>
          <p:cNvSpPr txBox="1"/>
          <p:nvPr/>
        </p:nvSpPr>
        <p:spPr>
          <a:xfrm>
            <a:off x="4983480" y="3547872"/>
            <a:ext cx="548640" cy="548640"/>
          </a:xfrm>
          <a:prstGeom prst="rect">
            <a:avLst/>
          </a:prstGeom>
          <a:noFill/>
          <a:ln/>
        </p:spPr>
        <p:txBody>
          <a:bodyPr wrap="square" lIns="0" tIns="0" rIns="0" bIns="0" rtlCol="0" anchor="ctr"/>
          <a:lstStyle/>
          <a:p>
            <a:pPr algn="ctr" indent="0" marL="0">
              <a:buNone/>
            </a:pPr>
            <a:r>
              <a:rPr lang="en-US" sz="1200" b="1" dirty="0">
                <a:solidFill>
                  <a:schemeClr val="bg1"/>
                </a:solidFill>
              </a:rPr>
              <a:t>OR</a:t>
            </a:r>
            <a:endParaRPr lang="en-US" sz="1200" dirty="0"/>
          </a:p>
        </p:txBody>
      </p:sp>
      <p:sp>
        <p:nvSpPr>
          <p:cNvPr id="27" name="arrow-94"/>
          <p:cNvSpPr/>
          <p:nvPr/>
        </p:nvSpPr>
        <p:spPr>
          <a:xfrm>
            <a:off x="5532120" y="3822192"/>
            <a:ext cx="594360" cy="0"/>
          </a:xfrm>
          <a:prstGeom prst="line">
            <a:avLst/>
          </a:prstGeom>
          <a:noFill/>
          <a:ln w="19050">
            <a:solidFill>
              <a:schemeClr val="tx2"/>
            </a:solidFill>
            <a:prstDash val="solid"/>
            <a:tailEnd type="triangle"/>
          </a:ln>
        </p:spPr>
      </p:sp>
      <p:sp>
        <p:nvSpPr>
          <p:cNvPr id="28" name="reviewer-card"/>
          <p:cNvSpPr/>
          <p:nvPr/>
        </p:nvSpPr>
        <p:spPr>
          <a:xfrm>
            <a:off x="6126480" y="1783080"/>
            <a:ext cx="5516575" cy="2697480"/>
          </a:xfrm>
          <a:prstGeom prst="roundRect">
            <a:avLst>
              <a:gd name="adj" fmla="val 4068"/>
            </a:avLst>
          </a:prstGeom>
          <a:solidFill>
            <a:schemeClr val="accent4">
              <a:alpha val="12000"/>
            </a:schemeClr>
          </a:solidFill>
          <a:ln w="15875">
            <a:solidFill>
              <a:schemeClr val="accent4"/>
            </a:solidFill>
            <a:prstDash val="solid"/>
          </a:ln>
        </p:spPr>
      </p:sp>
      <p:pic>
        <p:nvPicPr>
          <p:cNvPr id="29" name="reviewer-icon" descr="preencoded.png">    </p:cNvPr>
          <p:cNvPicPr>
            <a:picLocks noChangeAspect="1"/>
          </p:cNvPicPr>
          <p:nvPr/>
        </p:nvPicPr>
        <p:blipFill>
          <a:blip r:embed="rId6"/>
          <a:stretch>
            <a:fillRect/>
          </a:stretch>
        </p:blipFill>
        <p:spPr>
          <a:xfrm>
            <a:off x="6355080" y="1965960"/>
            <a:ext cx="384048" cy="384048"/>
          </a:xfrm>
          <a:prstGeom prst="rect">
            <a:avLst/>
          </a:prstGeom>
        </p:spPr>
      </p:pic>
      <p:sp>
        <p:nvSpPr>
          <p:cNvPr id="30" name="reviewer-title"/>
          <p:cNvSpPr txBox="1"/>
          <p:nvPr/>
        </p:nvSpPr>
        <p:spPr>
          <a:xfrm>
            <a:off x="6858000" y="1965960"/>
            <a:ext cx="4602175" cy="384048"/>
          </a:xfrm>
          <a:prstGeom prst="rect">
            <a:avLst/>
          </a:prstGeom>
          <a:noFill/>
          <a:ln/>
        </p:spPr>
        <p:txBody>
          <a:bodyPr wrap="square" lIns="0" tIns="0" rIns="0" bIns="0" rtlCol="0" anchor="ctr"/>
          <a:lstStyle/>
          <a:p>
            <a:pPr indent="0" marL="0">
              <a:buNone/>
            </a:pPr>
            <a:r>
              <a:rPr lang="en-US" sz="1700" b="1" dirty="0">
                <a:solidFill>
                  <a:schemeClr val="tx1"/>
                </a:solidFill>
              </a:rPr>
              <a:t>A person decides</a:t>
            </a:r>
            <a:endParaRPr lang="en-US" sz="1700" dirty="0"/>
          </a:p>
        </p:txBody>
      </p:sp>
      <p:sp>
        <p:nvSpPr>
          <p:cNvPr id="31" name="reviewer-body"/>
          <p:cNvSpPr txBox="1"/>
          <p:nvPr/>
        </p:nvSpPr>
        <p:spPr>
          <a:xfrm>
            <a:off x="6355080" y="2514600"/>
            <a:ext cx="5059375"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Safety reports come first</a:t>
            </a:r>
            <a:endParaRPr lang="en-US" sz="1400" dirty="0"/>
          </a:p>
          <a:p>
            <a:pPr marL="342900" indent="-342900">
              <a:spcAft>
                <a:spcPts val="800"/>
              </a:spcAft>
              <a:buSzPct val="100000"/>
              <a:buChar char="•"/>
            </a:pPr>
            <a:r>
              <a:rPr lang="en-US" sz="1400" dirty="0">
                <a:solidFill>
                  <a:schemeClr val="tx1"/>
                </a:solidFill>
              </a:rPr>
              <a:t>The evidence is shown before the AI's recommendation, so it can't anchor them</a:t>
            </a:r>
            <a:endParaRPr lang="en-US" sz="1400" dirty="0"/>
          </a:p>
          <a:p>
            <a:pPr marL="342900" indent="-342900">
              <a:spcAft>
                <a:spcPts val="800"/>
              </a:spcAft>
              <a:buSzPct val="100000"/>
              <a:buChar char="•"/>
            </a:pPr>
            <a:r>
              <a:rPr lang="en-US" sz="1400" dirty="0">
                <a:solidFill>
                  <a:schemeClr val="tx1"/>
                </a:solidFill>
              </a:rPr>
              <a:t>They approve or change the outcome, with a reason</a:t>
            </a:r>
            <a:endParaRPr lang="en-US" sz="1400" dirty="0"/>
          </a:p>
        </p:txBody>
      </p:sp>
      <p:sp>
        <p:nvSpPr>
          <p:cNvPr id="32" name="stands-card"/>
          <p:cNvSpPr/>
          <p:nvPr/>
        </p:nvSpPr>
        <p:spPr>
          <a:xfrm>
            <a:off x="6126480" y="4754880"/>
            <a:ext cx="5516575" cy="1005840"/>
          </a:xfrm>
          <a:prstGeom prst="roundRect">
            <a:avLst>
              <a:gd name="adj" fmla="val 10909"/>
            </a:avLst>
          </a:prstGeom>
          <a:solidFill>
            <a:schemeClr val="accent3">
              <a:alpha val="12000"/>
            </a:schemeClr>
          </a:solidFill>
          <a:ln w="15875">
            <a:solidFill>
              <a:schemeClr val="accent3"/>
            </a:solidFill>
            <a:prstDash val="solid"/>
          </a:ln>
        </p:spPr>
      </p:sp>
      <p:pic>
        <p:nvPicPr>
          <p:cNvPr id="33" name="stands-icon" descr="preencoded.png">    </p:cNvPr>
          <p:cNvPicPr>
            <a:picLocks noChangeAspect="1"/>
          </p:cNvPicPr>
          <p:nvPr/>
        </p:nvPicPr>
        <p:blipFill>
          <a:blip r:embed="rId7"/>
          <a:stretch>
            <a:fillRect/>
          </a:stretch>
        </p:blipFill>
        <p:spPr>
          <a:xfrm>
            <a:off x="6355080" y="4974336"/>
            <a:ext cx="384048" cy="384048"/>
          </a:xfrm>
          <a:prstGeom prst="rect">
            <a:avLst/>
          </a:prstGeom>
        </p:spPr>
      </p:pic>
      <p:sp>
        <p:nvSpPr>
          <p:cNvPr id="34" name="stands-text"/>
          <p:cNvSpPr txBox="1"/>
          <p:nvPr/>
        </p:nvSpPr>
        <p:spPr>
          <a:xfrm>
            <a:off x="6858000" y="4800600"/>
            <a:ext cx="4602175" cy="914400"/>
          </a:xfrm>
          <a:prstGeom prst="rect">
            <a:avLst/>
          </a:prstGeom>
          <a:noFill/>
          <a:ln/>
        </p:spPr>
        <p:txBody>
          <a:bodyPr wrap="square" lIns="0" tIns="0" rIns="0" bIns="0" rtlCol="0" anchor="ctr"/>
          <a:lstStyle/>
          <a:p>
            <a:pPr indent="0" marL="0">
              <a:buNone/>
            </a:pPr>
            <a:r>
              <a:rPr lang="en-US" sz="1500" b="1" dirty="0">
                <a:solidFill>
                  <a:schemeClr val="tx1"/>
                </a:solidFill>
              </a:rPr>
              <a:t>None fire: the ruling stands</a:t>
            </a:r>
            <a:endParaRPr lang="en-US" sz="1500" dirty="0"/>
          </a:p>
          <a:p>
            <a:pPr indent="0" marL="0">
              <a:buNone/>
            </a:pPr>
            <a:r>
              <a:rPr lang="en-US" sz="1250" dirty="0">
                <a:solidFill>
                  <a:schemeClr val="tx2"/>
                </a:solidFill>
              </a:rPr>
              <a:t>Both parties see the same facts and rule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System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One FastAPI service on three managed platforms. Actions go over REST; every live update streams back over server-sent events.</a:t>
            </a:r>
            <a:endParaRPr lang="en-US" sz="1500" dirty="0"/>
          </a:p>
        </p:txBody>
      </p:sp>
      <p:sp>
        <p:nvSpPr>
          <p:cNvPr id="4" name="zone-users"/>
          <p:cNvSpPr/>
          <p:nvPr/>
        </p:nvSpPr>
        <p:spPr>
          <a:xfrm>
            <a:off x="548640" y="1691640"/>
            <a:ext cx="1097280" cy="4480560"/>
          </a:xfrm>
          <a:prstGeom prst="roundRect">
            <a:avLst>
              <a:gd name="adj" fmla="val 8333"/>
            </a:avLst>
          </a:prstGeom>
          <a:solidFill>
            <a:schemeClr val="bg1"/>
          </a:solidFill>
          <a:ln w="9525">
            <a:solidFill>
              <a:schemeClr val="tx2">
                <a:alpha val="45000"/>
              </a:schemeClr>
            </a:solidFill>
            <a:prstDash val="solid"/>
          </a:ln>
        </p:spPr>
      </p:sp>
      <p:sp>
        <p:nvSpPr>
          <p:cNvPr id="5" name="zone-users-head"/>
          <p:cNvSpPr txBox="1"/>
          <p:nvPr/>
        </p:nvSpPr>
        <p:spPr>
          <a:xfrm>
            <a:off x="685800" y="1764792"/>
            <a:ext cx="822960" cy="457200"/>
          </a:xfrm>
          <a:prstGeom prst="rect">
            <a:avLst/>
          </a:prstGeom>
          <a:noFill/>
          <a:ln/>
        </p:spPr>
        <p:txBody>
          <a:bodyPr wrap="square" lIns="0" tIns="0" rIns="0" bIns="0" rtlCol="0" anchor="ctr"/>
          <a:lstStyle/>
          <a:p>
            <a:pPr indent="0" marL="0">
              <a:buNone/>
            </a:pPr>
            <a:r>
              <a:rPr lang="en-US" sz="1300" b="1" dirty="0">
                <a:solidFill>
                  <a:schemeClr val="tx1"/>
                </a:solidFill>
              </a:rPr>
              <a:t>People</a:t>
            </a:r>
            <a:endParaRPr lang="en-US" sz="1300" dirty="0"/>
          </a:p>
          <a:p>
            <a:pPr indent="0" marL="0">
              <a:buNone/>
            </a:pPr>
            <a:r>
              <a:rPr lang="en-US" sz="950" dirty="0">
                <a:solidFill>
                  <a:schemeClr val="tx2"/>
                </a:solidFill>
              </a:rPr>
              <a:t>in a browser</a:t>
            </a:r>
            <a:endParaRPr lang="en-US" sz="1300" dirty="0"/>
          </a:p>
        </p:txBody>
      </p:sp>
      <p:sp>
        <p:nvSpPr>
          <p:cNvPr id="6" name="user-0"/>
          <p:cNvSpPr/>
          <p:nvPr/>
        </p:nvSpPr>
        <p:spPr>
          <a:xfrm>
            <a:off x="640080" y="2560320"/>
            <a:ext cx="914400" cy="914400"/>
          </a:xfrm>
          <a:prstGeom prst="roundRect">
            <a:avLst>
              <a:gd name="adj" fmla="val 7000"/>
            </a:avLst>
          </a:prstGeom>
          <a:solidFill>
            <a:schemeClr val="bg2"/>
          </a:solidFill>
          <a:ln/>
        </p:spPr>
      </p:sp>
      <p:pic>
        <p:nvPicPr>
          <p:cNvPr id="7" name="user-0-icon" descr="preencoded.png">    </p:cNvPr>
          <p:cNvPicPr>
            <a:picLocks noChangeAspect="1"/>
          </p:cNvPicPr>
          <p:nvPr/>
        </p:nvPicPr>
        <p:blipFill>
          <a:blip r:embed="rId1"/>
          <a:stretch>
            <a:fillRect/>
          </a:stretch>
        </p:blipFill>
        <p:spPr>
          <a:xfrm>
            <a:off x="960120" y="2670048"/>
            <a:ext cx="274320" cy="274320"/>
          </a:xfrm>
          <a:prstGeom prst="rect">
            <a:avLst/>
          </a:prstGeom>
        </p:spPr>
      </p:pic>
      <p:sp>
        <p:nvSpPr>
          <p:cNvPr id="8" name="user-0-text"/>
          <p:cNvSpPr txBox="1"/>
          <p:nvPr/>
        </p:nvSpPr>
        <p:spPr>
          <a:xfrm>
            <a:off x="658368" y="2980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Riders, drivers</a:t>
            </a:r>
            <a:endParaRPr lang="en-US" sz="1050" dirty="0"/>
          </a:p>
        </p:txBody>
      </p:sp>
      <p:sp>
        <p:nvSpPr>
          <p:cNvPr id="9" name="user-1"/>
          <p:cNvSpPr/>
          <p:nvPr/>
        </p:nvSpPr>
        <p:spPr>
          <a:xfrm>
            <a:off x="640080" y="3703320"/>
            <a:ext cx="914400" cy="914400"/>
          </a:xfrm>
          <a:prstGeom prst="roundRect">
            <a:avLst>
              <a:gd name="adj" fmla="val 7000"/>
            </a:avLst>
          </a:prstGeom>
          <a:solidFill>
            <a:schemeClr val="bg2"/>
          </a:solidFill>
          <a:ln/>
        </p:spPr>
      </p:sp>
      <p:pic>
        <p:nvPicPr>
          <p:cNvPr id="10" name="user-1-icon" descr="preencoded.png">    </p:cNvPr>
          <p:cNvPicPr>
            <a:picLocks noChangeAspect="1"/>
          </p:cNvPicPr>
          <p:nvPr/>
        </p:nvPicPr>
        <p:blipFill>
          <a:blip r:embed="rId2"/>
          <a:stretch>
            <a:fillRect/>
          </a:stretch>
        </p:blipFill>
        <p:spPr>
          <a:xfrm>
            <a:off x="960120" y="3813048"/>
            <a:ext cx="274320" cy="274320"/>
          </a:xfrm>
          <a:prstGeom prst="rect">
            <a:avLst/>
          </a:prstGeom>
        </p:spPr>
      </p:pic>
      <p:sp>
        <p:nvSpPr>
          <p:cNvPr id="11" name="user-1-text"/>
          <p:cNvSpPr txBox="1"/>
          <p:nvPr/>
        </p:nvSpPr>
        <p:spPr>
          <a:xfrm>
            <a:off x="658368" y="4123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Support (L2)</a:t>
            </a:r>
            <a:endParaRPr lang="en-US" sz="1050" dirty="0"/>
          </a:p>
        </p:txBody>
      </p:sp>
      <p:sp>
        <p:nvSpPr>
          <p:cNvPr id="12" name="user-2"/>
          <p:cNvSpPr/>
          <p:nvPr/>
        </p:nvSpPr>
        <p:spPr>
          <a:xfrm>
            <a:off x="640080" y="4846320"/>
            <a:ext cx="914400" cy="914400"/>
          </a:xfrm>
          <a:prstGeom prst="roundRect">
            <a:avLst>
              <a:gd name="adj" fmla="val 7000"/>
            </a:avLst>
          </a:prstGeom>
          <a:solidFill>
            <a:schemeClr val="bg2"/>
          </a:solidFill>
          <a:ln/>
        </p:spPr>
      </p:sp>
      <p:pic>
        <p:nvPicPr>
          <p:cNvPr id="13" name="user-2-icon" descr="preencoded.png">    </p:cNvPr>
          <p:cNvPicPr>
            <a:picLocks noChangeAspect="1"/>
          </p:cNvPicPr>
          <p:nvPr/>
        </p:nvPicPr>
        <p:blipFill>
          <a:blip r:embed="rId3"/>
          <a:stretch>
            <a:fillRect/>
          </a:stretch>
        </p:blipFill>
        <p:spPr>
          <a:xfrm>
            <a:off x="960120" y="4956048"/>
            <a:ext cx="274320" cy="274320"/>
          </a:xfrm>
          <a:prstGeom prst="rect">
            <a:avLst/>
          </a:prstGeom>
        </p:spPr>
      </p:pic>
      <p:sp>
        <p:nvSpPr>
          <p:cNvPr id="14" name="user-2-text"/>
          <p:cNvSpPr txBox="1"/>
          <p:nvPr/>
        </p:nvSpPr>
        <p:spPr>
          <a:xfrm>
            <a:off x="658368" y="5266944"/>
            <a:ext cx="877824" cy="438912"/>
          </a:xfrm>
          <a:prstGeom prst="rect">
            <a:avLst/>
          </a:prstGeom>
          <a:noFill/>
          <a:ln/>
        </p:spPr>
        <p:txBody>
          <a:bodyPr wrap="square" lIns="0" tIns="0" rIns="0" bIns="0" rtlCol="0" anchor="t"/>
          <a:lstStyle/>
          <a:p>
            <a:pPr algn="ctr" indent="0" marL="0">
              <a:buNone/>
            </a:pPr>
            <a:r>
              <a:rPr lang="en-US" sz="1050" b="1" dirty="0">
                <a:solidFill>
                  <a:schemeClr val="tx1"/>
                </a:solidFill>
              </a:rPr>
              <a:t>Operators</a:t>
            </a:r>
            <a:endParaRPr lang="en-US" sz="1050" dirty="0"/>
          </a:p>
        </p:txBody>
      </p:sp>
      <p:sp>
        <p:nvSpPr>
          <p:cNvPr id="15" name="zone-frontend"/>
          <p:cNvSpPr/>
          <p:nvPr/>
        </p:nvSpPr>
        <p:spPr>
          <a:xfrm>
            <a:off x="2057400" y="1691640"/>
            <a:ext cx="2011680" cy="4480560"/>
          </a:xfrm>
          <a:prstGeom prst="roundRect">
            <a:avLst>
              <a:gd name="adj" fmla="val 4545"/>
            </a:avLst>
          </a:prstGeom>
          <a:solidFill>
            <a:schemeClr val="bg1"/>
          </a:solidFill>
          <a:ln w="9525">
            <a:solidFill>
              <a:schemeClr val="tx2">
                <a:alpha val="45000"/>
              </a:schemeClr>
            </a:solidFill>
            <a:prstDash val="solid"/>
          </a:ln>
        </p:spPr>
      </p:sp>
      <p:sp>
        <p:nvSpPr>
          <p:cNvPr id="16" name="zone-frontend-head"/>
          <p:cNvSpPr txBox="1"/>
          <p:nvPr/>
        </p:nvSpPr>
        <p:spPr>
          <a:xfrm>
            <a:off x="2194560" y="1764792"/>
            <a:ext cx="1737360" cy="457200"/>
          </a:xfrm>
          <a:prstGeom prst="rect">
            <a:avLst/>
          </a:prstGeom>
          <a:noFill/>
          <a:ln/>
        </p:spPr>
        <p:txBody>
          <a:bodyPr wrap="square" lIns="0" tIns="0" rIns="0" bIns="0" rtlCol="0" anchor="ctr"/>
          <a:lstStyle/>
          <a:p>
            <a:pPr indent="0" marL="0">
              <a:buNone/>
            </a:pPr>
            <a:r>
              <a:rPr lang="en-US" sz="1300" b="1" dirty="0">
                <a:solidFill>
                  <a:schemeClr val="tx1"/>
                </a:solidFill>
              </a:rPr>
              <a:t>Frontend</a:t>
            </a:r>
            <a:endParaRPr lang="en-US" sz="1300" dirty="0"/>
          </a:p>
          <a:p>
            <a:pPr indent="0" marL="0">
              <a:buNone/>
            </a:pPr>
            <a:r>
              <a:rPr lang="en-US" sz="950" dirty="0">
                <a:solidFill>
                  <a:schemeClr val="tx2"/>
                </a:solidFill>
              </a:rPr>
              <a:t>Vercel · static SPA</a:t>
            </a:r>
            <a:endParaRPr lang="en-US" sz="1300" dirty="0"/>
          </a:p>
        </p:txBody>
      </p:sp>
      <p:sp>
        <p:nvSpPr>
          <p:cNvPr id="17" name="box-95"/>
          <p:cNvSpPr/>
          <p:nvPr/>
        </p:nvSpPr>
        <p:spPr>
          <a:xfrm>
            <a:off x="2167128" y="2313432"/>
            <a:ext cx="1792224" cy="822960"/>
          </a:xfrm>
          <a:prstGeom prst="roundRect">
            <a:avLst>
              <a:gd name="adj" fmla="val 7778"/>
            </a:avLst>
          </a:prstGeom>
          <a:solidFill>
            <a:schemeClr val="bg2"/>
          </a:solidFill>
          <a:ln/>
        </p:spPr>
      </p:sp>
      <p:pic>
        <p:nvPicPr>
          <p:cNvPr id="18" name="box-icon-96" descr="preencoded.png">    </p:cNvPr>
          <p:cNvPicPr>
            <a:picLocks noChangeAspect="1"/>
          </p:cNvPicPr>
          <p:nvPr/>
        </p:nvPicPr>
        <p:blipFill>
          <a:blip r:embed="rId4"/>
          <a:stretch>
            <a:fillRect/>
          </a:stretch>
        </p:blipFill>
        <p:spPr>
          <a:xfrm>
            <a:off x="2258568" y="2404872"/>
            <a:ext cx="219456" cy="219456"/>
          </a:xfrm>
          <a:prstGeom prst="rect">
            <a:avLst/>
          </a:prstGeom>
        </p:spPr>
      </p:pic>
      <p:sp>
        <p:nvSpPr>
          <p:cNvPr id="19" name="box-title-97"/>
          <p:cNvSpPr txBox="1"/>
          <p:nvPr/>
        </p:nvSpPr>
        <p:spPr>
          <a:xfrm>
            <a:off x="2532888" y="2377440"/>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Party apps</a:t>
            </a:r>
            <a:endParaRPr lang="en-US" sz="1150" dirty="0"/>
          </a:p>
        </p:txBody>
      </p:sp>
      <p:sp>
        <p:nvSpPr>
          <p:cNvPr id="20" name="box-sub-98"/>
          <p:cNvSpPr txBox="1"/>
          <p:nvPr/>
        </p:nvSpPr>
        <p:spPr>
          <a:xfrm>
            <a:off x="2258568" y="2679192"/>
            <a:ext cx="1609344" cy="402336"/>
          </a:xfrm>
          <a:prstGeom prst="rect">
            <a:avLst/>
          </a:prstGeom>
          <a:noFill/>
          <a:ln/>
        </p:spPr>
        <p:txBody>
          <a:bodyPr wrap="square" lIns="0" tIns="0" rIns="0" bIns="0" rtlCol="0" anchor="t"/>
          <a:lstStyle/>
          <a:p>
            <a:pPr indent="0" marL="0">
              <a:buNone/>
            </a:pPr>
            <a:r>
              <a:rPr lang="en-US" sz="950" dirty="0">
                <a:solidFill>
                  <a:schemeClr val="tx2"/>
                </a:solidFill>
              </a:rPr>
              <a:t>rider and driver: report, reply, outcome</a:t>
            </a:r>
            <a:endParaRPr lang="en-US" sz="950" dirty="0"/>
          </a:p>
        </p:txBody>
      </p:sp>
      <p:sp>
        <p:nvSpPr>
          <p:cNvPr id="21" name="box-99"/>
          <p:cNvSpPr/>
          <p:nvPr/>
        </p:nvSpPr>
        <p:spPr>
          <a:xfrm>
            <a:off x="2167128" y="3255264"/>
            <a:ext cx="1792224" cy="822960"/>
          </a:xfrm>
          <a:prstGeom prst="roundRect">
            <a:avLst>
              <a:gd name="adj" fmla="val 7778"/>
            </a:avLst>
          </a:prstGeom>
          <a:solidFill>
            <a:schemeClr val="bg2"/>
          </a:solidFill>
          <a:ln/>
        </p:spPr>
      </p:sp>
      <p:pic>
        <p:nvPicPr>
          <p:cNvPr id="22" name="box-icon-100" descr="preencoded.png">    </p:cNvPr>
          <p:cNvPicPr>
            <a:picLocks noChangeAspect="1"/>
          </p:cNvPicPr>
          <p:nvPr/>
        </p:nvPicPr>
        <p:blipFill>
          <a:blip r:embed="rId5"/>
          <a:stretch>
            <a:fillRect/>
          </a:stretch>
        </p:blipFill>
        <p:spPr>
          <a:xfrm>
            <a:off x="2258568" y="3346704"/>
            <a:ext cx="219456" cy="219456"/>
          </a:xfrm>
          <a:prstGeom prst="rect">
            <a:avLst/>
          </a:prstGeom>
        </p:spPr>
      </p:pic>
      <p:sp>
        <p:nvSpPr>
          <p:cNvPr id="23" name="box-title-101"/>
          <p:cNvSpPr txBox="1"/>
          <p:nvPr/>
        </p:nvSpPr>
        <p:spPr>
          <a:xfrm>
            <a:off x="2532888" y="3319272"/>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Support console</a:t>
            </a:r>
            <a:endParaRPr lang="en-US" sz="1150" dirty="0"/>
          </a:p>
        </p:txBody>
      </p:sp>
      <p:sp>
        <p:nvSpPr>
          <p:cNvPr id="24" name="box-sub-102"/>
          <p:cNvSpPr txBox="1"/>
          <p:nvPr/>
        </p:nvSpPr>
        <p:spPr>
          <a:xfrm>
            <a:off x="2258568" y="3621024"/>
            <a:ext cx="1609344" cy="402336"/>
          </a:xfrm>
          <a:prstGeom prst="rect">
            <a:avLst/>
          </a:prstGeom>
          <a:noFill/>
          <a:ln/>
        </p:spPr>
        <p:txBody>
          <a:bodyPr wrap="square" lIns="0" tIns="0" rIns="0" bIns="0" rtlCol="0" anchor="t"/>
          <a:lstStyle/>
          <a:p>
            <a:pPr indent="0" marL="0">
              <a:buNone/>
            </a:pPr>
            <a:r>
              <a:rPr lang="en-US" sz="950" dirty="0">
                <a:solidFill>
                  <a:schemeClr val="tx2"/>
                </a:solidFill>
              </a:rPr>
              <a:t>the human judge's queue</a:t>
            </a:r>
            <a:endParaRPr lang="en-US" sz="950" dirty="0"/>
          </a:p>
        </p:txBody>
      </p:sp>
      <p:sp>
        <p:nvSpPr>
          <p:cNvPr id="25" name="box-103"/>
          <p:cNvSpPr/>
          <p:nvPr/>
        </p:nvSpPr>
        <p:spPr>
          <a:xfrm>
            <a:off x="2167128" y="4197096"/>
            <a:ext cx="1792224" cy="822960"/>
          </a:xfrm>
          <a:prstGeom prst="roundRect">
            <a:avLst>
              <a:gd name="adj" fmla="val 7778"/>
            </a:avLst>
          </a:prstGeom>
          <a:solidFill>
            <a:schemeClr val="bg2"/>
          </a:solidFill>
          <a:ln/>
        </p:spPr>
      </p:sp>
      <p:pic>
        <p:nvPicPr>
          <p:cNvPr id="26" name="box-icon-104" descr="preencoded.png">    </p:cNvPr>
          <p:cNvPicPr>
            <a:picLocks noChangeAspect="1"/>
          </p:cNvPicPr>
          <p:nvPr/>
        </p:nvPicPr>
        <p:blipFill>
          <a:blip r:embed="rId6"/>
          <a:stretch>
            <a:fillRect/>
          </a:stretch>
        </p:blipFill>
        <p:spPr>
          <a:xfrm>
            <a:off x="2258568" y="4288536"/>
            <a:ext cx="219456" cy="219456"/>
          </a:xfrm>
          <a:prstGeom prst="rect">
            <a:avLst/>
          </a:prstGeom>
        </p:spPr>
      </p:pic>
      <p:sp>
        <p:nvSpPr>
          <p:cNvPr id="27" name="box-title-105"/>
          <p:cNvSpPr txBox="1"/>
          <p:nvPr/>
        </p:nvSpPr>
        <p:spPr>
          <a:xfrm>
            <a:off x="2532888" y="4261104"/>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AI trace</a:t>
            </a:r>
            <a:endParaRPr lang="en-US" sz="1150" dirty="0"/>
          </a:p>
        </p:txBody>
      </p:sp>
      <p:sp>
        <p:nvSpPr>
          <p:cNvPr id="28" name="box-sub-106"/>
          <p:cNvSpPr txBox="1"/>
          <p:nvPr/>
        </p:nvSpPr>
        <p:spPr>
          <a:xfrm>
            <a:off x="2258568" y="4562856"/>
            <a:ext cx="1609344" cy="402336"/>
          </a:xfrm>
          <a:prstGeom prst="rect">
            <a:avLst/>
          </a:prstGeom>
          <a:noFill/>
          <a:ln/>
        </p:spPr>
        <p:txBody>
          <a:bodyPr wrap="square" lIns="0" tIns="0" rIns="0" bIns="0" rtlCol="0" anchor="t"/>
          <a:lstStyle/>
          <a:p>
            <a:pPr indent="0" marL="0">
              <a:buNone/>
            </a:pPr>
            <a:r>
              <a:rPr lang="en-US" sz="950" dirty="0">
                <a:solidFill>
                  <a:schemeClr val="tx2"/>
                </a:solidFill>
              </a:rPr>
              <a:t>each case as a hearing; accuracy</a:t>
            </a:r>
            <a:endParaRPr lang="en-US" sz="950" dirty="0"/>
          </a:p>
        </p:txBody>
      </p:sp>
      <p:sp>
        <p:nvSpPr>
          <p:cNvPr id="29" name="box-107"/>
          <p:cNvSpPr/>
          <p:nvPr/>
        </p:nvSpPr>
        <p:spPr>
          <a:xfrm>
            <a:off x="2167128" y="5138928"/>
            <a:ext cx="1792224" cy="822960"/>
          </a:xfrm>
          <a:prstGeom prst="roundRect">
            <a:avLst>
              <a:gd name="adj" fmla="val 7778"/>
            </a:avLst>
          </a:prstGeom>
          <a:solidFill>
            <a:schemeClr val="bg2"/>
          </a:solidFill>
          <a:ln/>
        </p:spPr>
      </p:sp>
      <p:pic>
        <p:nvPicPr>
          <p:cNvPr id="30" name="box-icon-108" descr="preencoded.png">    </p:cNvPr>
          <p:cNvPicPr>
            <a:picLocks noChangeAspect="1"/>
          </p:cNvPicPr>
          <p:nvPr/>
        </p:nvPicPr>
        <p:blipFill>
          <a:blip r:embed="rId7"/>
          <a:stretch>
            <a:fillRect/>
          </a:stretch>
        </p:blipFill>
        <p:spPr>
          <a:xfrm>
            <a:off x="2258568" y="5230368"/>
            <a:ext cx="219456" cy="219456"/>
          </a:xfrm>
          <a:prstGeom prst="rect">
            <a:avLst/>
          </a:prstGeom>
        </p:spPr>
      </p:pic>
      <p:sp>
        <p:nvSpPr>
          <p:cNvPr id="31" name="box-title-109"/>
          <p:cNvSpPr txBox="1"/>
          <p:nvPr/>
        </p:nvSpPr>
        <p:spPr>
          <a:xfrm>
            <a:off x="2532888" y="5202936"/>
            <a:ext cx="1353312" cy="274320"/>
          </a:xfrm>
          <a:prstGeom prst="rect">
            <a:avLst/>
          </a:prstGeom>
          <a:noFill/>
          <a:ln/>
        </p:spPr>
        <p:txBody>
          <a:bodyPr wrap="square" lIns="0" tIns="0" rIns="0" bIns="0" rtlCol="0" anchor="ctr"/>
          <a:lstStyle/>
          <a:p>
            <a:pPr indent="0" marL="0">
              <a:buNone/>
            </a:pPr>
            <a:r>
              <a:rPr lang="en-US" sz="1150" b="1" dirty="0">
                <a:solidFill>
                  <a:schemeClr val="tx1"/>
                </a:solidFill>
              </a:rPr>
              <a:t>Maps</a:t>
            </a:r>
            <a:endParaRPr lang="en-US" sz="1150" dirty="0"/>
          </a:p>
        </p:txBody>
      </p:sp>
      <p:sp>
        <p:nvSpPr>
          <p:cNvPr id="32" name="box-sub-110"/>
          <p:cNvSpPr txBox="1"/>
          <p:nvPr/>
        </p:nvSpPr>
        <p:spPr>
          <a:xfrm>
            <a:off x="2258568" y="5504688"/>
            <a:ext cx="1609344" cy="402336"/>
          </a:xfrm>
          <a:prstGeom prst="rect">
            <a:avLst/>
          </a:prstGeom>
          <a:noFill/>
          <a:ln/>
        </p:spPr>
        <p:txBody>
          <a:bodyPr wrap="square" lIns="0" tIns="0" rIns="0" bIns="0" rtlCol="0" anchor="t"/>
          <a:lstStyle/>
          <a:p>
            <a:pPr indent="0" marL="0">
              <a:buNone/>
            </a:pPr>
            <a:r>
              <a:rPr lang="en-US" sz="950" dirty="0">
                <a:solidFill>
                  <a:schemeClr val="tx2"/>
                </a:solidFill>
              </a:rPr>
              <a:t>Leaflet on OneMap tiles</a:t>
            </a:r>
            <a:endParaRPr lang="en-US" sz="950" dirty="0"/>
          </a:p>
        </p:txBody>
      </p:sp>
      <p:sp>
        <p:nvSpPr>
          <p:cNvPr id="33" name="wire-label-111"/>
          <p:cNvSpPr txBox="1"/>
          <p:nvPr/>
        </p:nvSpPr>
        <p:spPr>
          <a:xfrm>
            <a:off x="2167128" y="5879592"/>
            <a:ext cx="1792224" cy="201168"/>
          </a:xfrm>
          <a:prstGeom prst="rect">
            <a:avLst/>
          </a:prstGeom>
          <a:noFill/>
          <a:ln/>
        </p:spPr>
        <p:txBody>
          <a:bodyPr wrap="square" lIns="0" tIns="0" rIns="0" bIns="0" rtlCol="0" anchor="ctr"/>
          <a:lstStyle/>
          <a:p>
            <a:pPr algn="ctr" indent="0" marL="0">
              <a:buNone/>
            </a:pPr>
            <a:r>
              <a:rPr lang="en-US" sz="900" i="1" dirty="0">
                <a:solidFill>
                  <a:schemeClr val="tx2"/>
                </a:solidFill>
              </a:rPr>
              <a:t>React 19 · Vite · TypeScript</a:t>
            </a:r>
            <a:endParaRPr lang="en-US" sz="900" dirty="0"/>
          </a:p>
        </p:txBody>
      </p:sp>
      <p:sp>
        <p:nvSpPr>
          <p:cNvPr id="34" name="arrow-112"/>
          <p:cNvSpPr/>
          <p:nvPr/>
        </p:nvSpPr>
        <p:spPr>
          <a:xfrm>
            <a:off x="1645920" y="4206240"/>
            <a:ext cx="411480" cy="0"/>
          </a:xfrm>
          <a:prstGeom prst="line">
            <a:avLst/>
          </a:prstGeom>
          <a:noFill/>
          <a:ln w="19050">
            <a:solidFill>
              <a:schemeClr val="tx2"/>
            </a:solidFill>
            <a:prstDash val="solid"/>
            <a:tailEnd type="triangle"/>
          </a:ln>
        </p:spPr>
      </p:sp>
      <p:sp>
        <p:nvSpPr>
          <p:cNvPr id="35" name="wire-label-113"/>
          <p:cNvSpPr txBox="1"/>
          <p:nvPr/>
        </p:nvSpPr>
        <p:spPr>
          <a:xfrm>
            <a:off x="1600200" y="3931920"/>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HTTPS</a:t>
            </a:r>
            <a:endParaRPr lang="en-US" sz="900" dirty="0"/>
          </a:p>
        </p:txBody>
      </p:sp>
      <p:sp>
        <p:nvSpPr>
          <p:cNvPr id="36" name="zone-backend"/>
          <p:cNvSpPr/>
          <p:nvPr/>
        </p:nvSpPr>
        <p:spPr>
          <a:xfrm>
            <a:off x="4572000" y="1691640"/>
            <a:ext cx="4647895" cy="4480560"/>
          </a:xfrm>
          <a:prstGeom prst="roundRect">
            <a:avLst>
              <a:gd name="adj" fmla="val 2041"/>
            </a:avLst>
          </a:prstGeom>
          <a:solidFill>
            <a:schemeClr val="bg1"/>
          </a:solidFill>
          <a:ln w="9525">
            <a:solidFill>
              <a:schemeClr val="tx2">
                <a:alpha val="45000"/>
              </a:schemeClr>
            </a:solidFill>
            <a:prstDash val="solid"/>
          </a:ln>
        </p:spPr>
      </p:sp>
      <p:sp>
        <p:nvSpPr>
          <p:cNvPr id="37" name="zone-backend-head"/>
          <p:cNvSpPr txBox="1"/>
          <p:nvPr/>
        </p:nvSpPr>
        <p:spPr>
          <a:xfrm>
            <a:off x="4709160" y="1764792"/>
            <a:ext cx="4373575" cy="457200"/>
          </a:xfrm>
          <a:prstGeom prst="rect">
            <a:avLst/>
          </a:prstGeom>
          <a:noFill/>
          <a:ln/>
        </p:spPr>
        <p:txBody>
          <a:bodyPr wrap="square" lIns="0" tIns="0" rIns="0" bIns="0" rtlCol="0" anchor="ctr"/>
          <a:lstStyle/>
          <a:p>
            <a:pPr indent="0" marL="0">
              <a:buNone/>
            </a:pPr>
            <a:r>
              <a:rPr lang="en-US" sz="1300" b="1" dirty="0">
                <a:solidFill>
                  <a:schemeClr val="tx1"/>
                </a:solidFill>
              </a:rPr>
              <a:t>Backend</a:t>
            </a:r>
            <a:endParaRPr lang="en-US" sz="1300" dirty="0"/>
          </a:p>
          <a:p>
            <a:pPr indent="0" marL="0">
              <a:buNone/>
            </a:pPr>
            <a:r>
              <a:rPr lang="en-US" sz="950" dirty="0">
                <a:solidFill>
                  <a:schemeClr val="tx2"/>
                </a:solidFill>
              </a:rPr>
              <a:t>Render · Docker · FastAPI · Python 3.11, async</a:t>
            </a:r>
            <a:endParaRPr lang="en-US" sz="1300" dirty="0"/>
          </a:p>
        </p:txBody>
      </p:sp>
      <p:sp>
        <p:nvSpPr>
          <p:cNvPr id="38" name="box-114"/>
          <p:cNvSpPr/>
          <p:nvPr/>
        </p:nvSpPr>
        <p:spPr>
          <a:xfrm>
            <a:off x="4709160" y="2331720"/>
            <a:ext cx="1371600" cy="1325880"/>
          </a:xfrm>
          <a:prstGeom prst="roundRect">
            <a:avLst>
              <a:gd name="adj" fmla="val 4828"/>
            </a:avLst>
          </a:prstGeom>
          <a:solidFill>
            <a:schemeClr val="bg2"/>
          </a:solidFill>
          <a:ln/>
        </p:spPr>
      </p:sp>
      <p:pic>
        <p:nvPicPr>
          <p:cNvPr id="39" name="box-icon-115" descr="preencoded.png">    </p:cNvPr>
          <p:cNvPicPr>
            <a:picLocks noChangeAspect="1"/>
          </p:cNvPicPr>
          <p:nvPr/>
        </p:nvPicPr>
        <p:blipFill>
          <a:blip r:embed="rId8"/>
          <a:stretch>
            <a:fillRect/>
          </a:stretch>
        </p:blipFill>
        <p:spPr>
          <a:xfrm>
            <a:off x="4800600" y="2423160"/>
            <a:ext cx="219456" cy="219456"/>
          </a:xfrm>
          <a:prstGeom prst="rect">
            <a:avLst/>
          </a:prstGeom>
        </p:spPr>
      </p:pic>
      <p:sp>
        <p:nvSpPr>
          <p:cNvPr id="40" name="box-title-116"/>
          <p:cNvSpPr txBox="1"/>
          <p:nvPr/>
        </p:nvSpPr>
        <p:spPr>
          <a:xfrm>
            <a:off x="5074920" y="2395728"/>
            <a:ext cx="932688" cy="274320"/>
          </a:xfrm>
          <a:prstGeom prst="rect">
            <a:avLst/>
          </a:prstGeom>
          <a:noFill/>
          <a:ln/>
        </p:spPr>
        <p:txBody>
          <a:bodyPr wrap="square" lIns="0" tIns="0" rIns="0" bIns="0" rtlCol="0" anchor="ctr"/>
          <a:lstStyle/>
          <a:p>
            <a:pPr indent="0" marL="0">
              <a:buNone/>
            </a:pPr>
            <a:r>
              <a:rPr lang="en-US" sz="1150" b="1" dirty="0">
                <a:solidFill>
                  <a:schemeClr val="tx1"/>
                </a:solidFill>
              </a:rPr>
              <a:t>REST API</a:t>
            </a:r>
            <a:endParaRPr lang="en-US" sz="1150" dirty="0"/>
          </a:p>
        </p:txBody>
      </p:sp>
      <p:sp>
        <p:nvSpPr>
          <p:cNvPr id="41" name="box-sub-117"/>
          <p:cNvSpPr txBox="1"/>
          <p:nvPr/>
        </p:nvSpPr>
        <p:spPr>
          <a:xfrm>
            <a:off x="4800600" y="2697480"/>
            <a:ext cx="1188720" cy="905256"/>
          </a:xfrm>
          <a:prstGeom prst="rect">
            <a:avLst/>
          </a:prstGeom>
          <a:noFill/>
          <a:ln/>
        </p:spPr>
        <p:txBody>
          <a:bodyPr wrap="square" lIns="0" tIns="0" rIns="0" bIns="0" rtlCol="0" anchor="t"/>
          <a:lstStyle/>
          <a:p>
            <a:pPr indent="0" marL="0">
              <a:buNone/>
            </a:pPr>
            <a:r>
              <a:rPr lang="en-US" sz="950" dirty="0">
                <a:solidFill>
                  <a:schemeClr val="tx2"/>
                </a:solidFill>
              </a:rPr>
              <a:t>cases, responses, decisions, l2, golden run</a:t>
            </a:r>
            <a:endParaRPr lang="en-US" sz="950" dirty="0"/>
          </a:p>
        </p:txBody>
      </p:sp>
      <p:sp>
        <p:nvSpPr>
          <p:cNvPr id="42" name="box-118"/>
          <p:cNvSpPr/>
          <p:nvPr/>
        </p:nvSpPr>
        <p:spPr>
          <a:xfrm>
            <a:off x="4709160" y="4160520"/>
            <a:ext cx="1371600" cy="1463040"/>
          </a:xfrm>
          <a:prstGeom prst="roundRect">
            <a:avLst>
              <a:gd name="adj" fmla="val 4667"/>
            </a:avLst>
          </a:prstGeom>
          <a:solidFill>
            <a:schemeClr val="bg2"/>
          </a:solidFill>
          <a:ln/>
        </p:spPr>
      </p:sp>
      <p:pic>
        <p:nvPicPr>
          <p:cNvPr id="43" name="box-icon-119" descr="preencoded.png">    </p:cNvPr>
          <p:cNvPicPr>
            <a:picLocks noChangeAspect="1"/>
          </p:cNvPicPr>
          <p:nvPr/>
        </p:nvPicPr>
        <p:blipFill>
          <a:blip r:embed="rId9"/>
          <a:stretch>
            <a:fillRect/>
          </a:stretch>
        </p:blipFill>
        <p:spPr>
          <a:xfrm>
            <a:off x="4800600" y="4251960"/>
            <a:ext cx="219456" cy="219456"/>
          </a:xfrm>
          <a:prstGeom prst="rect">
            <a:avLst/>
          </a:prstGeom>
        </p:spPr>
      </p:pic>
      <p:sp>
        <p:nvSpPr>
          <p:cNvPr id="44" name="box-title-120"/>
          <p:cNvSpPr txBox="1"/>
          <p:nvPr/>
        </p:nvSpPr>
        <p:spPr>
          <a:xfrm>
            <a:off x="5074920" y="4224528"/>
            <a:ext cx="932688" cy="274320"/>
          </a:xfrm>
          <a:prstGeom prst="rect">
            <a:avLst/>
          </a:prstGeom>
          <a:noFill/>
          <a:ln/>
        </p:spPr>
        <p:txBody>
          <a:bodyPr wrap="square" lIns="0" tIns="0" rIns="0" bIns="0" rtlCol="0" anchor="ctr"/>
          <a:lstStyle/>
          <a:p>
            <a:pPr indent="0" marL="0">
              <a:buNone/>
            </a:pPr>
            <a:r>
              <a:rPr lang="en-US" sz="1150" b="1" dirty="0">
                <a:solidFill>
                  <a:schemeClr val="tx1"/>
                </a:solidFill>
              </a:rPr>
              <a:t>SSE stream</a:t>
            </a:r>
            <a:endParaRPr lang="en-US" sz="1150" dirty="0"/>
          </a:p>
        </p:txBody>
      </p:sp>
      <p:sp>
        <p:nvSpPr>
          <p:cNvPr id="45" name="box-sub-121"/>
          <p:cNvSpPr txBox="1"/>
          <p:nvPr/>
        </p:nvSpPr>
        <p:spPr>
          <a:xfrm>
            <a:off x="4800600" y="4526280"/>
            <a:ext cx="1188720" cy="1042416"/>
          </a:xfrm>
          <a:prstGeom prst="rect">
            <a:avLst/>
          </a:prstGeom>
          <a:noFill/>
          <a:ln/>
        </p:spPr>
        <p:txBody>
          <a:bodyPr wrap="square" lIns="0" tIns="0" rIns="0" bIns="0" rtlCol="0" anchor="t"/>
          <a:lstStyle/>
          <a:p>
            <a:pPr indent="0" marL="0">
              <a:buNone/>
            </a:pPr>
            <a:r>
              <a:rPr lang="en-US" sz="950" dirty="0">
                <a:solidFill>
                  <a:schemeClr val="tx2"/>
                </a:solidFill>
              </a:rPr>
              <a:t>per case and the L2 queue. Woken by Postgres LISTEN/NOTIFY; resumes from Last-Event-ID</a:t>
            </a:r>
            <a:endParaRPr lang="en-US" sz="950" dirty="0"/>
          </a:p>
        </p:txBody>
      </p:sp>
      <p:sp>
        <p:nvSpPr>
          <p:cNvPr id="46" name="box-122"/>
          <p:cNvSpPr/>
          <p:nvPr/>
        </p:nvSpPr>
        <p:spPr>
          <a:xfrm>
            <a:off x="6281928" y="2331720"/>
            <a:ext cx="1188720" cy="3703320"/>
          </a:xfrm>
          <a:prstGeom prst="roundRect">
            <a:avLst>
              <a:gd name="adj" fmla="val 5385"/>
            </a:avLst>
          </a:prstGeom>
          <a:solidFill>
            <a:schemeClr val="bg1"/>
          </a:solidFill>
          <a:ln w="12700">
            <a:solidFill>
              <a:schemeClr val="tx2"/>
            </a:solidFill>
            <a:prstDash val="dash"/>
          </a:ln>
        </p:spPr>
      </p:sp>
      <p:sp>
        <p:nvSpPr>
          <p:cNvPr id="47" name="box-title-123"/>
          <p:cNvSpPr txBox="1"/>
          <p:nvPr/>
        </p:nvSpPr>
        <p:spPr>
          <a:xfrm>
            <a:off x="6373368" y="2395728"/>
            <a:ext cx="1024128" cy="274320"/>
          </a:xfrm>
          <a:prstGeom prst="rect">
            <a:avLst/>
          </a:prstGeom>
          <a:noFill/>
          <a:ln/>
        </p:spPr>
        <p:txBody>
          <a:bodyPr wrap="square" lIns="0" tIns="0" rIns="0" bIns="0" rtlCol="0" anchor="ctr"/>
          <a:lstStyle/>
          <a:p>
            <a:pPr indent="0" marL="0">
              <a:buNone/>
            </a:pPr>
            <a:r>
              <a:rPr lang="en-US" sz="1150" b="1" dirty="0">
                <a:solidFill>
                  <a:schemeClr val="tx1"/>
                </a:solidFill>
              </a:rPr>
              <a:t>Orchestrator</a:t>
            </a:r>
            <a:endParaRPr lang="en-US" sz="1150" dirty="0"/>
          </a:p>
        </p:txBody>
      </p:sp>
      <p:sp>
        <p:nvSpPr>
          <p:cNvPr id="48" name="box-sub-124"/>
          <p:cNvSpPr txBox="1"/>
          <p:nvPr/>
        </p:nvSpPr>
        <p:spPr>
          <a:xfrm>
            <a:off x="6373368" y="2697480"/>
            <a:ext cx="1005840" cy="3282696"/>
          </a:xfrm>
          <a:prstGeom prst="rect">
            <a:avLst/>
          </a:prstGeom>
          <a:noFill/>
          <a:ln/>
        </p:spPr>
        <p:txBody>
          <a:bodyPr wrap="square" lIns="0" tIns="0" rIns="0" bIns="0" rtlCol="0" anchor="t"/>
          <a:lstStyle/>
          <a:p>
            <a:pPr indent="0" marL="0">
              <a:buNone/>
            </a:pPr>
            <a:r>
              <a:rPr lang="en-US" sz="950" dirty="0">
                <a:solidFill>
                  <a:schemeClr val="tx2"/>
                </a:solidFill>
              </a:rPr>
              <a:t>Case state machine: intake, hearing, final checks, outcome. Writes every step to the trace.</a:t>
            </a:r>
            <a:endParaRPr lang="en-US" sz="950" dirty="0"/>
          </a:p>
        </p:txBody>
      </p:sp>
      <p:sp>
        <p:nvSpPr>
          <p:cNvPr id="49" name="box-125"/>
          <p:cNvSpPr/>
          <p:nvPr/>
        </p:nvSpPr>
        <p:spPr>
          <a:xfrm>
            <a:off x="7671816" y="2331720"/>
            <a:ext cx="1410919" cy="2148840"/>
          </a:xfrm>
          <a:prstGeom prst="roundRect">
            <a:avLst>
              <a:gd name="adj" fmla="val 4537"/>
            </a:avLst>
          </a:prstGeom>
          <a:solidFill>
            <a:schemeClr val="tx1"/>
          </a:solidFill>
          <a:ln/>
        </p:spPr>
      </p:sp>
      <p:pic>
        <p:nvPicPr>
          <p:cNvPr id="50" name="box-icon-126" descr="preencoded.png">    </p:cNvPr>
          <p:cNvPicPr>
            <a:picLocks noChangeAspect="1"/>
          </p:cNvPicPr>
          <p:nvPr/>
        </p:nvPicPr>
        <p:blipFill>
          <a:blip r:embed="rId10"/>
          <a:stretch>
            <a:fillRect/>
          </a:stretch>
        </p:blipFill>
        <p:spPr>
          <a:xfrm>
            <a:off x="7763256" y="2423160"/>
            <a:ext cx="219456" cy="219456"/>
          </a:xfrm>
          <a:prstGeom prst="rect">
            <a:avLst/>
          </a:prstGeom>
        </p:spPr>
      </p:pic>
      <p:sp>
        <p:nvSpPr>
          <p:cNvPr id="51" name="box-title-127"/>
          <p:cNvSpPr txBox="1"/>
          <p:nvPr/>
        </p:nvSpPr>
        <p:spPr>
          <a:xfrm>
            <a:off x="8037576" y="2395728"/>
            <a:ext cx="972007" cy="274320"/>
          </a:xfrm>
          <a:prstGeom prst="rect">
            <a:avLst/>
          </a:prstGeom>
          <a:noFill/>
          <a:ln/>
        </p:spPr>
        <p:txBody>
          <a:bodyPr wrap="square" lIns="0" tIns="0" rIns="0" bIns="0" rtlCol="0" anchor="ctr"/>
          <a:lstStyle/>
          <a:p>
            <a:pPr indent="0" marL="0">
              <a:buNone/>
            </a:pPr>
            <a:r>
              <a:rPr lang="en-US" sz="1150" b="1" dirty="0">
                <a:solidFill>
                  <a:schemeClr val="bg1"/>
                </a:solidFill>
              </a:rPr>
              <a:t>AI agents</a:t>
            </a:r>
            <a:endParaRPr lang="en-US" sz="1150" dirty="0"/>
          </a:p>
        </p:txBody>
      </p:sp>
      <p:sp>
        <p:nvSpPr>
          <p:cNvPr id="52" name="box-sub-128"/>
          <p:cNvSpPr txBox="1"/>
          <p:nvPr/>
        </p:nvSpPr>
        <p:spPr>
          <a:xfrm>
            <a:off x="7763256" y="2697480"/>
            <a:ext cx="1228039" cy="1728216"/>
          </a:xfrm>
          <a:prstGeom prst="rect">
            <a:avLst/>
          </a:prstGeom>
          <a:noFill/>
          <a:ln/>
        </p:spPr>
        <p:txBody>
          <a:bodyPr wrap="square" lIns="0" tIns="0" rIns="0" bIns="0" rtlCol="0" anchor="t"/>
          <a:lstStyle/>
          <a:p>
            <a:pPr indent="0" marL="0">
              <a:buNone/>
            </a:pPr>
            <a:r>
              <a:rPr lang="en-US" sz="950" dirty="0">
                <a:solidFill>
                  <a:schemeClr val="bg2"/>
                </a:solidFill>
              </a:rPr>
              <a:t>pydantic-ai: Triage, Evidence Collection, Rider and Driver advocates, Judge, plus Image Analysis. Typed output; citations checked in code.</a:t>
            </a:r>
            <a:endParaRPr lang="en-US" sz="950" dirty="0"/>
          </a:p>
        </p:txBody>
      </p:sp>
      <p:sp>
        <p:nvSpPr>
          <p:cNvPr id="53" name="box-129"/>
          <p:cNvSpPr/>
          <p:nvPr/>
        </p:nvSpPr>
        <p:spPr>
          <a:xfrm>
            <a:off x="7671816" y="4663440"/>
            <a:ext cx="1410919" cy="1371600"/>
          </a:xfrm>
          <a:prstGeom prst="roundRect">
            <a:avLst>
              <a:gd name="adj" fmla="val 4667"/>
            </a:avLst>
          </a:prstGeom>
          <a:solidFill>
            <a:schemeClr val="bg1"/>
          </a:solidFill>
          <a:ln w="12700">
            <a:solidFill>
              <a:schemeClr val="tx2"/>
            </a:solidFill>
            <a:prstDash val="dash"/>
          </a:ln>
        </p:spPr>
      </p:sp>
      <p:pic>
        <p:nvPicPr>
          <p:cNvPr id="54" name="box-icon-130" descr="preencoded.png">    </p:cNvPr>
          <p:cNvPicPr>
            <a:picLocks noChangeAspect="1"/>
          </p:cNvPicPr>
          <p:nvPr/>
        </p:nvPicPr>
        <p:blipFill>
          <a:blip r:embed="rId11"/>
          <a:stretch>
            <a:fillRect/>
          </a:stretch>
        </p:blipFill>
        <p:spPr>
          <a:xfrm>
            <a:off x="7763256" y="4754880"/>
            <a:ext cx="219456" cy="219456"/>
          </a:xfrm>
          <a:prstGeom prst="rect">
            <a:avLst/>
          </a:prstGeom>
        </p:spPr>
      </p:pic>
      <p:sp>
        <p:nvSpPr>
          <p:cNvPr id="55" name="box-title-131"/>
          <p:cNvSpPr txBox="1"/>
          <p:nvPr/>
        </p:nvSpPr>
        <p:spPr>
          <a:xfrm>
            <a:off x="8037576" y="4727448"/>
            <a:ext cx="972007" cy="274320"/>
          </a:xfrm>
          <a:prstGeom prst="rect">
            <a:avLst/>
          </a:prstGeom>
          <a:noFill/>
          <a:ln/>
        </p:spPr>
        <p:txBody>
          <a:bodyPr wrap="square" lIns="0" tIns="0" rIns="0" bIns="0" rtlCol="0" anchor="ctr"/>
          <a:lstStyle/>
          <a:p>
            <a:pPr indent="0" marL="0">
              <a:buNone/>
            </a:pPr>
            <a:r>
              <a:rPr lang="en-US" sz="1150" b="1" dirty="0">
                <a:solidFill>
                  <a:schemeClr val="tx1"/>
                </a:solidFill>
              </a:rPr>
              <a:t>Rules · no AI</a:t>
            </a:r>
            <a:endParaRPr lang="en-US" sz="1150" dirty="0"/>
          </a:p>
        </p:txBody>
      </p:sp>
      <p:sp>
        <p:nvSpPr>
          <p:cNvPr id="56" name="box-sub-132"/>
          <p:cNvSpPr txBox="1"/>
          <p:nvPr/>
        </p:nvSpPr>
        <p:spPr>
          <a:xfrm>
            <a:off x="7763256" y="5029200"/>
            <a:ext cx="1228039" cy="950976"/>
          </a:xfrm>
          <a:prstGeom prst="rect">
            <a:avLst/>
          </a:prstGeom>
          <a:noFill/>
          <a:ln/>
        </p:spPr>
        <p:txBody>
          <a:bodyPr wrap="square" lIns="0" tIns="0" rIns="0" bIns="0" rtlCol="0" anchor="t"/>
          <a:lstStyle/>
          <a:p>
            <a:pPr indent="0" marL="0">
              <a:buNone/>
            </a:pPr>
            <a:r>
              <a:rPr lang="en-US" sz="950" dirty="0">
                <a:solidFill>
                  <a:schemeClr val="tx2"/>
                </a:solidFill>
              </a:rPr>
              <a:t>prevention, escalation gate, compliance, policy maths</a:t>
            </a:r>
            <a:endParaRPr lang="en-US" sz="950" dirty="0"/>
          </a:p>
        </p:txBody>
      </p:sp>
      <p:sp>
        <p:nvSpPr>
          <p:cNvPr id="57" name="arrow-133"/>
          <p:cNvSpPr/>
          <p:nvPr/>
        </p:nvSpPr>
        <p:spPr>
          <a:xfrm>
            <a:off x="4069080" y="2834640"/>
            <a:ext cx="640080" cy="0"/>
          </a:xfrm>
          <a:prstGeom prst="line">
            <a:avLst/>
          </a:prstGeom>
          <a:noFill/>
          <a:ln w="19050">
            <a:solidFill>
              <a:schemeClr val="tx2"/>
            </a:solidFill>
            <a:prstDash val="solid"/>
            <a:tailEnd type="triangle"/>
          </a:ln>
        </p:spPr>
      </p:sp>
      <p:sp>
        <p:nvSpPr>
          <p:cNvPr id="58" name="wire-label-134"/>
          <p:cNvSpPr txBox="1"/>
          <p:nvPr/>
        </p:nvSpPr>
        <p:spPr>
          <a:xfrm>
            <a:off x="3977640" y="2560320"/>
            <a:ext cx="685800" cy="201168"/>
          </a:xfrm>
          <a:prstGeom prst="rect">
            <a:avLst/>
          </a:prstGeom>
          <a:noFill/>
          <a:ln/>
        </p:spPr>
        <p:txBody>
          <a:bodyPr wrap="square" lIns="0" tIns="0" rIns="0" bIns="0" rtlCol="0" anchor="ctr"/>
          <a:lstStyle/>
          <a:p>
            <a:pPr algn="ctr" indent="0" marL="0">
              <a:buNone/>
            </a:pPr>
            <a:r>
              <a:rPr lang="en-US" sz="900" i="1" dirty="0">
                <a:solidFill>
                  <a:schemeClr val="tx2"/>
                </a:solidFill>
              </a:rPr>
              <a:t>REST/JSON</a:t>
            </a:r>
            <a:endParaRPr lang="en-US" sz="900" dirty="0"/>
          </a:p>
        </p:txBody>
      </p:sp>
      <p:sp>
        <p:nvSpPr>
          <p:cNvPr id="59" name="arrow-135"/>
          <p:cNvSpPr/>
          <p:nvPr/>
        </p:nvSpPr>
        <p:spPr>
          <a:xfrm flipH="1">
            <a:off x="4069080" y="4709160"/>
            <a:ext cx="640080" cy="0"/>
          </a:xfrm>
          <a:prstGeom prst="line">
            <a:avLst/>
          </a:prstGeom>
          <a:noFill/>
          <a:ln w="19050">
            <a:solidFill>
              <a:schemeClr val="tx2"/>
            </a:solidFill>
            <a:prstDash val="solid"/>
            <a:tailEnd type="triangle"/>
          </a:ln>
        </p:spPr>
      </p:sp>
      <p:sp>
        <p:nvSpPr>
          <p:cNvPr id="60" name="wire-label-136"/>
          <p:cNvSpPr txBox="1"/>
          <p:nvPr/>
        </p:nvSpPr>
        <p:spPr>
          <a:xfrm>
            <a:off x="3977640" y="4434840"/>
            <a:ext cx="685800" cy="201168"/>
          </a:xfrm>
          <a:prstGeom prst="rect">
            <a:avLst/>
          </a:prstGeom>
          <a:noFill/>
          <a:ln/>
        </p:spPr>
        <p:txBody>
          <a:bodyPr wrap="square" lIns="0" tIns="0" rIns="0" bIns="0" rtlCol="0" anchor="ctr"/>
          <a:lstStyle/>
          <a:p>
            <a:pPr algn="ctr" indent="0" marL="0">
              <a:buNone/>
            </a:pPr>
            <a:r>
              <a:rPr lang="en-US" sz="900" i="1" dirty="0">
                <a:solidFill>
                  <a:schemeClr val="tx2"/>
                </a:solidFill>
              </a:rPr>
              <a:t>SSE</a:t>
            </a:r>
            <a:endParaRPr lang="en-US" sz="900" dirty="0"/>
          </a:p>
        </p:txBody>
      </p:sp>
      <p:sp>
        <p:nvSpPr>
          <p:cNvPr id="61" name="arrow-137"/>
          <p:cNvSpPr/>
          <p:nvPr/>
        </p:nvSpPr>
        <p:spPr>
          <a:xfrm>
            <a:off x="6080760" y="2834640"/>
            <a:ext cx="201168" cy="0"/>
          </a:xfrm>
          <a:prstGeom prst="line">
            <a:avLst/>
          </a:prstGeom>
          <a:noFill/>
          <a:ln w="19050">
            <a:solidFill>
              <a:schemeClr val="tx2"/>
            </a:solidFill>
            <a:prstDash val="solid"/>
            <a:tailEnd type="triangle"/>
          </a:ln>
        </p:spPr>
      </p:sp>
      <p:sp>
        <p:nvSpPr>
          <p:cNvPr id="62" name="arrow-138"/>
          <p:cNvSpPr/>
          <p:nvPr/>
        </p:nvSpPr>
        <p:spPr>
          <a:xfrm>
            <a:off x="7470648" y="3246120"/>
            <a:ext cx="201168" cy="0"/>
          </a:xfrm>
          <a:prstGeom prst="line">
            <a:avLst/>
          </a:prstGeom>
          <a:noFill/>
          <a:ln w="19050">
            <a:solidFill>
              <a:schemeClr val="tx2"/>
            </a:solidFill>
            <a:prstDash val="solid"/>
            <a:tailEnd type="triangle"/>
          </a:ln>
        </p:spPr>
      </p:sp>
      <p:sp>
        <p:nvSpPr>
          <p:cNvPr id="63" name="arrow-139"/>
          <p:cNvSpPr/>
          <p:nvPr/>
        </p:nvSpPr>
        <p:spPr>
          <a:xfrm>
            <a:off x="7470648" y="5349240"/>
            <a:ext cx="201168" cy="0"/>
          </a:xfrm>
          <a:prstGeom prst="line">
            <a:avLst/>
          </a:prstGeom>
          <a:noFill/>
          <a:ln w="19050">
            <a:solidFill>
              <a:schemeClr val="tx2"/>
            </a:solidFill>
            <a:prstDash val="solid"/>
            <a:tailEnd type="triangle"/>
          </a:ln>
        </p:spPr>
      </p:sp>
      <p:sp>
        <p:nvSpPr>
          <p:cNvPr id="64" name="arrow-140"/>
          <p:cNvSpPr/>
          <p:nvPr/>
        </p:nvSpPr>
        <p:spPr>
          <a:xfrm flipH="1">
            <a:off x="6080760" y="4709160"/>
            <a:ext cx="201168" cy="0"/>
          </a:xfrm>
          <a:prstGeom prst="line">
            <a:avLst/>
          </a:prstGeom>
          <a:noFill/>
          <a:ln w="19050">
            <a:solidFill>
              <a:schemeClr val="tx2"/>
            </a:solidFill>
            <a:prstDash val="solid"/>
            <a:tailEnd type="triangle"/>
          </a:ln>
        </p:spPr>
      </p:sp>
      <p:sp>
        <p:nvSpPr>
          <p:cNvPr id="65" name="zone-data"/>
          <p:cNvSpPr/>
          <p:nvPr/>
        </p:nvSpPr>
        <p:spPr>
          <a:xfrm>
            <a:off x="9677095" y="1691640"/>
            <a:ext cx="1965960" cy="2103120"/>
          </a:xfrm>
          <a:prstGeom prst="roundRect">
            <a:avLst>
              <a:gd name="adj" fmla="val 4651"/>
            </a:avLst>
          </a:prstGeom>
          <a:solidFill>
            <a:schemeClr val="bg1"/>
          </a:solidFill>
          <a:ln w="9525">
            <a:solidFill>
              <a:schemeClr val="tx2">
                <a:alpha val="45000"/>
              </a:schemeClr>
            </a:solidFill>
            <a:prstDash val="solid"/>
          </a:ln>
        </p:spPr>
      </p:sp>
      <p:sp>
        <p:nvSpPr>
          <p:cNvPr id="66" name="zone-data-head"/>
          <p:cNvSpPr txBox="1"/>
          <p:nvPr/>
        </p:nvSpPr>
        <p:spPr>
          <a:xfrm>
            <a:off x="9814255" y="1764792"/>
            <a:ext cx="1691640" cy="457200"/>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a:p>
            <a:pPr indent="0" marL="0">
              <a:buNone/>
            </a:pPr>
            <a:r>
              <a:rPr lang="en-US" sz="950" dirty="0">
                <a:solidFill>
                  <a:schemeClr val="tx2"/>
                </a:solidFill>
              </a:rPr>
              <a:t>Neon · one project</a:t>
            </a:r>
            <a:endParaRPr lang="en-US" sz="1300" dirty="0"/>
          </a:p>
        </p:txBody>
      </p:sp>
      <p:sp>
        <p:nvSpPr>
          <p:cNvPr id="67" name="box-141"/>
          <p:cNvSpPr/>
          <p:nvPr/>
        </p:nvSpPr>
        <p:spPr>
          <a:xfrm>
            <a:off x="9786823" y="2258568"/>
            <a:ext cx="1746504" cy="749808"/>
          </a:xfrm>
          <a:prstGeom prst="roundRect">
            <a:avLst>
              <a:gd name="adj" fmla="val 8537"/>
            </a:avLst>
          </a:prstGeom>
          <a:solidFill>
            <a:schemeClr val="bg2"/>
          </a:solidFill>
          <a:ln/>
        </p:spPr>
      </p:sp>
      <p:pic>
        <p:nvPicPr>
          <p:cNvPr id="68" name="box-icon-142" descr="preencoded.png">    </p:cNvPr>
          <p:cNvPicPr>
            <a:picLocks noChangeAspect="1"/>
          </p:cNvPicPr>
          <p:nvPr/>
        </p:nvPicPr>
        <p:blipFill>
          <a:blip r:embed="rId12"/>
          <a:stretch>
            <a:fillRect/>
          </a:stretch>
        </p:blipFill>
        <p:spPr>
          <a:xfrm>
            <a:off x="9878263" y="2350008"/>
            <a:ext cx="219456" cy="219456"/>
          </a:xfrm>
          <a:prstGeom prst="rect">
            <a:avLst/>
          </a:prstGeom>
        </p:spPr>
      </p:pic>
      <p:sp>
        <p:nvSpPr>
          <p:cNvPr id="69" name="box-title-143"/>
          <p:cNvSpPr txBox="1"/>
          <p:nvPr/>
        </p:nvSpPr>
        <p:spPr>
          <a:xfrm>
            <a:off x="10152583" y="2322576"/>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Postgres</a:t>
            </a:r>
            <a:endParaRPr lang="en-US" sz="1150" dirty="0"/>
          </a:p>
        </p:txBody>
      </p:sp>
      <p:sp>
        <p:nvSpPr>
          <p:cNvPr id="70" name="box-sub-144"/>
          <p:cNvSpPr txBox="1"/>
          <p:nvPr/>
        </p:nvSpPr>
        <p:spPr>
          <a:xfrm>
            <a:off x="9878263" y="2624328"/>
            <a:ext cx="1563624" cy="329184"/>
          </a:xfrm>
          <a:prstGeom prst="rect">
            <a:avLst/>
          </a:prstGeom>
          <a:noFill/>
          <a:ln/>
        </p:spPr>
        <p:txBody>
          <a:bodyPr wrap="square" lIns="0" tIns="0" rIns="0" bIns="0" rtlCol="0" anchor="t"/>
          <a:lstStyle/>
          <a:p>
            <a:pPr indent="0" marL="0">
              <a:buNone/>
            </a:pPr>
            <a:r>
              <a:rPr lang="en-US" sz="950" dirty="0">
                <a:solidFill>
                  <a:schemeClr val="tx2"/>
                </a:solidFill>
              </a:rPr>
              <a:t>pgvector. Cases, evidence, trace, decisions, usage</a:t>
            </a:r>
            <a:endParaRPr lang="en-US" sz="950" dirty="0"/>
          </a:p>
        </p:txBody>
      </p:sp>
      <p:sp>
        <p:nvSpPr>
          <p:cNvPr id="71" name="box-145"/>
          <p:cNvSpPr/>
          <p:nvPr/>
        </p:nvSpPr>
        <p:spPr>
          <a:xfrm>
            <a:off x="9786823" y="3063240"/>
            <a:ext cx="1746504" cy="621792"/>
          </a:xfrm>
          <a:prstGeom prst="roundRect">
            <a:avLst>
              <a:gd name="adj" fmla="val 10294"/>
            </a:avLst>
          </a:prstGeom>
          <a:solidFill>
            <a:schemeClr val="bg2"/>
          </a:solidFill>
          <a:ln/>
        </p:spPr>
      </p:sp>
      <p:pic>
        <p:nvPicPr>
          <p:cNvPr id="72" name="box-icon-146" descr="preencoded.png">    </p:cNvPr>
          <p:cNvPicPr>
            <a:picLocks noChangeAspect="1"/>
          </p:cNvPicPr>
          <p:nvPr/>
        </p:nvPicPr>
        <p:blipFill>
          <a:blip r:embed="rId13"/>
          <a:stretch>
            <a:fillRect/>
          </a:stretch>
        </p:blipFill>
        <p:spPr>
          <a:xfrm>
            <a:off x="9878263" y="3154680"/>
            <a:ext cx="219456" cy="219456"/>
          </a:xfrm>
          <a:prstGeom prst="rect">
            <a:avLst/>
          </a:prstGeom>
        </p:spPr>
      </p:pic>
      <p:sp>
        <p:nvSpPr>
          <p:cNvPr id="73" name="box-title-147"/>
          <p:cNvSpPr txBox="1"/>
          <p:nvPr/>
        </p:nvSpPr>
        <p:spPr>
          <a:xfrm>
            <a:off x="10152583" y="312724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Object storage</a:t>
            </a:r>
            <a:endParaRPr lang="en-US" sz="1150" dirty="0"/>
          </a:p>
        </p:txBody>
      </p:sp>
      <p:sp>
        <p:nvSpPr>
          <p:cNvPr id="74" name="box-sub-148"/>
          <p:cNvSpPr txBox="1"/>
          <p:nvPr/>
        </p:nvSpPr>
        <p:spPr>
          <a:xfrm>
            <a:off x="9878263" y="3429000"/>
            <a:ext cx="1563624" cy="201168"/>
          </a:xfrm>
          <a:prstGeom prst="rect">
            <a:avLst/>
          </a:prstGeom>
          <a:noFill/>
          <a:ln/>
        </p:spPr>
        <p:txBody>
          <a:bodyPr wrap="square" lIns="0" tIns="0" rIns="0" bIns="0" rtlCol="0" anchor="t"/>
          <a:lstStyle/>
          <a:p>
            <a:pPr indent="0" marL="0">
              <a:buNone/>
            </a:pPr>
            <a:r>
              <a:rPr lang="en-US" sz="950" dirty="0">
                <a:solidFill>
                  <a:schemeClr val="tx2"/>
                </a:solidFill>
              </a:rPr>
              <a:t>evidence photos</a:t>
            </a:r>
            <a:endParaRPr lang="en-US" sz="950" dirty="0"/>
          </a:p>
        </p:txBody>
      </p:sp>
      <p:sp>
        <p:nvSpPr>
          <p:cNvPr id="75" name="zone-external"/>
          <p:cNvSpPr/>
          <p:nvPr/>
        </p:nvSpPr>
        <p:spPr>
          <a:xfrm>
            <a:off x="9677095" y="3977640"/>
            <a:ext cx="1965960" cy="2194560"/>
          </a:xfrm>
          <a:prstGeom prst="roundRect">
            <a:avLst>
              <a:gd name="adj" fmla="val 4651"/>
            </a:avLst>
          </a:prstGeom>
          <a:solidFill>
            <a:schemeClr val="bg1"/>
          </a:solidFill>
          <a:ln w="9525">
            <a:solidFill>
              <a:schemeClr val="tx2">
                <a:alpha val="45000"/>
              </a:schemeClr>
            </a:solidFill>
            <a:prstDash val="solid"/>
          </a:ln>
        </p:spPr>
      </p:sp>
      <p:sp>
        <p:nvSpPr>
          <p:cNvPr id="76" name="zone-external-head"/>
          <p:cNvSpPr txBox="1"/>
          <p:nvPr/>
        </p:nvSpPr>
        <p:spPr>
          <a:xfrm>
            <a:off x="9814255" y="4050792"/>
            <a:ext cx="1691640" cy="457200"/>
          </a:xfrm>
          <a:prstGeom prst="rect">
            <a:avLst/>
          </a:prstGeom>
          <a:noFill/>
          <a:ln/>
        </p:spPr>
        <p:txBody>
          <a:bodyPr wrap="square" lIns="0" tIns="0" rIns="0" bIns="0" rtlCol="0" anchor="ctr"/>
          <a:lstStyle/>
          <a:p>
            <a:pPr indent="0" marL="0">
              <a:buNone/>
            </a:pPr>
            <a:r>
              <a:rPr lang="en-US" sz="1300" b="1" dirty="0">
                <a:solidFill>
                  <a:schemeClr val="tx1"/>
                </a:solidFill>
              </a:rPr>
              <a:t>External services</a:t>
            </a:r>
            <a:endParaRPr lang="en-US" sz="1300" dirty="0"/>
          </a:p>
          <a:p>
            <a:pPr indent="0" marL="0">
              <a:buNone/>
            </a:pPr>
            <a:r>
              <a:rPr lang="en-US" sz="950" dirty="0">
                <a:solidFill>
                  <a:schemeClr val="tx2"/>
                </a:solidFill>
              </a:rPr>
              <a:t>managed APIs</a:t>
            </a:r>
            <a:endParaRPr lang="en-US" sz="1300" dirty="0"/>
          </a:p>
        </p:txBody>
      </p:sp>
      <p:sp>
        <p:nvSpPr>
          <p:cNvPr id="77" name="box-149"/>
          <p:cNvSpPr/>
          <p:nvPr/>
        </p:nvSpPr>
        <p:spPr>
          <a:xfrm>
            <a:off x="9786823" y="4526280"/>
            <a:ext cx="1746504" cy="768096"/>
          </a:xfrm>
          <a:prstGeom prst="roundRect">
            <a:avLst>
              <a:gd name="adj" fmla="val 8333"/>
            </a:avLst>
          </a:prstGeom>
          <a:solidFill>
            <a:schemeClr val="bg2"/>
          </a:solidFill>
          <a:ln/>
        </p:spPr>
      </p:sp>
      <p:pic>
        <p:nvPicPr>
          <p:cNvPr id="78" name="box-icon-150" descr="preencoded.png">    </p:cNvPr>
          <p:cNvPicPr>
            <a:picLocks noChangeAspect="1"/>
          </p:cNvPicPr>
          <p:nvPr/>
        </p:nvPicPr>
        <p:blipFill>
          <a:blip r:embed="rId14"/>
          <a:stretch>
            <a:fillRect/>
          </a:stretch>
        </p:blipFill>
        <p:spPr>
          <a:xfrm>
            <a:off x="9878263" y="4617720"/>
            <a:ext cx="219456" cy="219456"/>
          </a:xfrm>
          <a:prstGeom prst="rect">
            <a:avLst/>
          </a:prstGeom>
        </p:spPr>
      </p:pic>
      <p:sp>
        <p:nvSpPr>
          <p:cNvPr id="79" name="box-title-151"/>
          <p:cNvSpPr txBox="1"/>
          <p:nvPr/>
        </p:nvSpPr>
        <p:spPr>
          <a:xfrm>
            <a:off x="10152583" y="459028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Models</a:t>
            </a:r>
            <a:endParaRPr lang="en-US" sz="1150" dirty="0"/>
          </a:p>
        </p:txBody>
      </p:sp>
      <p:sp>
        <p:nvSpPr>
          <p:cNvPr id="80" name="box-sub-152"/>
          <p:cNvSpPr txBox="1"/>
          <p:nvPr/>
        </p:nvSpPr>
        <p:spPr>
          <a:xfrm>
            <a:off x="9878263" y="4892040"/>
            <a:ext cx="1563624" cy="347472"/>
          </a:xfrm>
          <a:prstGeom prst="rect">
            <a:avLst/>
          </a:prstGeom>
          <a:noFill/>
          <a:ln/>
        </p:spPr>
        <p:txBody>
          <a:bodyPr wrap="square" lIns="0" tIns="0" rIns="0" bIns="0" rtlCol="0" anchor="t"/>
          <a:lstStyle/>
          <a:p>
            <a:pPr indent="0" marL="0">
              <a:buNone/>
            </a:pPr>
            <a:r>
              <a:rPr lang="en-US" sz="950" dirty="0">
                <a:solidFill>
                  <a:schemeClr val="tx2"/>
                </a:solidFill>
              </a:rPr>
              <a:t>DeepInfra: Qwen3-235B, Gemma 4. Gemini fallback</a:t>
            </a:r>
            <a:endParaRPr lang="en-US" sz="950" dirty="0"/>
          </a:p>
        </p:txBody>
      </p:sp>
      <p:sp>
        <p:nvSpPr>
          <p:cNvPr id="81" name="box-153"/>
          <p:cNvSpPr/>
          <p:nvPr/>
        </p:nvSpPr>
        <p:spPr>
          <a:xfrm>
            <a:off x="9786823" y="5349240"/>
            <a:ext cx="1746504" cy="347472"/>
          </a:xfrm>
          <a:prstGeom prst="roundRect">
            <a:avLst>
              <a:gd name="adj" fmla="val 18421"/>
            </a:avLst>
          </a:prstGeom>
          <a:solidFill>
            <a:schemeClr val="bg2"/>
          </a:solidFill>
          <a:ln/>
        </p:spPr>
      </p:sp>
      <p:pic>
        <p:nvPicPr>
          <p:cNvPr id="82" name="box-icon-154" descr="preencoded.png">    </p:cNvPr>
          <p:cNvPicPr>
            <a:picLocks noChangeAspect="1"/>
          </p:cNvPicPr>
          <p:nvPr/>
        </p:nvPicPr>
        <p:blipFill>
          <a:blip r:embed="rId15"/>
          <a:stretch>
            <a:fillRect/>
          </a:stretch>
        </p:blipFill>
        <p:spPr>
          <a:xfrm>
            <a:off x="9878263" y="5440680"/>
            <a:ext cx="219456" cy="219456"/>
          </a:xfrm>
          <a:prstGeom prst="rect">
            <a:avLst/>
          </a:prstGeom>
        </p:spPr>
      </p:pic>
      <p:sp>
        <p:nvSpPr>
          <p:cNvPr id="83" name="box-title-155"/>
          <p:cNvSpPr txBox="1"/>
          <p:nvPr/>
        </p:nvSpPr>
        <p:spPr>
          <a:xfrm>
            <a:off x="10152583" y="5413248"/>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Logfire</a:t>
            </a:r>
            <a:endParaRPr lang="en-US" sz="1150" dirty="0"/>
          </a:p>
        </p:txBody>
      </p:sp>
      <p:sp>
        <p:nvSpPr>
          <p:cNvPr id="84" name="box-156"/>
          <p:cNvSpPr/>
          <p:nvPr/>
        </p:nvSpPr>
        <p:spPr>
          <a:xfrm>
            <a:off x="9786823" y="5751576"/>
            <a:ext cx="1746504" cy="347472"/>
          </a:xfrm>
          <a:prstGeom prst="roundRect">
            <a:avLst>
              <a:gd name="adj" fmla="val 18421"/>
            </a:avLst>
          </a:prstGeom>
          <a:solidFill>
            <a:schemeClr val="bg2"/>
          </a:solidFill>
          <a:ln/>
        </p:spPr>
      </p:sp>
      <p:pic>
        <p:nvPicPr>
          <p:cNvPr id="85" name="box-icon-157" descr="preencoded.png">    </p:cNvPr>
          <p:cNvPicPr>
            <a:picLocks noChangeAspect="1"/>
          </p:cNvPicPr>
          <p:nvPr/>
        </p:nvPicPr>
        <p:blipFill>
          <a:blip r:embed="rId16"/>
          <a:stretch>
            <a:fillRect/>
          </a:stretch>
        </p:blipFill>
        <p:spPr>
          <a:xfrm>
            <a:off x="9878263" y="5843016"/>
            <a:ext cx="219456" cy="219456"/>
          </a:xfrm>
          <a:prstGeom prst="rect">
            <a:avLst/>
          </a:prstGeom>
        </p:spPr>
      </p:pic>
      <p:sp>
        <p:nvSpPr>
          <p:cNvPr id="86" name="box-title-158"/>
          <p:cNvSpPr txBox="1"/>
          <p:nvPr/>
        </p:nvSpPr>
        <p:spPr>
          <a:xfrm>
            <a:off x="10152583" y="5815584"/>
            <a:ext cx="1307592" cy="274320"/>
          </a:xfrm>
          <a:prstGeom prst="rect">
            <a:avLst/>
          </a:prstGeom>
          <a:noFill/>
          <a:ln/>
        </p:spPr>
        <p:txBody>
          <a:bodyPr wrap="square" lIns="0" tIns="0" rIns="0" bIns="0" rtlCol="0" anchor="ctr"/>
          <a:lstStyle/>
          <a:p>
            <a:pPr indent="0" marL="0">
              <a:buNone/>
            </a:pPr>
            <a:r>
              <a:rPr lang="en-US" sz="1150" b="1" dirty="0">
                <a:solidFill>
                  <a:schemeClr val="tx1"/>
                </a:solidFill>
              </a:rPr>
              <a:t>OneMap routing</a:t>
            </a:r>
            <a:endParaRPr lang="en-US" sz="1150" dirty="0"/>
          </a:p>
        </p:txBody>
      </p:sp>
      <p:sp>
        <p:nvSpPr>
          <p:cNvPr id="87" name="arrow-159"/>
          <p:cNvSpPr/>
          <p:nvPr/>
        </p:nvSpPr>
        <p:spPr>
          <a:xfrm>
            <a:off x="9082735" y="2642616"/>
            <a:ext cx="704088" cy="0"/>
          </a:xfrm>
          <a:prstGeom prst="line">
            <a:avLst/>
          </a:prstGeom>
          <a:noFill/>
          <a:ln w="19050">
            <a:solidFill>
              <a:schemeClr val="tx2"/>
            </a:solidFill>
            <a:prstDash val="solid"/>
            <a:tailEnd type="triangle"/>
          </a:ln>
        </p:spPr>
      </p:sp>
      <p:sp>
        <p:nvSpPr>
          <p:cNvPr id="88" name="wire-label-160"/>
          <p:cNvSpPr txBox="1"/>
          <p:nvPr/>
        </p:nvSpPr>
        <p:spPr>
          <a:xfrm>
            <a:off x="9064447" y="2368296"/>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SQL</a:t>
            </a:r>
            <a:endParaRPr lang="en-US" sz="900" dirty="0"/>
          </a:p>
        </p:txBody>
      </p:sp>
      <p:sp>
        <p:nvSpPr>
          <p:cNvPr id="89" name="arrow-161"/>
          <p:cNvSpPr/>
          <p:nvPr/>
        </p:nvSpPr>
        <p:spPr>
          <a:xfrm>
            <a:off x="9082735" y="3374136"/>
            <a:ext cx="704088" cy="0"/>
          </a:xfrm>
          <a:prstGeom prst="line">
            <a:avLst/>
          </a:prstGeom>
          <a:noFill/>
          <a:ln w="19050">
            <a:solidFill>
              <a:schemeClr val="tx2"/>
            </a:solidFill>
            <a:prstDash val="solid"/>
            <a:tailEnd type="triangle"/>
          </a:ln>
        </p:spPr>
      </p:sp>
      <p:sp>
        <p:nvSpPr>
          <p:cNvPr id="90" name="wire-label-162"/>
          <p:cNvSpPr txBox="1"/>
          <p:nvPr/>
        </p:nvSpPr>
        <p:spPr>
          <a:xfrm>
            <a:off x="9064447" y="3099816"/>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S3 API</a:t>
            </a:r>
            <a:endParaRPr lang="en-US" sz="900" dirty="0"/>
          </a:p>
        </p:txBody>
      </p:sp>
      <p:sp>
        <p:nvSpPr>
          <p:cNvPr id="91" name="arrow-163"/>
          <p:cNvSpPr/>
          <p:nvPr/>
        </p:nvSpPr>
        <p:spPr>
          <a:xfrm>
            <a:off x="9082735" y="4892040"/>
            <a:ext cx="704088" cy="0"/>
          </a:xfrm>
          <a:prstGeom prst="line">
            <a:avLst/>
          </a:prstGeom>
          <a:noFill/>
          <a:ln w="19050">
            <a:solidFill>
              <a:schemeClr val="tx2"/>
            </a:solidFill>
            <a:prstDash val="solid"/>
            <a:tailEnd type="triangle"/>
          </a:ln>
        </p:spPr>
      </p:sp>
      <p:sp>
        <p:nvSpPr>
          <p:cNvPr id="92" name="wire-label-164"/>
          <p:cNvSpPr txBox="1"/>
          <p:nvPr/>
        </p:nvSpPr>
        <p:spPr>
          <a:xfrm>
            <a:off x="9064447" y="4617720"/>
            <a:ext cx="502920" cy="201168"/>
          </a:xfrm>
          <a:prstGeom prst="rect">
            <a:avLst/>
          </a:prstGeom>
          <a:noFill/>
          <a:ln/>
        </p:spPr>
        <p:txBody>
          <a:bodyPr wrap="square" lIns="0" tIns="0" rIns="0" bIns="0" rtlCol="0" anchor="ctr"/>
          <a:lstStyle/>
          <a:p>
            <a:pPr algn="ctr" indent="0" marL="0">
              <a:buNone/>
            </a:pPr>
            <a:r>
              <a:rPr lang="en-US" sz="900" i="1" dirty="0">
                <a:solidFill>
                  <a:schemeClr val="tx2"/>
                </a:solidFill>
              </a:rPr>
              <a:t>HTTPS</a:t>
            </a:r>
            <a:endParaRPr lang="en-US" sz="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Agentic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Code calls each agent in turn. Each gets narrow tools and returns a typed object that code checks.</a:t>
            </a:r>
            <a:endParaRPr lang="en-US" sz="1500" dirty="0"/>
          </a:p>
        </p:txBody>
      </p:sp>
      <p:sp>
        <p:nvSpPr>
          <p:cNvPr id="4" name="col-head-165"/>
          <p:cNvSpPr txBox="1"/>
          <p:nvPr/>
        </p:nvSpPr>
        <p:spPr>
          <a:xfrm>
            <a:off x="548640" y="1572768"/>
            <a:ext cx="1280160" cy="256032"/>
          </a:xfrm>
          <a:prstGeom prst="rect">
            <a:avLst/>
          </a:prstGeom>
          <a:noFill/>
          <a:ln/>
        </p:spPr>
        <p:txBody>
          <a:bodyPr wrap="square" lIns="0" tIns="0" rIns="0" bIns="0" rtlCol="0" anchor="ctr"/>
          <a:lstStyle/>
          <a:p>
            <a:pPr indent="0" marL="0">
              <a:buNone/>
            </a:pPr>
            <a:r>
              <a:rPr lang="en-US" sz="1050" b="1" dirty="0">
                <a:solidFill>
                  <a:schemeClr val="tx2"/>
                </a:solidFill>
              </a:rPr>
              <a:t>ORCHESTRATOR</a:t>
            </a:r>
            <a:endParaRPr lang="en-US" sz="1050" dirty="0"/>
          </a:p>
        </p:txBody>
      </p:sp>
      <p:sp>
        <p:nvSpPr>
          <p:cNvPr id="5" name="col-head-166"/>
          <p:cNvSpPr txBox="1"/>
          <p:nvPr/>
        </p:nvSpPr>
        <p:spPr>
          <a:xfrm>
            <a:off x="2148840" y="1572768"/>
            <a:ext cx="2148840" cy="256032"/>
          </a:xfrm>
          <a:prstGeom prst="rect">
            <a:avLst/>
          </a:prstGeom>
          <a:noFill/>
          <a:ln/>
        </p:spPr>
        <p:txBody>
          <a:bodyPr wrap="square" lIns="0" tIns="0" rIns="0" bIns="0" rtlCol="0" anchor="ctr"/>
          <a:lstStyle/>
          <a:p>
            <a:pPr indent="0" marL="0">
              <a:buNone/>
            </a:pPr>
            <a:r>
              <a:rPr lang="en-US" sz="1050" b="1" dirty="0">
                <a:solidFill>
                  <a:schemeClr val="tx2"/>
                </a:solidFill>
              </a:rPr>
              <a:t>AGENT</a:t>
            </a:r>
            <a:endParaRPr lang="en-US" sz="1050" dirty="0"/>
          </a:p>
        </p:txBody>
      </p:sp>
      <p:sp>
        <p:nvSpPr>
          <p:cNvPr id="6" name="col-head-167"/>
          <p:cNvSpPr txBox="1"/>
          <p:nvPr/>
        </p:nvSpPr>
        <p:spPr>
          <a:xfrm>
            <a:off x="4572000" y="1572768"/>
            <a:ext cx="3246120" cy="256032"/>
          </a:xfrm>
          <a:prstGeom prst="rect">
            <a:avLst/>
          </a:prstGeom>
          <a:noFill/>
          <a:ln/>
        </p:spPr>
        <p:txBody>
          <a:bodyPr wrap="square" lIns="0" tIns="0" rIns="0" bIns="0" rtlCol="0" anchor="ctr"/>
          <a:lstStyle/>
          <a:p>
            <a:pPr indent="0" marL="0">
              <a:buNone/>
            </a:pPr>
            <a:r>
              <a:rPr lang="en-US" sz="1050" b="1" dirty="0">
                <a:solidFill>
                  <a:schemeClr val="tx2"/>
                </a:solidFill>
              </a:rPr>
              <a:t>TOOLS IT CAN CALL</a:t>
            </a:r>
            <a:endParaRPr lang="en-US" sz="1050" dirty="0"/>
          </a:p>
        </p:txBody>
      </p:sp>
      <p:sp>
        <p:nvSpPr>
          <p:cNvPr id="7" name="col-head-168"/>
          <p:cNvSpPr txBox="1"/>
          <p:nvPr/>
        </p:nvSpPr>
        <p:spPr>
          <a:xfrm>
            <a:off x="8001000" y="1572768"/>
            <a:ext cx="1600200" cy="256032"/>
          </a:xfrm>
          <a:prstGeom prst="rect">
            <a:avLst/>
          </a:prstGeom>
          <a:noFill/>
          <a:ln/>
        </p:spPr>
        <p:txBody>
          <a:bodyPr wrap="square" lIns="0" tIns="0" rIns="0" bIns="0" rtlCol="0" anchor="ctr"/>
          <a:lstStyle/>
          <a:p>
            <a:pPr indent="0" marL="0">
              <a:buNone/>
            </a:pPr>
            <a:r>
              <a:rPr lang="en-US" sz="1050" b="1" dirty="0">
                <a:solidFill>
                  <a:schemeClr val="tx2"/>
                </a:solidFill>
              </a:rPr>
              <a:t>RETURNS (TYPED)</a:t>
            </a:r>
            <a:endParaRPr lang="en-US" sz="1050" dirty="0"/>
          </a:p>
        </p:txBody>
      </p:sp>
      <p:sp>
        <p:nvSpPr>
          <p:cNvPr id="8" name="col-head-169"/>
          <p:cNvSpPr txBox="1"/>
          <p:nvPr/>
        </p:nvSpPr>
        <p:spPr>
          <a:xfrm>
            <a:off x="9829800" y="1572768"/>
            <a:ext cx="1813255" cy="256032"/>
          </a:xfrm>
          <a:prstGeom prst="rect">
            <a:avLst/>
          </a:prstGeom>
          <a:noFill/>
          <a:ln/>
        </p:spPr>
        <p:txBody>
          <a:bodyPr wrap="square" lIns="0" tIns="0" rIns="0" bIns="0" rtlCol="0" anchor="ctr"/>
          <a:lstStyle/>
          <a:p>
            <a:pPr indent="0" marL="0">
              <a:buNone/>
            </a:pPr>
            <a:r>
              <a:rPr lang="en-US" sz="1050" b="1" dirty="0">
                <a:solidFill>
                  <a:schemeClr val="tx2"/>
                </a:solidFill>
              </a:rPr>
              <a:t>CHECKED IN CODE</a:t>
            </a:r>
            <a:endParaRPr lang="en-US" sz="1050" dirty="0"/>
          </a:p>
        </p:txBody>
      </p:sp>
      <p:sp>
        <p:nvSpPr>
          <p:cNvPr id="9" name="orchestrator"/>
          <p:cNvSpPr/>
          <p:nvPr/>
        </p:nvSpPr>
        <p:spPr>
          <a:xfrm>
            <a:off x="548640" y="1901952"/>
            <a:ext cx="1280160" cy="3291840"/>
          </a:xfrm>
          <a:prstGeom prst="roundRect">
            <a:avLst>
              <a:gd name="adj" fmla="val 7143"/>
            </a:avLst>
          </a:prstGeom>
          <a:solidFill>
            <a:schemeClr val="bg1"/>
          </a:solidFill>
          <a:ln w="15875">
            <a:solidFill>
              <a:schemeClr val="tx2"/>
            </a:solidFill>
            <a:prstDash val="dash"/>
          </a:ln>
        </p:spPr>
      </p:sp>
      <p:pic>
        <p:nvPicPr>
          <p:cNvPr id="10" name="orchestrator-icon" descr="preencoded.png">    </p:cNvPr>
          <p:cNvPicPr>
            <a:picLocks noChangeAspect="1"/>
          </p:cNvPicPr>
          <p:nvPr/>
        </p:nvPicPr>
        <p:blipFill>
          <a:blip r:embed="rId1"/>
          <a:stretch>
            <a:fillRect/>
          </a:stretch>
        </p:blipFill>
        <p:spPr>
          <a:xfrm>
            <a:off x="1005840" y="2862072"/>
            <a:ext cx="365760" cy="365760"/>
          </a:xfrm>
          <a:prstGeom prst="rect">
            <a:avLst/>
          </a:prstGeom>
        </p:spPr>
      </p:pic>
      <p:sp>
        <p:nvSpPr>
          <p:cNvPr id="11" name="orchestrator-text"/>
          <p:cNvSpPr txBox="1"/>
          <p:nvPr/>
        </p:nvSpPr>
        <p:spPr>
          <a:xfrm>
            <a:off x="621792" y="3319272"/>
            <a:ext cx="1133856" cy="731520"/>
          </a:xfrm>
          <a:prstGeom prst="rect">
            <a:avLst/>
          </a:prstGeom>
          <a:noFill/>
          <a:ln/>
        </p:spPr>
        <p:txBody>
          <a:bodyPr wrap="square" lIns="0" tIns="0" rIns="0" bIns="0" rtlCol="0" anchor="t"/>
          <a:lstStyle/>
          <a:p>
            <a:pPr algn="ctr" indent="0" marL="0">
              <a:buNone/>
            </a:pPr>
            <a:r>
              <a:rPr lang="en-US" sz="1300" b="1" dirty="0">
                <a:solidFill>
                  <a:schemeClr val="tx1"/>
                </a:solidFill>
              </a:rPr>
              <a:t>Orchestrator</a:t>
            </a:r>
            <a:endParaRPr lang="en-US" sz="1300" dirty="0"/>
          </a:p>
          <a:p>
            <a:pPr algn="ctr" indent="0" marL="0">
              <a:buNone/>
            </a:pPr>
            <a:r>
              <a:rPr lang="en-US" sz="1000" dirty="0">
                <a:solidFill>
                  <a:schemeClr val="tx2"/>
                </a:solidFill>
              </a:rPr>
              <a:t>plain code, a state machine</a:t>
            </a:r>
            <a:endParaRPr lang="en-US" sz="1300" dirty="0"/>
          </a:p>
        </p:txBody>
      </p:sp>
      <p:sp>
        <p:nvSpPr>
          <p:cNvPr id="12" name="arrow-170"/>
          <p:cNvSpPr/>
          <p:nvPr/>
        </p:nvSpPr>
        <p:spPr>
          <a:xfrm>
            <a:off x="1828800" y="2258568"/>
            <a:ext cx="320040" cy="0"/>
          </a:xfrm>
          <a:prstGeom prst="line">
            <a:avLst/>
          </a:prstGeom>
          <a:noFill/>
          <a:ln w="19050">
            <a:solidFill>
              <a:schemeClr val="tx2"/>
            </a:solidFill>
            <a:prstDash val="solid"/>
            <a:tailEnd type="triangle"/>
          </a:ln>
        </p:spPr>
      </p:sp>
      <p:sp>
        <p:nvSpPr>
          <p:cNvPr id="13" name="node-171"/>
          <p:cNvSpPr/>
          <p:nvPr/>
        </p:nvSpPr>
        <p:spPr>
          <a:xfrm>
            <a:off x="2148840" y="1901952"/>
            <a:ext cx="2148840" cy="713232"/>
          </a:xfrm>
          <a:prstGeom prst="roundRect">
            <a:avLst>
              <a:gd name="adj" fmla="val 12821"/>
            </a:avLst>
          </a:prstGeom>
          <a:solidFill>
            <a:schemeClr val="tx1"/>
          </a:solidFill>
          <a:ln/>
        </p:spPr>
      </p:sp>
      <p:pic>
        <p:nvPicPr>
          <p:cNvPr id="14" name="icon-172" descr="preencoded.png">    </p:cNvPr>
          <p:cNvPicPr>
            <a:picLocks noChangeAspect="1"/>
          </p:cNvPicPr>
          <p:nvPr/>
        </p:nvPicPr>
        <p:blipFill>
          <a:blip r:embed="rId2"/>
          <a:stretch>
            <a:fillRect/>
          </a:stretch>
        </p:blipFill>
        <p:spPr>
          <a:xfrm>
            <a:off x="2276856" y="2029968"/>
            <a:ext cx="292608" cy="292608"/>
          </a:xfrm>
          <a:prstGeom prst="rect">
            <a:avLst/>
          </a:prstGeom>
        </p:spPr>
      </p:pic>
      <p:sp>
        <p:nvSpPr>
          <p:cNvPr id="15" name="node-title-173"/>
          <p:cNvSpPr txBox="1"/>
          <p:nvPr/>
        </p:nvSpPr>
        <p:spPr>
          <a:xfrm>
            <a:off x="2660904" y="2002536"/>
            <a:ext cx="1508760" cy="347472"/>
          </a:xfrm>
          <a:prstGeom prst="rect">
            <a:avLst/>
          </a:prstGeom>
          <a:noFill/>
          <a:ln/>
        </p:spPr>
        <p:txBody>
          <a:bodyPr wrap="square" lIns="0" tIns="0" rIns="0" bIns="0" rtlCol="0" anchor="ctr"/>
          <a:lstStyle/>
          <a:p>
            <a:pPr indent="0" marL="0">
              <a:buNone/>
            </a:pPr>
            <a:r>
              <a:rPr lang="en-US" sz="1400" b="1" dirty="0">
                <a:solidFill>
                  <a:schemeClr val="bg1"/>
                </a:solidFill>
              </a:rPr>
              <a:t>Triage</a:t>
            </a:r>
            <a:endParaRPr lang="en-US" sz="1400" dirty="0"/>
          </a:p>
        </p:txBody>
      </p:sp>
      <p:sp>
        <p:nvSpPr>
          <p:cNvPr id="16" name="node-sub-174"/>
          <p:cNvSpPr txBox="1"/>
          <p:nvPr/>
        </p:nvSpPr>
        <p:spPr>
          <a:xfrm>
            <a:off x="2276856" y="2395728"/>
            <a:ext cx="1892808" cy="182880"/>
          </a:xfrm>
          <a:prstGeom prst="rect">
            <a:avLst/>
          </a:prstGeom>
          <a:noFill/>
          <a:ln/>
        </p:spPr>
        <p:txBody>
          <a:bodyPr wrap="square" lIns="0" tIns="0" rIns="0" bIns="0" rtlCol="0" anchor="t"/>
          <a:lstStyle/>
          <a:p>
            <a:pPr indent="0" marL="0">
              <a:buNone/>
            </a:pPr>
            <a:r>
              <a:rPr lang="en-US" sz="1050" dirty="0">
                <a:solidFill>
                  <a:schemeClr val="bg2"/>
                </a:solidFill>
              </a:rPr>
              <a:t>reads the report</a:t>
            </a:r>
            <a:endParaRPr lang="en-US" sz="1050" dirty="0"/>
          </a:p>
        </p:txBody>
      </p:sp>
      <p:sp>
        <p:nvSpPr>
          <p:cNvPr id="17" name="no-tools-175"/>
          <p:cNvSpPr txBox="1"/>
          <p:nvPr/>
        </p:nvSpPr>
        <p:spPr>
          <a:xfrm>
            <a:off x="4572000" y="2121408"/>
            <a:ext cx="3246120" cy="274320"/>
          </a:xfrm>
          <a:prstGeom prst="rect">
            <a:avLst/>
          </a:prstGeom>
          <a:noFill/>
          <a:ln/>
        </p:spPr>
        <p:txBody>
          <a:bodyPr wrap="square" lIns="0" tIns="0" rIns="0" bIns="0" rtlCol="0" anchor="ctr"/>
          <a:lstStyle/>
          <a:p>
            <a:pPr indent="0" marL="0">
              <a:buNone/>
            </a:pPr>
            <a:r>
              <a:rPr lang="en-US" sz="1100" i="1" dirty="0">
                <a:solidFill>
                  <a:schemeClr val="tx2"/>
                </a:solidFill>
              </a:rPr>
              <a:t>no tools</a:t>
            </a:r>
            <a:endParaRPr lang="en-US" sz="1100" dirty="0"/>
          </a:p>
        </p:txBody>
      </p:sp>
      <p:sp>
        <p:nvSpPr>
          <p:cNvPr id="18" name="chip-176"/>
          <p:cNvSpPr/>
          <p:nvPr/>
        </p:nvSpPr>
        <p:spPr>
          <a:xfrm>
            <a:off x="8001000" y="2121408"/>
            <a:ext cx="1100938" cy="274320"/>
          </a:xfrm>
          <a:prstGeom prst="roundRect">
            <a:avLst>
              <a:gd name="adj" fmla="val 20000"/>
            </a:avLst>
          </a:prstGeom>
          <a:solidFill>
            <a:schemeClr val="tx1"/>
          </a:solidFill>
          <a:ln/>
        </p:spPr>
      </p:sp>
      <p:sp>
        <p:nvSpPr>
          <p:cNvPr id="19" name="chip-text-177"/>
          <p:cNvSpPr txBox="1"/>
          <p:nvPr/>
        </p:nvSpPr>
        <p:spPr>
          <a:xfrm>
            <a:off x="8001000" y="2121408"/>
            <a:ext cx="1100938"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TriageResult</a:t>
            </a:r>
            <a:endParaRPr lang="en-US" sz="1000" dirty="0"/>
          </a:p>
        </p:txBody>
      </p:sp>
      <p:sp>
        <p:nvSpPr>
          <p:cNvPr id="20" name="check-178"/>
          <p:cNvSpPr txBox="1"/>
          <p:nvPr/>
        </p:nvSpPr>
        <p:spPr>
          <a:xfrm>
            <a:off x="9829800" y="1956816"/>
            <a:ext cx="1813255" cy="603504"/>
          </a:xfrm>
          <a:prstGeom prst="rect">
            <a:avLst/>
          </a:prstGeom>
          <a:noFill/>
          <a:ln/>
        </p:spPr>
        <p:txBody>
          <a:bodyPr wrap="square" lIns="0" tIns="0" rIns="0" bIns="0" rtlCol="0" anchor="ctr"/>
          <a:lstStyle/>
          <a:p>
            <a:pPr indent="0" marL="0">
              <a:buNone/>
            </a:pPr>
            <a:r>
              <a:rPr lang="en-US" sz="1100" dirty="0">
                <a:solidFill>
                  <a:schemeClr val="tx1"/>
                </a:solidFill>
              </a:rPr>
              <a:t>A safety flag stops the case before any other agent</a:t>
            </a:r>
            <a:endParaRPr lang="en-US" sz="1100" dirty="0"/>
          </a:p>
        </p:txBody>
      </p:sp>
      <p:sp>
        <p:nvSpPr>
          <p:cNvPr id="21" name="arrow-179"/>
          <p:cNvSpPr/>
          <p:nvPr/>
        </p:nvSpPr>
        <p:spPr>
          <a:xfrm>
            <a:off x="1828800" y="3118104"/>
            <a:ext cx="320040" cy="0"/>
          </a:xfrm>
          <a:prstGeom prst="line">
            <a:avLst/>
          </a:prstGeom>
          <a:noFill/>
          <a:ln w="19050">
            <a:solidFill>
              <a:schemeClr val="tx2"/>
            </a:solidFill>
            <a:prstDash val="solid"/>
            <a:tailEnd type="triangle"/>
          </a:ln>
        </p:spPr>
      </p:sp>
      <p:sp>
        <p:nvSpPr>
          <p:cNvPr id="22" name="node-180"/>
          <p:cNvSpPr/>
          <p:nvPr/>
        </p:nvSpPr>
        <p:spPr>
          <a:xfrm>
            <a:off x="2148840" y="2761488"/>
            <a:ext cx="2148840" cy="713232"/>
          </a:xfrm>
          <a:prstGeom prst="roundRect">
            <a:avLst>
              <a:gd name="adj" fmla="val 12821"/>
            </a:avLst>
          </a:prstGeom>
          <a:solidFill>
            <a:schemeClr val="tx1"/>
          </a:solidFill>
          <a:ln/>
        </p:spPr>
      </p:sp>
      <p:pic>
        <p:nvPicPr>
          <p:cNvPr id="23" name="icon-181" descr="preencoded.png">    </p:cNvPr>
          <p:cNvPicPr>
            <a:picLocks noChangeAspect="1"/>
          </p:cNvPicPr>
          <p:nvPr/>
        </p:nvPicPr>
        <p:blipFill>
          <a:blip r:embed="rId3"/>
          <a:stretch>
            <a:fillRect/>
          </a:stretch>
        </p:blipFill>
        <p:spPr>
          <a:xfrm>
            <a:off x="2276856" y="2889504"/>
            <a:ext cx="292608" cy="292608"/>
          </a:xfrm>
          <a:prstGeom prst="rect">
            <a:avLst/>
          </a:prstGeom>
        </p:spPr>
      </p:pic>
      <p:sp>
        <p:nvSpPr>
          <p:cNvPr id="24" name="node-title-182"/>
          <p:cNvSpPr txBox="1"/>
          <p:nvPr/>
        </p:nvSpPr>
        <p:spPr>
          <a:xfrm>
            <a:off x="2660904" y="2862072"/>
            <a:ext cx="1508760" cy="347472"/>
          </a:xfrm>
          <a:prstGeom prst="rect">
            <a:avLst/>
          </a:prstGeom>
          <a:noFill/>
          <a:ln/>
        </p:spPr>
        <p:txBody>
          <a:bodyPr wrap="square" lIns="0" tIns="0" rIns="0" bIns="0" rtlCol="0" anchor="ctr"/>
          <a:lstStyle/>
          <a:p>
            <a:pPr indent="0" marL="0">
              <a:buNone/>
            </a:pPr>
            <a:r>
              <a:rPr lang="en-US" sz="1400" b="1" dirty="0">
                <a:solidFill>
                  <a:schemeClr val="bg1"/>
                </a:solidFill>
              </a:rPr>
              <a:t>Evidence Collection</a:t>
            </a:r>
            <a:endParaRPr lang="en-US" sz="1400" dirty="0"/>
          </a:p>
        </p:txBody>
      </p:sp>
      <p:sp>
        <p:nvSpPr>
          <p:cNvPr id="25" name="node-sub-183"/>
          <p:cNvSpPr txBox="1"/>
          <p:nvPr/>
        </p:nvSpPr>
        <p:spPr>
          <a:xfrm>
            <a:off x="2276856" y="3255264"/>
            <a:ext cx="1892808" cy="182880"/>
          </a:xfrm>
          <a:prstGeom prst="rect">
            <a:avLst/>
          </a:prstGeom>
          <a:noFill/>
          <a:ln/>
        </p:spPr>
        <p:txBody>
          <a:bodyPr wrap="square" lIns="0" tIns="0" rIns="0" bIns="0" rtlCol="0" anchor="t"/>
          <a:lstStyle/>
          <a:p>
            <a:pPr indent="0" marL="0">
              <a:buNone/>
            </a:pPr>
            <a:r>
              <a:rPr lang="en-US" sz="1050" dirty="0">
                <a:solidFill>
                  <a:schemeClr val="bg2"/>
                </a:solidFill>
              </a:rPr>
              <a:t>the only agent with data access</a:t>
            </a:r>
            <a:endParaRPr lang="en-US" sz="1050" dirty="0"/>
          </a:p>
        </p:txBody>
      </p:sp>
      <p:sp>
        <p:nvSpPr>
          <p:cNvPr id="26" name="chip-184"/>
          <p:cNvSpPr/>
          <p:nvPr/>
        </p:nvSpPr>
        <p:spPr>
          <a:xfrm>
            <a:off x="4572000" y="2980944"/>
            <a:ext cx="801014" cy="274320"/>
          </a:xfrm>
          <a:prstGeom prst="roundRect">
            <a:avLst>
              <a:gd name="adj" fmla="val 20000"/>
            </a:avLst>
          </a:prstGeom>
          <a:solidFill>
            <a:schemeClr val="bg1"/>
          </a:solidFill>
          <a:ln w="9525">
            <a:solidFill>
              <a:schemeClr val="tx2"/>
            </a:solidFill>
            <a:prstDash val="solid"/>
          </a:ln>
        </p:spPr>
      </p:sp>
      <p:sp>
        <p:nvSpPr>
          <p:cNvPr id="27" name="chip-text-185"/>
          <p:cNvSpPr txBox="1"/>
          <p:nvPr/>
        </p:nvSpPr>
        <p:spPr>
          <a:xfrm>
            <a:off x="4572000" y="2980944"/>
            <a:ext cx="801014"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db_query</a:t>
            </a:r>
            <a:endParaRPr lang="en-US" sz="1000" dirty="0"/>
          </a:p>
        </p:txBody>
      </p:sp>
      <p:sp>
        <p:nvSpPr>
          <p:cNvPr id="28" name="chip-186"/>
          <p:cNvSpPr/>
          <p:nvPr/>
        </p:nvSpPr>
        <p:spPr>
          <a:xfrm>
            <a:off x="5464454" y="2980944"/>
            <a:ext cx="950976" cy="274320"/>
          </a:xfrm>
          <a:prstGeom prst="roundRect">
            <a:avLst>
              <a:gd name="adj" fmla="val 20000"/>
            </a:avLst>
          </a:prstGeom>
          <a:solidFill>
            <a:schemeClr val="bg1"/>
          </a:solidFill>
          <a:ln w="9525">
            <a:solidFill>
              <a:schemeClr val="tx2"/>
            </a:solidFill>
            <a:prstDash val="solid"/>
          </a:ln>
        </p:spPr>
      </p:sp>
      <p:sp>
        <p:nvSpPr>
          <p:cNvPr id="29" name="chip-text-187"/>
          <p:cNvSpPr txBox="1"/>
          <p:nvPr/>
        </p:nvSpPr>
        <p:spPr>
          <a:xfrm>
            <a:off x="5464454" y="2980944"/>
            <a:ext cx="950976"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policy_rag</a:t>
            </a:r>
            <a:endParaRPr lang="en-US" sz="1000" dirty="0"/>
          </a:p>
        </p:txBody>
      </p:sp>
      <p:sp>
        <p:nvSpPr>
          <p:cNvPr id="30" name="chip-188"/>
          <p:cNvSpPr/>
          <p:nvPr/>
        </p:nvSpPr>
        <p:spPr>
          <a:xfrm>
            <a:off x="8001000" y="2980944"/>
            <a:ext cx="801014" cy="274320"/>
          </a:xfrm>
          <a:prstGeom prst="roundRect">
            <a:avLst>
              <a:gd name="adj" fmla="val 20000"/>
            </a:avLst>
          </a:prstGeom>
          <a:solidFill>
            <a:schemeClr val="tx1"/>
          </a:solidFill>
          <a:ln/>
        </p:spPr>
      </p:sp>
      <p:sp>
        <p:nvSpPr>
          <p:cNvPr id="31" name="chip-text-189"/>
          <p:cNvSpPr txBox="1"/>
          <p:nvPr/>
        </p:nvSpPr>
        <p:spPr>
          <a:xfrm>
            <a:off x="8001000" y="2980944"/>
            <a:ext cx="801014"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CaseFile</a:t>
            </a:r>
            <a:endParaRPr lang="en-US" sz="1000" dirty="0"/>
          </a:p>
        </p:txBody>
      </p:sp>
      <p:sp>
        <p:nvSpPr>
          <p:cNvPr id="32" name="check-190"/>
          <p:cNvSpPr txBox="1"/>
          <p:nvPr/>
        </p:nvSpPr>
        <p:spPr>
          <a:xfrm>
            <a:off x="9829800" y="2816352"/>
            <a:ext cx="1813255" cy="603504"/>
          </a:xfrm>
          <a:prstGeom prst="rect">
            <a:avLst/>
          </a:prstGeom>
          <a:noFill/>
          <a:ln/>
        </p:spPr>
        <p:txBody>
          <a:bodyPr wrap="square" lIns="0" tIns="0" rIns="0" bIns="0" rtlCol="0" anchor="ctr"/>
          <a:lstStyle/>
          <a:p>
            <a:pPr indent="0" marL="0">
              <a:buNone/>
            </a:pPr>
            <a:r>
              <a:rPr lang="en-US" sz="1100" dirty="0">
                <a:solidFill>
                  <a:schemeClr val="tx1"/>
                </a:solidFill>
              </a:rPr>
              <a:t>Must call db_query; every item gets a citable ID</a:t>
            </a:r>
            <a:endParaRPr lang="en-US" sz="1100" dirty="0"/>
          </a:p>
        </p:txBody>
      </p:sp>
      <p:sp>
        <p:nvSpPr>
          <p:cNvPr id="33" name="arrow-191"/>
          <p:cNvSpPr/>
          <p:nvPr/>
        </p:nvSpPr>
        <p:spPr>
          <a:xfrm>
            <a:off x="1828800" y="3977640"/>
            <a:ext cx="320040" cy="0"/>
          </a:xfrm>
          <a:prstGeom prst="line">
            <a:avLst/>
          </a:prstGeom>
          <a:noFill/>
          <a:ln w="19050">
            <a:solidFill>
              <a:schemeClr val="tx2"/>
            </a:solidFill>
            <a:prstDash val="solid"/>
            <a:tailEnd type="triangle"/>
          </a:ln>
        </p:spPr>
      </p:sp>
      <p:sp>
        <p:nvSpPr>
          <p:cNvPr id="34" name="node-192"/>
          <p:cNvSpPr/>
          <p:nvPr/>
        </p:nvSpPr>
        <p:spPr>
          <a:xfrm>
            <a:off x="2148840" y="3621024"/>
            <a:ext cx="1028700" cy="713232"/>
          </a:xfrm>
          <a:prstGeom prst="roundRect">
            <a:avLst>
              <a:gd name="adj" fmla="val 12821"/>
            </a:avLst>
          </a:prstGeom>
          <a:solidFill>
            <a:schemeClr val="accent1"/>
          </a:solidFill>
          <a:ln/>
        </p:spPr>
      </p:sp>
      <p:sp>
        <p:nvSpPr>
          <p:cNvPr id="35" name="node-title-193"/>
          <p:cNvSpPr txBox="1"/>
          <p:nvPr/>
        </p:nvSpPr>
        <p:spPr>
          <a:xfrm>
            <a:off x="2276856" y="3675888"/>
            <a:ext cx="772668" cy="603504"/>
          </a:xfrm>
          <a:prstGeom prst="rect">
            <a:avLst/>
          </a:prstGeom>
          <a:noFill/>
          <a:ln/>
        </p:spPr>
        <p:txBody>
          <a:bodyPr wrap="square" lIns="0" tIns="0" rIns="0" bIns="0" rtlCol="0" anchor="ctr"/>
          <a:lstStyle/>
          <a:p>
            <a:pPr indent="0" marL="0">
              <a:buNone/>
            </a:pPr>
            <a:r>
              <a:rPr lang="en-US" sz="1350" b="1" dirty="0">
                <a:solidFill>
                  <a:schemeClr val="bg1"/>
                </a:solidFill>
              </a:rPr>
              <a:t>Rider’s advocate</a:t>
            </a:r>
            <a:endParaRPr lang="en-US" sz="1350" dirty="0"/>
          </a:p>
        </p:txBody>
      </p:sp>
      <p:sp>
        <p:nvSpPr>
          <p:cNvPr id="36" name="node-194"/>
          <p:cNvSpPr/>
          <p:nvPr/>
        </p:nvSpPr>
        <p:spPr>
          <a:xfrm>
            <a:off x="3268980" y="3621024"/>
            <a:ext cx="1028700" cy="713232"/>
          </a:xfrm>
          <a:prstGeom prst="roundRect">
            <a:avLst>
              <a:gd name="adj" fmla="val 12821"/>
            </a:avLst>
          </a:prstGeom>
          <a:solidFill>
            <a:schemeClr val="accent2"/>
          </a:solidFill>
          <a:ln/>
        </p:spPr>
      </p:sp>
      <p:sp>
        <p:nvSpPr>
          <p:cNvPr id="37" name="node-title-195"/>
          <p:cNvSpPr txBox="1"/>
          <p:nvPr/>
        </p:nvSpPr>
        <p:spPr>
          <a:xfrm>
            <a:off x="3396996" y="3675888"/>
            <a:ext cx="772668" cy="603504"/>
          </a:xfrm>
          <a:prstGeom prst="rect">
            <a:avLst/>
          </a:prstGeom>
          <a:noFill/>
          <a:ln/>
        </p:spPr>
        <p:txBody>
          <a:bodyPr wrap="square" lIns="0" tIns="0" rIns="0" bIns="0" rtlCol="0" anchor="ctr"/>
          <a:lstStyle/>
          <a:p>
            <a:pPr indent="0" marL="0">
              <a:buNone/>
            </a:pPr>
            <a:r>
              <a:rPr lang="en-US" sz="1350" b="1" dirty="0">
                <a:solidFill>
                  <a:schemeClr val="bg1"/>
                </a:solidFill>
              </a:rPr>
              <a:t>Driver’s advocate</a:t>
            </a:r>
            <a:endParaRPr lang="en-US" sz="1350" dirty="0"/>
          </a:p>
        </p:txBody>
      </p:sp>
      <p:sp>
        <p:nvSpPr>
          <p:cNvPr id="38" name="parallel-note"/>
          <p:cNvSpPr txBox="1"/>
          <p:nvPr/>
        </p:nvSpPr>
        <p:spPr>
          <a:xfrm>
            <a:off x="2148840" y="4338828"/>
            <a:ext cx="2148840" cy="146304"/>
          </a:xfrm>
          <a:prstGeom prst="rect">
            <a:avLst/>
          </a:prstGeom>
          <a:noFill/>
          <a:ln/>
        </p:spPr>
        <p:txBody>
          <a:bodyPr wrap="square" lIns="0" tIns="0" rIns="0" bIns="0" rtlCol="0" anchor="ctr"/>
          <a:lstStyle/>
          <a:p>
            <a:pPr algn="ctr" indent="0" marL="0">
              <a:buNone/>
            </a:pPr>
            <a:r>
              <a:rPr lang="en-US" sz="850" i="1" dirty="0">
                <a:solidFill>
                  <a:schemeClr val="tx2"/>
                </a:solidFill>
              </a:rPr>
              <a:t>in parallel, same case file</a:t>
            </a:r>
            <a:endParaRPr lang="en-US" sz="850" dirty="0"/>
          </a:p>
        </p:txBody>
      </p:sp>
      <p:sp>
        <p:nvSpPr>
          <p:cNvPr id="39" name="chip-196"/>
          <p:cNvSpPr/>
          <p:nvPr/>
        </p:nvSpPr>
        <p:spPr>
          <a:xfrm>
            <a:off x="4572000" y="3666744"/>
            <a:ext cx="1325880" cy="274320"/>
          </a:xfrm>
          <a:prstGeom prst="roundRect">
            <a:avLst>
              <a:gd name="adj" fmla="val 20000"/>
            </a:avLst>
          </a:prstGeom>
          <a:solidFill>
            <a:schemeClr val="bg1"/>
          </a:solidFill>
          <a:ln w="9525">
            <a:solidFill>
              <a:schemeClr val="tx2"/>
            </a:solidFill>
            <a:prstDash val="solid"/>
          </a:ln>
        </p:spPr>
      </p:sp>
      <p:sp>
        <p:nvSpPr>
          <p:cNvPr id="40" name="chip-text-197"/>
          <p:cNvSpPr txBox="1"/>
          <p:nvPr/>
        </p:nvSpPr>
        <p:spPr>
          <a:xfrm>
            <a:off x="4572000" y="3666744"/>
            <a:ext cx="1325880"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evidence_lookup</a:t>
            </a:r>
            <a:endParaRPr lang="en-US" sz="1000" dirty="0"/>
          </a:p>
        </p:txBody>
      </p:sp>
      <p:sp>
        <p:nvSpPr>
          <p:cNvPr id="41" name="chip-198"/>
          <p:cNvSpPr/>
          <p:nvPr/>
        </p:nvSpPr>
        <p:spPr>
          <a:xfrm>
            <a:off x="5989320" y="3666744"/>
            <a:ext cx="1250899" cy="274320"/>
          </a:xfrm>
          <a:prstGeom prst="roundRect">
            <a:avLst>
              <a:gd name="adj" fmla="val 20000"/>
            </a:avLst>
          </a:prstGeom>
          <a:solidFill>
            <a:schemeClr val="bg1"/>
          </a:solidFill>
          <a:ln w="9525">
            <a:solidFill>
              <a:schemeClr val="tx2"/>
            </a:solidFill>
            <a:prstDash val="solid"/>
          </a:ln>
        </p:spPr>
      </p:sp>
      <p:sp>
        <p:nvSpPr>
          <p:cNvPr id="42" name="chip-text-199"/>
          <p:cNvSpPr txBox="1"/>
          <p:nvPr/>
        </p:nvSpPr>
        <p:spPr>
          <a:xfrm>
            <a:off x="5989320" y="3666744"/>
            <a:ext cx="1250899"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image_analysis</a:t>
            </a:r>
            <a:endParaRPr lang="en-US" sz="1000" dirty="0"/>
          </a:p>
        </p:txBody>
      </p:sp>
      <p:sp>
        <p:nvSpPr>
          <p:cNvPr id="43" name="chip-200"/>
          <p:cNvSpPr/>
          <p:nvPr/>
        </p:nvSpPr>
        <p:spPr>
          <a:xfrm>
            <a:off x="4572000" y="4014216"/>
            <a:ext cx="950976" cy="274320"/>
          </a:xfrm>
          <a:prstGeom prst="roundRect">
            <a:avLst>
              <a:gd name="adj" fmla="val 20000"/>
            </a:avLst>
          </a:prstGeom>
          <a:solidFill>
            <a:schemeClr val="bg1"/>
          </a:solidFill>
          <a:ln w="9525">
            <a:solidFill>
              <a:schemeClr val="tx2"/>
            </a:solidFill>
            <a:prstDash val="solid"/>
          </a:ln>
        </p:spPr>
      </p:sp>
      <p:sp>
        <p:nvSpPr>
          <p:cNvPr id="44" name="chip-text-201"/>
          <p:cNvSpPr txBox="1"/>
          <p:nvPr/>
        </p:nvSpPr>
        <p:spPr>
          <a:xfrm>
            <a:off x="4572000" y="4014216"/>
            <a:ext cx="950976"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policy_rag</a:t>
            </a:r>
            <a:endParaRPr lang="en-US" sz="1000" dirty="0"/>
          </a:p>
        </p:txBody>
      </p:sp>
      <p:sp>
        <p:nvSpPr>
          <p:cNvPr id="45" name="chip-202"/>
          <p:cNvSpPr/>
          <p:nvPr/>
        </p:nvSpPr>
        <p:spPr>
          <a:xfrm>
            <a:off x="8001000" y="3840480"/>
            <a:ext cx="801014" cy="274320"/>
          </a:xfrm>
          <a:prstGeom prst="roundRect">
            <a:avLst>
              <a:gd name="adj" fmla="val 20000"/>
            </a:avLst>
          </a:prstGeom>
          <a:solidFill>
            <a:schemeClr val="tx1"/>
          </a:solidFill>
          <a:ln/>
        </p:spPr>
      </p:sp>
      <p:sp>
        <p:nvSpPr>
          <p:cNvPr id="46" name="chip-text-203"/>
          <p:cNvSpPr txBox="1"/>
          <p:nvPr/>
        </p:nvSpPr>
        <p:spPr>
          <a:xfrm>
            <a:off x="8001000" y="3840480"/>
            <a:ext cx="801014"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Argument</a:t>
            </a:r>
            <a:endParaRPr lang="en-US" sz="1000" dirty="0"/>
          </a:p>
        </p:txBody>
      </p:sp>
      <p:sp>
        <p:nvSpPr>
          <p:cNvPr id="47" name="check-204"/>
          <p:cNvSpPr txBox="1"/>
          <p:nvPr/>
        </p:nvSpPr>
        <p:spPr>
          <a:xfrm>
            <a:off x="9829800" y="3675888"/>
            <a:ext cx="1813255" cy="603504"/>
          </a:xfrm>
          <a:prstGeom prst="rect">
            <a:avLst/>
          </a:prstGeom>
          <a:noFill/>
          <a:ln/>
        </p:spPr>
        <p:txBody>
          <a:bodyPr wrap="square" lIns="0" tIns="0" rIns="0" bIns="0" rtlCol="0" anchor="ctr"/>
          <a:lstStyle/>
          <a:p>
            <a:pPr indent="0" marL="0">
              <a:buNone/>
            </a:pPr>
            <a:r>
              <a:rPr lang="en-US" sz="1100" dirty="0">
                <a:solidFill>
                  <a:schemeClr val="tx1"/>
                </a:solidFill>
              </a:rPr>
              <a:t>Every cited ID must exist, or the claim is struck</a:t>
            </a:r>
            <a:endParaRPr lang="en-US" sz="1100" dirty="0"/>
          </a:p>
        </p:txBody>
      </p:sp>
      <p:sp>
        <p:nvSpPr>
          <p:cNvPr id="48" name="arrow-205"/>
          <p:cNvSpPr/>
          <p:nvPr/>
        </p:nvSpPr>
        <p:spPr>
          <a:xfrm>
            <a:off x="1828800" y="4837176"/>
            <a:ext cx="320040" cy="0"/>
          </a:xfrm>
          <a:prstGeom prst="line">
            <a:avLst/>
          </a:prstGeom>
          <a:noFill/>
          <a:ln w="19050">
            <a:solidFill>
              <a:schemeClr val="tx2"/>
            </a:solidFill>
            <a:prstDash val="solid"/>
            <a:tailEnd type="triangle"/>
          </a:ln>
        </p:spPr>
      </p:sp>
      <p:sp>
        <p:nvSpPr>
          <p:cNvPr id="49" name="node-206"/>
          <p:cNvSpPr/>
          <p:nvPr/>
        </p:nvSpPr>
        <p:spPr>
          <a:xfrm>
            <a:off x="2148840" y="4480560"/>
            <a:ext cx="2148840" cy="713232"/>
          </a:xfrm>
          <a:prstGeom prst="roundRect">
            <a:avLst>
              <a:gd name="adj" fmla="val 12821"/>
            </a:avLst>
          </a:prstGeom>
          <a:solidFill>
            <a:schemeClr val="tx1"/>
          </a:solidFill>
          <a:ln/>
        </p:spPr>
      </p:sp>
      <p:pic>
        <p:nvPicPr>
          <p:cNvPr id="50" name="icon-207" descr="preencoded.png">    </p:cNvPr>
          <p:cNvPicPr>
            <a:picLocks noChangeAspect="1"/>
          </p:cNvPicPr>
          <p:nvPr/>
        </p:nvPicPr>
        <p:blipFill>
          <a:blip r:embed="rId4"/>
          <a:stretch>
            <a:fillRect/>
          </a:stretch>
        </p:blipFill>
        <p:spPr>
          <a:xfrm>
            <a:off x="2276856" y="4608576"/>
            <a:ext cx="292608" cy="292608"/>
          </a:xfrm>
          <a:prstGeom prst="rect">
            <a:avLst/>
          </a:prstGeom>
        </p:spPr>
      </p:pic>
      <p:sp>
        <p:nvSpPr>
          <p:cNvPr id="51" name="node-title-208"/>
          <p:cNvSpPr txBox="1"/>
          <p:nvPr/>
        </p:nvSpPr>
        <p:spPr>
          <a:xfrm>
            <a:off x="2660904" y="4581144"/>
            <a:ext cx="1508760" cy="347472"/>
          </a:xfrm>
          <a:prstGeom prst="rect">
            <a:avLst/>
          </a:prstGeom>
          <a:noFill/>
          <a:ln/>
        </p:spPr>
        <p:txBody>
          <a:bodyPr wrap="square" lIns="0" tIns="0" rIns="0" bIns="0" rtlCol="0" anchor="ctr"/>
          <a:lstStyle/>
          <a:p>
            <a:pPr indent="0" marL="0">
              <a:buNone/>
            </a:pPr>
            <a:r>
              <a:rPr lang="en-US" sz="1400" b="1" dirty="0">
                <a:solidFill>
                  <a:schemeClr val="bg1"/>
                </a:solidFill>
              </a:rPr>
              <a:t>Judge</a:t>
            </a:r>
            <a:endParaRPr lang="en-US" sz="1400" dirty="0"/>
          </a:p>
        </p:txBody>
      </p:sp>
      <p:sp>
        <p:nvSpPr>
          <p:cNvPr id="52" name="node-sub-209"/>
          <p:cNvSpPr txBox="1"/>
          <p:nvPr/>
        </p:nvSpPr>
        <p:spPr>
          <a:xfrm>
            <a:off x="2276856" y="4974336"/>
            <a:ext cx="1892808" cy="182880"/>
          </a:xfrm>
          <a:prstGeom prst="rect">
            <a:avLst/>
          </a:prstGeom>
          <a:noFill/>
          <a:ln/>
        </p:spPr>
        <p:txBody>
          <a:bodyPr wrap="square" lIns="0" tIns="0" rIns="0" bIns="0" rtlCol="0" anchor="t"/>
          <a:lstStyle/>
          <a:p>
            <a:pPr indent="0" marL="0">
              <a:buNone/>
            </a:pPr>
            <a:r>
              <a:rPr lang="en-US" sz="1050" dirty="0">
                <a:solidFill>
                  <a:schemeClr val="bg2"/>
                </a:solidFill>
              </a:rPr>
              <a:t>never sees the complaint</a:t>
            </a:r>
            <a:endParaRPr lang="en-US" sz="1050" dirty="0"/>
          </a:p>
        </p:txBody>
      </p:sp>
      <p:sp>
        <p:nvSpPr>
          <p:cNvPr id="53" name="chip-210"/>
          <p:cNvSpPr/>
          <p:nvPr/>
        </p:nvSpPr>
        <p:spPr>
          <a:xfrm>
            <a:off x="4572000" y="4526280"/>
            <a:ext cx="950976" cy="274320"/>
          </a:xfrm>
          <a:prstGeom prst="roundRect">
            <a:avLst>
              <a:gd name="adj" fmla="val 20000"/>
            </a:avLst>
          </a:prstGeom>
          <a:solidFill>
            <a:schemeClr val="bg1"/>
          </a:solidFill>
          <a:ln w="9525">
            <a:solidFill>
              <a:schemeClr val="tx2"/>
            </a:solidFill>
            <a:prstDash val="solid"/>
          </a:ln>
        </p:spPr>
      </p:sp>
      <p:sp>
        <p:nvSpPr>
          <p:cNvPr id="54" name="chip-text-211"/>
          <p:cNvSpPr txBox="1"/>
          <p:nvPr/>
        </p:nvSpPr>
        <p:spPr>
          <a:xfrm>
            <a:off x="4572000" y="4526280"/>
            <a:ext cx="950976"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policy_rag</a:t>
            </a:r>
            <a:endParaRPr lang="en-US" sz="1000" dirty="0"/>
          </a:p>
        </p:txBody>
      </p:sp>
      <p:sp>
        <p:nvSpPr>
          <p:cNvPr id="55" name="chip-212"/>
          <p:cNvSpPr/>
          <p:nvPr/>
        </p:nvSpPr>
        <p:spPr>
          <a:xfrm>
            <a:off x="5614416" y="4526280"/>
            <a:ext cx="2000707" cy="274320"/>
          </a:xfrm>
          <a:prstGeom prst="roundRect">
            <a:avLst>
              <a:gd name="adj" fmla="val 20000"/>
            </a:avLst>
          </a:prstGeom>
          <a:solidFill>
            <a:schemeClr val="bg1"/>
          </a:solidFill>
          <a:ln w="9525">
            <a:solidFill>
              <a:schemeClr val="tx2"/>
            </a:solidFill>
            <a:prstDash val="solid"/>
          </a:ln>
        </p:spPr>
      </p:sp>
      <p:sp>
        <p:nvSpPr>
          <p:cNvPr id="56" name="chip-text-213"/>
          <p:cNvSpPr txBox="1"/>
          <p:nvPr/>
        </p:nvSpPr>
        <p:spPr>
          <a:xfrm>
            <a:off x="5614416" y="4526280"/>
            <a:ext cx="2000707"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escalation_bucket_lookup</a:t>
            </a:r>
            <a:endParaRPr lang="en-US" sz="1000" dirty="0"/>
          </a:p>
        </p:txBody>
      </p:sp>
      <p:sp>
        <p:nvSpPr>
          <p:cNvPr id="57" name="chip-214"/>
          <p:cNvSpPr/>
          <p:nvPr/>
        </p:nvSpPr>
        <p:spPr>
          <a:xfrm>
            <a:off x="4572000" y="4873752"/>
            <a:ext cx="1250899" cy="274320"/>
          </a:xfrm>
          <a:prstGeom prst="roundRect">
            <a:avLst>
              <a:gd name="adj" fmla="val 20000"/>
            </a:avLst>
          </a:prstGeom>
          <a:solidFill>
            <a:schemeClr val="bg1"/>
          </a:solidFill>
          <a:ln w="9525">
            <a:solidFill>
              <a:schemeClr val="tx2"/>
            </a:solidFill>
            <a:prstDash val="solid"/>
          </a:ln>
        </p:spPr>
      </p:sp>
      <p:sp>
        <p:nvSpPr>
          <p:cNvPr id="58" name="chip-text-215"/>
          <p:cNvSpPr txBox="1"/>
          <p:nvPr/>
        </p:nvSpPr>
        <p:spPr>
          <a:xfrm>
            <a:off x="4572000" y="4873752"/>
            <a:ext cx="1250899"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escalate_to_l2</a:t>
            </a:r>
            <a:endParaRPr lang="en-US" sz="1000" dirty="0"/>
          </a:p>
        </p:txBody>
      </p:sp>
      <p:sp>
        <p:nvSpPr>
          <p:cNvPr id="59" name="chip-216"/>
          <p:cNvSpPr/>
          <p:nvPr/>
        </p:nvSpPr>
        <p:spPr>
          <a:xfrm>
            <a:off x="8001000" y="4700016"/>
            <a:ext cx="1100938" cy="274320"/>
          </a:xfrm>
          <a:prstGeom prst="roundRect">
            <a:avLst>
              <a:gd name="adj" fmla="val 20000"/>
            </a:avLst>
          </a:prstGeom>
          <a:solidFill>
            <a:schemeClr val="tx1"/>
          </a:solidFill>
          <a:ln/>
        </p:spPr>
      </p:sp>
      <p:sp>
        <p:nvSpPr>
          <p:cNvPr id="60" name="chip-text-217"/>
          <p:cNvSpPr txBox="1"/>
          <p:nvPr/>
        </p:nvSpPr>
        <p:spPr>
          <a:xfrm>
            <a:off x="8001000" y="4700016"/>
            <a:ext cx="1100938" cy="274320"/>
          </a:xfrm>
          <a:prstGeom prst="rect">
            <a:avLst/>
          </a:prstGeom>
          <a:noFill/>
          <a:ln/>
        </p:spPr>
        <p:txBody>
          <a:bodyPr wrap="square" lIns="0" tIns="0" rIns="0" bIns="0" rtlCol="0" anchor="ctr"/>
          <a:lstStyle/>
          <a:p>
            <a:pPr algn="ctr" indent="0" marL="0">
              <a:buNone/>
            </a:pPr>
            <a:r>
              <a:rPr lang="en-US" sz="1000" b="1" dirty="0">
                <a:solidFill>
                  <a:schemeClr val="bg1"/>
                </a:solidFill>
                <a:latin typeface="Courier New" pitchFamily="34" charset="0"/>
                <a:ea typeface="Courier New" pitchFamily="34" charset="-122"/>
                <a:cs typeface="Courier New" pitchFamily="34" charset="-120"/>
              </a:rPr>
              <a:t>JudgeVerdict</a:t>
            </a:r>
            <a:endParaRPr lang="en-US" sz="1000" dirty="0"/>
          </a:p>
        </p:txBody>
      </p:sp>
      <p:sp>
        <p:nvSpPr>
          <p:cNvPr id="61" name="check-218"/>
          <p:cNvSpPr txBox="1"/>
          <p:nvPr/>
        </p:nvSpPr>
        <p:spPr>
          <a:xfrm>
            <a:off x="9829800" y="4535424"/>
            <a:ext cx="1813255" cy="603504"/>
          </a:xfrm>
          <a:prstGeom prst="rect">
            <a:avLst/>
          </a:prstGeom>
          <a:noFill/>
          <a:ln/>
        </p:spPr>
        <p:txBody>
          <a:bodyPr wrap="square" lIns="0" tIns="0" rIns="0" bIns="0" rtlCol="0" anchor="ctr"/>
          <a:lstStyle/>
          <a:p>
            <a:pPr indent="0" marL="0">
              <a:buNone/>
            </a:pPr>
            <a:r>
              <a:rPr lang="en-US" sz="1100" dirty="0">
                <a:solidFill>
                  <a:schemeClr val="tx1"/>
                </a:solidFill>
              </a:rPr>
              <a:t>Citations exist; fixed amounts are filled in by code</a:t>
            </a:r>
            <a:endParaRPr lang="en-US" sz="1100" dirty="0"/>
          </a:p>
        </p:txBody>
      </p:sp>
      <p:sp>
        <p:nvSpPr>
          <p:cNvPr id="62" name="shared-card"/>
          <p:cNvSpPr/>
          <p:nvPr/>
        </p:nvSpPr>
        <p:spPr>
          <a:xfrm>
            <a:off x="548640" y="5468112"/>
            <a:ext cx="11094415" cy="566928"/>
          </a:xfrm>
          <a:prstGeom prst="roundRect">
            <a:avLst>
              <a:gd name="adj" fmla="val 19355"/>
            </a:avLst>
          </a:prstGeom>
          <a:solidFill>
            <a:schemeClr val="bg1"/>
          </a:solidFill>
          <a:ln/>
          <a:effectLst>
            <a:outerShdw sx="100000" sy="100000" kx="0" ky="0" algn="bl" rotWithShape="0" blurRad="101600" dist="25400" dir="5400000">
              <a:srgbClr val="000000">
                <a:alpha val="8000"/>
              </a:srgbClr>
            </a:outerShdw>
          </a:effectLst>
        </p:spPr>
      </p:sp>
      <p:sp>
        <p:nvSpPr>
          <p:cNvPr id="63" name="shared-text"/>
          <p:cNvSpPr txBox="1"/>
          <p:nvPr/>
        </p:nvSpPr>
        <p:spPr>
          <a:xfrm>
            <a:off x="822960" y="5468112"/>
            <a:ext cx="10545775" cy="566928"/>
          </a:xfrm>
          <a:prstGeom prst="rect">
            <a:avLst/>
          </a:prstGeom>
          <a:noFill/>
          <a:ln/>
        </p:spPr>
        <p:txBody>
          <a:bodyPr wrap="square" lIns="0" tIns="0" rIns="0" bIns="0" rtlCol="0" anchor="ctr"/>
          <a:lstStyle/>
          <a:p>
            <a:pPr indent="0" marL="0">
              <a:buNone/>
            </a:pPr>
            <a:r>
              <a:rPr lang="en-US" sz="1250" b="1" dirty="0">
                <a:solidFill>
                  <a:schemeClr val="tx1"/>
                </a:solidFill>
              </a:rPr>
              <a:t>Every agent:  </a:t>
            </a:r>
            <a:pPr indent="0" marL="0">
              <a:buNone/>
            </a:pPr>
            <a:r>
              <a:rPr lang="en-US" sz="1250" dirty="0">
                <a:solidFill>
                  <a:schemeClr val="tx2"/>
                </a:solidFill>
              </a:rPr>
              <a:t>pydantic-ai  ·  Qwen3-235B, Qwen3.6-27B as fallback  ·  retries on rate limits  ·  a Logfire span per run  ·  tokens logged</a:t>
            </a:r>
            <a:endParaRPr lang="en-US" sz="12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Results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22 labelled test cases, each run through the full pipeline with real model calls.</a:t>
            </a:r>
            <a:endParaRPr lang="en-US" sz="1500" dirty="0"/>
          </a:p>
        </p:txBody>
      </p:sp>
      <p:sp>
        <p:nvSpPr>
          <p:cNvPr id="4" name="hero-card"/>
          <p:cNvSpPr/>
          <p:nvPr/>
        </p:nvSpPr>
        <p:spPr>
          <a:xfrm>
            <a:off x="548640" y="1783080"/>
            <a:ext cx="4206240" cy="4069080"/>
          </a:xfrm>
          <a:prstGeom prst="roundRect">
            <a:avLst>
              <a:gd name="adj" fmla="val 3146"/>
            </a:avLst>
          </a:prstGeom>
          <a:solidFill>
            <a:schemeClr val="tx1"/>
          </a:solidFill>
          <a:ln/>
        </p:spPr>
      </p:sp>
      <p:sp>
        <p:nvSpPr>
          <p:cNvPr id="5" name="hero-value"/>
          <p:cNvSpPr txBox="1"/>
          <p:nvPr/>
        </p:nvSpPr>
        <p:spPr>
          <a:xfrm>
            <a:off x="914400" y="2240280"/>
            <a:ext cx="3474720" cy="1554480"/>
          </a:xfrm>
          <a:prstGeom prst="rect">
            <a:avLst/>
          </a:prstGeom>
          <a:noFill/>
          <a:ln/>
        </p:spPr>
        <p:txBody>
          <a:bodyPr wrap="square" lIns="0" tIns="0" rIns="0" bIns="0" rtlCol="0" anchor="ctr"/>
          <a:lstStyle/>
          <a:p>
            <a:pPr indent="0" marL="0">
              <a:buNone/>
            </a:pPr>
            <a:r>
              <a:rPr lang="en-US" sz="9600" b="1" dirty="0">
                <a:solidFill>
                  <a:schemeClr val="bg1"/>
                </a:solidFill>
              </a:rPr>
              <a:t>22/22</a:t>
            </a:r>
            <a:endParaRPr lang="en-US" sz="9600" dirty="0"/>
          </a:p>
        </p:txBody>
      </p:sp>
      <p:sp>
        <p:nvSpPr>
          <p:cNvPr id="6" name="hero-label"/>
          <p:cNvSpPr txBox="1"/>
          <p:nvPr/>
        </p:nvSpPr>
        <p:spPr>
          <a:xfrm>
            <a:off x="914400" y="3977640"/>
            <a:ext cx="3474720" cy="1463040"/>
          </a:xfrm>
          <a:prstGeom prst="rect">
            <a:avLst/>
          </a:prstGeom>
          <a:noFill/>
          <a:ln/>
        </p:spPr>
        <p:txBody>
          <a:bodyPr wrap="square" lIns="0" tIns="0" rIns="0" bIns="0" rtlCol="0" anchor="t"/>
          <a:lstStyle/>
          <a:p>
            <a:pPr indent="0" marL="0">
              <a:buNone/>
            </a:pPr>
            <a:r>
              <a:rPr lang="en-US" sz="2200" b="1" dirty="0">
                <a:solidFill>
                  <a:schemeClr val="bg1"/>
                </a:solidFill>
              </a:rPr>
              <a:t>verdicts correct</a:t>
            </a:r>
            <a:endParaRPr lang="en-US" sz="2200" dirty="0"/>
          </a:p>
          <a:p>
            <a:pPr indent="0" marL="0">
              <a:buNone/>
            </a:pPr>
            <a:r>
              <a:rPr lang="en-US" sz="1400" dirty="0">
                <a:solidFill>
                  <a:schemeClr val="bg2"/>
                </a:solidFill>
              </a:rPr>
              <a:t>Outcome, remedy and exact amount all match the label, across every category.</a:t>
            </a:r>
            <a:endParaRPr lang="en-US" sz="2200" dirty="0"/>
          </a:p>
        </p:txBody>
      </p:sp>
      <p:sp>
        <p:nvSpPr>
          <p:cNvPr id="7" name="stat-0"/>
          <p:cNvSpPr/>
          <p:nvPr/>
        </p:nvSpPr>
        <p:spPr>
          <a:xfrm>
            <a:off x="5074920"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8" name="stat-0-value"/>
          <p:cNvSpPr txBox="1"/>
          <p:nvPr/>
        </p:nvSpPr>
        <p:spPr>
          <a:xfrm>
            <a:off x="5394960"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13 of 22</a:t>
            </a:r>
            <a:endParaRPr lang="en-US" sz="4000" dirty="0"/>
          </a:p>
        </p:txBody>
      </p:sp>
      <p:sp>
        <p:nvSpPr>
          <p:cNvPr id="9" name="stat-0-label"/>
          <p:cNvSpPr txBox="1"/>
          <p:nvPr/>
        </p:nvSpPr>
        <p:spPr>
          <a:xfrm>
            <a:off x="5394960"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decided with no person</a:t>
            </a:r>
            <a:endParaRPr lang="en-US" sz="1500" dirty="0"/>
          </a:p>
          <a:p>
            <a:pPr indent="0" marL="0">
              <a:buNone/>
            </a:pPr>
            <a:r>
              <a:rPr lang="en-US" sz="1250" dirty="0">
                <a:solidFill>
                  <a:schemeClr val="tx2"/>
                </a:solidFill>
              </a:rPr>
              <a:t>the other 9 went to a person, as the rules require</a:t>
            </a:r>
            <a:endParaRPr lang="en-US" sz="1500" dirty="0"/>
          </a:p>
        </p:txBody>
      </p:sp>
      <p:sp>
        <p:nvSpPr>
          <p:cNvPr id="10" name="stat-1"/>
          <p:cNvSpPr/>
          <p:nvPr/>
        </p:nvSpPr>
        <p:spPr>
          <a:xfrm>
            <a:off x="8519008"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1" name="stat-1-value"/>
          <p:cNvSpPr txBox="1"/>
          <p:nvPr/>
        </p:nvSpPr>
        <p:spPr>
          <a:xfrm>
            <a:off x="8839048"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100%</a:t>
            </a:r>
            <a:endParaRPr lang="en-US" sz="4000" dirty="0"/>
          </a:p>
        </p:txBody>
      </p:sp>
      <p:sp>
        <p:nvSpPr>
          <p:cNvPr id="12" name="stat-1-label"/>
          <p:cNvSpPr txBox="1"/>
          <p:nvPr/>
        </p:nvSpPr>
        <p:spPr>
          <a:xfrm>
            <a:off x="8839048"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safety reports to a person</a:t>
            </a:r>
            <a:endParaRPr lang="en-US" sz="1500" dirty="0"/>
          </a:p>
          <a:p>
            <a:pPr indent="0" marL="0">
              <a:buNone/>
            </a:pPr>
            <a:r>
              <a:rPr lang="en-US" sz="1250" dirty="0">
                <a:solidFill>
                  <a:schemeClr val="tx2"/>
                </a:solidFill>
              </a:rPr>
              <a:t>no AI ever decides one</a:t>
            </a:r>
            <a:endParaRPr lang="en-US" sz="1500" dirty="0"/>
          </a:p>
        </p:txBody>
      </p:sp>
      <p:sp>
        <p:nvSpPr>
          <p:cNvPr id="13" name="stat-2"/>
          <p:cNvSpPr/>
          <p:nvPr/>
        </p:nvSpPr>
        <p:spPr>
          <a:xfrm>
            <a:off x="5074920"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4" name="stat-2-value"/>
          <p:cNvSpPr txBox="1"/>
          <p:nvPr/>
        </p:nvSpPr>
        <p:spPr>
          <a:xfrm>
            <a:off x="5394960"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$0.012</a:t>
            </a:r>
            <a:endParaRPr lang="en-US" sz="4000" dirty="0"/>
          </a:p>
        </p:txBody>
      </p:sp>
      <p:sp>
        <p:nvSpPr>
          <p:cNvPr id="15" name="stat-2-label"/>
          <p:cNvSpPr txBox="1"/>
          <p:nvPr/>
        </p:nvSpPr>
        <p:spPr>
          <a:xfrm>
            <a:off x="5394960"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model cost per case</a:t>
            </a:r>
            <a:endParaRPr lang="en-US" sz="1500" dirty="0"/>
          </a:p>
          <a:p>
            <a:pPr indent="0" marL="0">
              <a:buNone/>
            </a:pPr>
            <a:r>
              <a:rPr lang="en-US" sz="1250" dirty="0">
                <a:solidFill>
                  <a:schemeClr val="tx2"/>
                </a:solidFill>
              </a:rPr>
              <a:t>about 124K input and 2.3K output tokens</a:t>
            </a:r>
            <a:endParaRPr lang="en-US" sz="1500" dirty="0"/>
          </a:p>
        </p:txBody>
      </p:sp>
      <p:sp>
        <p:nvSpPr>
          <p:cNvPr id="16" name="stat-3"/>
          <p:cNvSpPr/>
          <p:nvPr/>
        </p:nvSpPr>
        <p:spPr>
          <a:xfrm>
            <a:off x="8519008"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7" name="stat-3-value"/>
          <p:cNvSpPr txBox="1"/>
          <p:nvPr/>
        </p:nvSpPr>
        <p:spPr>
          <a:xfrm>
            <a:off x="8839048"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3.4 min</a:t>
            </a:r>
            <a:endParaRPr lang="en-US" sz="4000" dirty="0"/>
          </a:p>
        </p:txBody>
      </p:sp>
      <p:sp>
        <p:nvSpPr>
          <p:cNvPr id="18" name="stat-3-label"/>
          <p:cNvSpPr txBox="1"/>
          <p:nvPr/>
        </p:nvSpPr>
        <p:spPr>
          <a:xfrm>
            <a:off x="8839048"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report to outcome</a:t>
            </a:r>
            <a:endParaRPr lang="en-US" sz="1500" dirty="0"/>
          </a:p>
          <a:p>
            <a:pPr indent="0" marL="0">
              <a:buNone/>
            </a:pPr>
            <a:r>
              <a:rPr lang="en-US" sz="1250" dirty="0">
                <a:solidFill>
                  <a:schemeClr val="tx2"/>
                </a:solidFill>
              </a:rPr>
              <a:t>median per case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RydeResolve">
  <a:themeElements>
    <a:clrScheme name="RydeResolve">
      <a:dk1>
        <a:srgbClr val="1D1D1F"/>
      </a:dk1>
      <a:lt1>
        <a:srgbClr val="FFFFFF"/>
      </a:lt1>
      <a:dk2>
        <a:srgbClr val="424245"/>
      </a:dk2>
      <a:lt2>
        <a:srgbClr val="F5F5F7"/>
      </a:lt2>
      <a:accent1>
        <a:srgbClr val="6E4FD8"/>
      </a:accent1>
      <a:accent2>
        <a:srgbClr val="087A8C"/>
      </a:accent2>
      <a:accent3>
        <a:srgbClr val="1D7F3A"/>
      </a:accent3>
      <a:accent4>
        <a:srgbClr val="A85400"/>
      </a:accent4>
      <a:accent5>
        <a:srgbClr val="C8102E"/>
      </a:accent5>
      <a:accent6>
        <a:srgbClr val="0066CC"/>
      </a:accent6>
      <a:hlink>
        <a:srgbClr val="0066CC"/>
      </a:hlink>
      <a:folHlink>
        <a:srgbClr val="6E4FD8"/>
      </a:folHlink>
    </a:clrScheme>
    <a:fontScheme name="RydeResol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RydeResolve architecture</dc:title>
  <dc:subject>How a ride dispute is heard: agents, plain-code checks, people, platform</dc:subject>
  <dc:creator>RydeResolve team</dc:creator>
  <cp:lastModifiedBy>RydeResolve team</cp:lastModifiedBy>
  <cp:revision>1</cp:revision>
  <dcterms:created xsi:type="dcterms:W3CDTF">2026-10-15T10:06:33Z</dcterms:created>
  <dcterms:modified xsi:type="dcterms:W3CDTF">2026-10-15T10:06:33Z</dcterms:modified>
</cp:coreProperties>
</file>